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97" r:id="rId15"/>
    <p:sldId id="269" r:id="rId16"/>
    <p:sldId id="270" r:id="rId17"/>
    <p:sldId id="271" r:id="rId18"/>
    <p:sldId id="299" r:id="rId19"/>
    <p:sldId id="300" r:id="rId20"/>
    <p:sldId id="301" r:id="rId21"/>
    <p:sldId id="272" r:id="rId22"/>
    <p:sldId id="273" r:id="rId23"/>
    <p:sldId id="274" r:id="rId24"/>
    <p:sldId id="275" r:id="rId25"/>
    <p:sldId id="276" r:id="rId26"/>
    <p:sldId id="277" r:id="rId27"/>
    <p:sldId id="278" r:id="rId28"/>
    <p:sldId id="279" r:id="rId29"/>
    <p:sldId id="280" r:id="rId30"/>
    <p:sldId id="363" r:id="rId31"/>
    <p:sldId id="281" r:id="rId32"/>
    <p:sldId id="282" r:id="rId33"/>
    <p:sldId id="283" r:id="rId34"/>
    <p:sldId id="298" r:id="rId35"/>
    <p:sldId id="284" r:id="rId36"/>
    <p:sldId id="285" r:id="rId37"/>
    <p:sldId id="286" r:id="rId38"/>
    <p:sldId id="287" r:id="rId39"/>
    <p:sldId id="288" r:id="rId40"/>
    <p:sldId id="289" r:id="rId41"/>
    <p:sldId id="290" r:id="rId42"/>
    <p:sldId id="291" r:id="rId43"/>
    <p:sldId id="292" r:id="rId44"/>
    <p:sldId id="293" r:id="rId45"/>
    <p:sldId id="364" r:id="rId46"/>
    <p:sldId id="294" r:id="rId47"/>
    <p:sldId id="296" r:id="rId48"/>
    <p:sldId id="322" r:id="rId49"/>
    <p:sldId id="295"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23"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16" r:id="rId98"/>
    <p:sldId id="317" r:id="rId99"/>
    <p:sldId id="318" r:id="rId100"/>
    <p:sldId id="319" r:id="rId101"/>
    <p:sldId id="320" r:id="rId102"/>
    <p:sldId id="321" r:id="rId103"/>
    <p:sldId id="356" r:id="rId104"/>
    <p:sldId id="357" r:id="rId105"/>
    <p:sldId id="358" r:id="rId106"/>
    <p:sldId id="359" r:id="rId107"/>
    <p:sldId id="360" r:id="rId108"/>
    <p:sldId id="361" r:id="rId109"/>
    <p:sldId id="362" r:id="rId1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 /><Relationship Id="rId21" Type="http://schemas.openxmlformats.org/officeDocument/2006/relationships/slide" Target="slides/slide20.xml" /><Relationship Id="rId42" Type="http://schemas.openxmlformats.org/officeDocument/2006/relationships/slide" Target="slides/slide41.xml" /><Relationship Id="rId47" Type="http://schemas.openxmlformats.org/officeDocument/2006/relationships/slide" Target="slides/slide46.xml" /><Relationship Id="rId63" Type="http://schemas.openxmlformats.org/officeDocument/2006/relationships/slide" Target="slides/slide62.xml" /><Relationship Id="rId68" Type="http://schemas.openxmlformats.org/officeDocument/2006/relationships/slide" Target="slides/slide67.xml" /><Relationship Id="rId84" Type="http://schemas.openxmlformats.org/officeDocument/2006/relationships/slide" Target="slides/slide83.xml" /><Relationship Id="rId89" Type="http://schemas.openxmlformats.org/officeDocument/2006/relationships/slide" Target="slides/slide88.xml" /><Relationship Id="rId112" Type="http://schemas.openxmlformats.org/officeDocument/2006/relationships/presProps" Target="presProps.xml" /><Relationship Id="rId16" Type="http://schemas.openxmlformats.org/officeDocument/2006/relationships/slide" Target="slides/slide15.xml" /><Relationship Id="rId107" Type="http://schemas.openxmlformats.org/officeDocument/2006/relationships/slide" Target="slides/slide106.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slide" Target="slides/slide73.xml" /><Relationship Id="rId79" Type="http://schemas.openxmlformats.org/officeDocument/2006/relationships/slide" Target="slides/slide78.xml" /><Relationship Id="rId87" Type="http://schemas.openxmlformats.org/officeDocument/2006/relationships/slide" Target="slides/slide86.xml" /><Relationship Id="rId102" Type="http://schemas.openxmlformats.org/officeDocument/2006/relationships/slide" Target="slides/slide101.xml" /><Relationship Id="rId110" Type="http://schemas.openxmlformats.org/officeDocument/2006/relationships/slide" Target="slides/slide109.xml" /><Relationship Id="rId115" Type="http://schemas.openxmlformats.org/officeDocument/2006/relationships/tableStyles" Target="tableStyles.xml" /><Relationship Id="rId5" Type="http://schemas.openxmlformats.org/officeDocument/2006/relationships/slide" Target="slides/slide4.xml" /><Relationship Id="rId61" Type="http://schemas.openxmlformats.org/officeDocument/2006/relationships/slide" Target="slides/slide60.xml" /><Relationship Id="rId82" Type="http://schemas.openxmlformats.org/officeDocument/2006/relationships/slide" Target="slides/slide81.xml" /><Relationship Id="rId90" Type="http://schemas.openxmlformats.org/officeDocument/2006/relationships/slide" Target="slides/slide89.xml" /><Relationship Id="rId95" Type="http://schemas.openxmlformats.org/officeDocument/2006/relationships/slide" Target="slides/slide94.xml" /><Relationship Id="rId19" Type="http://schemas.openxmlformats.org/officeDocument/2006/relationships/slide" Target="slides/slide1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100" Type="http://schemas.openxmlformats.org/officeDocument/2006/relationships/slide" Target="slides/slide99.xml" /><Relationship Id="rId105" Type="http://schemas.openxmlformats.org/officeDocument/2006/relationships/slide" Target="slides/slide104.xml" /><Relationship Id="rId113" Type="http://schemas.openxmlformats.org/officeDocument/2006/relationships/viewProps" Target="viewProps.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slide" Target="slides/slide84.xml" /><Relationship Id="rId93" Type="http://schemas.openxmlformats.org/officeDocument/2006/relationships/slide" Target="slides/slide92.xml" /><Relationship Id="rId98" Type="http://schemas.openxmlformats.org/officeDocument/2006/relationships/slide" Target="slides/slide97.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103" Type="http://schemas.openxmlformats.org/officeDocument/2006/relationships/slide" Target="slides/slide102.xml" /><Relationship Id="rId108" Type="http://schemas.openxmlformats.org/officeDocument/2006/relationships/slide" Target="slides/slide107.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slide" Target="slides/slide87.xml" /><Relationship Id="rId91" Type="http://schemas.openxmlformats.org/officeDocument/2006/relationships/slide" Target="slides/slide90.xml" /><Relationship Id="rId96" Type="http://schemas.openxmlformats.org/officeDocument/2006/relationships/slide" Target="slides/slide95.xml" /><Relationship Id="rId111"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6" Type="http://schemas.openxmlformats.org/officeDocument/2006/relationships/slide" Target="slides/slide105.xml" /><Relationship Id="rId114" Type="http://schemas.openxmlformats.org/officeDocument/2006/relationships/theme" Target="theme/theme1.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94" Type="http://schemas.openxmlformats.org/officeDocument/2006/relationships/slide" Target="slides/slide93.xml" /><Relationship Id="rId99" Type="http://schemas.openxmlformats.org/officeDocument/2006/relationships/slide" Target="slides/slide98.xml" /><Relationship Id="rId101" Type="http://schemas.openxmlformats.org/officeDocument/2006/relationships/slide" Target="slides/slide100.xml" /><Relationship Id="rId4" Type="http://schemas.openxmlformats.org/officeDocument/2006/relationships/slide" Target="slides/slide3.xml" /><Relationship Id="rId9" Type="http://schemas.openxmlformats.org/officeDocument/2006/relationships/slide" Target="slides/slide8.xml" /><Relationship Id="rId13" Type="http://schemas.openxmlformats.org/officeDocument/2006/relationships/slide" Target="slides/slide12.xml" /><Relationship Id="rId18" Type="http://schemas.openxmlformats.org/officeDocument/2006/relationships/slide" Target="slides/slide17.xml" /><Relationship Id="rId39" Type="http://schemas.openxmlformats.org/officeDocument/2006/relationships/slide" Target="slides/slide38.xml" /><Relationship Id="rId109" Type="http://schemas.openxmlformats.org/officeDocument/2006/relationships/slide" Target="slides/slide108.xml" /><Relationship Id="rId34" Type="http://schemas.openxmlformats.org/officeDocument/2006/relationships/slide" Target="slides/slide33.xml" /><Relationship Id="rId50" Type="http://schemas.openxmlformats.org/officeDocument/2006/relationships/slide" Target="slides/slide49.xml" /><Relationship Id="rId55" Type="http://schemas.openxmlformats.org/officeDocument/2006/relationships/slide" Target="slides/slide54.xml" /><Relationship Id="rId76" Type="http://schemas.openxmlformats.org/officeDocument/2006/relationships/slide" Target="slides/slide75.xml" /><Relationship Id="rId97" Type="http://schemas.openxmlformats.org/officeDocument/2006/relationships/slide" Target="slides/slide96.xml" /><Relationship Id="rId104" Type="http://schemas.openxmlformats.org/officeDocument/2006/relationships/slide" Target="slides/slide103.xml"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slide" Target="slides/slide91.xml" /><Relationship Id="rId2" Type="http://schemas.openxmlformats.org/officeDocument/2006/relationships/slide" Target="slides/slide1.xml" /><Relationship Id="rId29" Type="http://schemas.openxmlformats.org/officeDocument/2006/relationships/slide" Target="slides/slide28.xml" /></Relationships>
</file>

<file path=ppt/ink/ink1.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4:20:40.36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1885 51,'0'24,"0"-24,0 0,-25 0,-24 0,-51 0,26 0,0 0,-26 0,26-24,0 24,-26-25,26 25,0 0,-1 0,1 0,-1 0,26 0,-1 0,0 0,1 0,-1 0,25 0,1 0,-1 0,0 0,0 0,-24 0,49 0,-25 0,0 0,0 0,25 0,-25 0,1 25,24-1,-25 26,-25 24,25 1,-24 24,-1 0,25 1,1-26,-1-24,0-1,25 1,0-50,0 25,0-1,0 1,0-25,0 25,25-25,0 50,-1-50,1 49,-25-49,25 0,0 25,-25-25,25 0,-1 0,-24 0,25 0,0 0,49 0,-24 0,0-25,-1 0,26 25,-26-24,26 24,-1 0,0 0,26 0,-1 0,-25 0,1 0,24 0,-25 0,1 0,-26 0,1 0,0 0,-1 0,-24 0,0 0,24 24,-24-24,0 0,0 0,0 0,24 0,-24-24,25 24,-1-25,-24 25,0 0,25 0,-26-25,1 25</inkml:trace>
</inkml:ink>
</file>

<file path=ppt/ink/ink2.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4:20:43.01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200 300,'0'0,"0"0,0 0,74-25,1 1,98-1,75-25,-24 1,98-1,25 25,-74 0,-49 25,-76 0,-48 0,-26-24,-24 24,-1 0,-24 0,0 24,-25-24,0 50,25-25,-1 24,-24 1,25 24,-25-24,25 24,0 1,-25 24,25 50,-25 25,0 24,0 25,24 0,1 1,-25-26,0-74,0-49,0-1,0-74,0 25,-25 0,-24-1,-1-24,-49 25,0-25,0 0,-75 0,-49 0,24 0,1-25,-25-49,-25 0,49-1,-24 26,74-1,50 25,0 0,-1 1,51 24,-1-25,1-25,-1 50,25-25,-24 25,49-25,0 25</inkml:trace>
</inkml:ink>
</file>

<file path=ppt/ink/ink3.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4:20:47.06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0,'0'25,"0"-25,0 0,25 0,25 25,49 0,25-1,74 1,50 0,0 0,25-25,-49 0,-26 0,-24 0,-1 0,-74 0,25 0,-24 0,-51 0,1-25,0 25,-1 0,-24 0,25 0,-50 0,24 0,-24 0,0 0,75 0,49 0,124-25,25 25,0 0,-1 0,1 0,-49 25,-51 0,-24 0,-50-1,25-24,-74 0,24 0,-49 0,25 0,-50 0,24 0,26-24,49-26,149 25,25-24,50 49,24-25,25 25,0 0,-50 0,-73 0,-101 0,-24 0,-49 0,-26 0,-49 0,25 0,-25 0,25 0,25 0,49 0,124 0,100 0,-1 0,100 25,-50-1,-25-24,-124 25,-49-25,-25 0,-75 0,1-25,-51 25,-24 0,0 0,25 0</inkml:trace>
</inkml:ink>
</file>

<file path=ppt/ink/ink4.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4:20:5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0 322,'0'-25,"0"25,0 0,24 0,26 0,49 0,75 0,49 50,50-1,74 26,-24-26,-1 1,-49 0,-25-26,-25-24,25 0,-24 0,-51 0,-24 0,-25 0,-25 0,-24 0,-26 0,-24 0,0 0,0 0,-1 0,1 0,-25 0,50 0,49-24,124-51,50 26,74-26,-24 26,24 49,-24 0,-26 0,1 49,-124-24,-1 0,-49 0,25-1,-75-24,-24 0,25 0,-75 0,24 0,26 0,74 0,99-74,75 0,24-1,50 26,75-1,-75 25,0 0,-50 25,-49 0,-99 0,-75 0,-49 0,-1 0,-49 0,75 0,98-49,100 24,25 25,74-25,0 25,0 0,-25 0,-49 25,-99 0,-51-25,-48 0,-1-25,-50 25,-24 0,0 0,25 0,98 0,125 0,25 0,74 0,50 0,-50 25,-50-25,-49 0,-99 0,-25 0,-25 0,-50 0,0 0,1 0,-50 0,-1 0,-24 0,25 0,25 0,74-25,74 0,125 25,-26-25,75 25,1 0,-76 0,-24 0,-149 0,-50 0,1-24,-50 24,-25 0</inkml:trace>
</inkml:ink>
</file>

<file path=ppt/ink/ink5.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4:20:56.14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0 227,'0'0,"25"25,-25-25,50 0,-25 24,74 26,50-25,99 0,49-1,1 1,49-25,-49 0,-25-74,25-25,-50 24,-50 26,-49 24,-50 0,0 25,25 0,-49 0,-26 0,1 0,0 0,-26 25,26-25,124-50,49 25,149 1,50 24,222 24,-73 51,24-1,-223-74,-99 0,-74 0,-51-25,-48 1,-51 24,26 0,-50 0,-1 0,26-25,49 0,124 0,100 0,49 25,149 50,74 49,-49 25,49-25,-248-74,-148-25,-25 0,-75 0,-25 0,1 0,-75 0,24 0,-24-25,100 1,73-26,150-24,98 49,51 25,173 0,49 25,25 49,-98-74,-175 25,-148 0,-100-25,-24 0,-100-25,-24 25,99-50,99 1,99 24,25-25,50 25,74 50,-99 25,-50-1,-74-24,-50 0,-49 0,-26-25,-48 0,-1-50,-74 1,24 24,-49 0,100 25,-1 0,0 0,-49 0,24 0,-74 0</inkml:trace>
</inkml:ink>
</file>

<file path=ppt/ink/ink6.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4:56:11.33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49 2530,'0'0,"0"25,0-25,0 25,25-25,0 24,0-24,49-24,50-100,99-50,100-198,99-124,24-25,-123 99,-100 174,-99 124,-50 75,-24 24,-50 0,25 25,-25 0,0 0</inkml:trace>
  <inkml:trace contextRef="#ctx0" brushRef="#br0" timeOffset="1550">0 3944,'-25'0,"50"0,0 0,49-25,25 0,50-24,74-51,1-48,-1-26,0-49,0 49,-74-24,25-1,-50 50,-50 25,-49 75,25-1,-26 25,-24 25</inkml:trace>
  <inkml:trace contextRef="#ctx0" brushRef="#br0" timeOffset="2860">49 5184,'0'0,"0"0,0 25,0-25,0 25,0-25,25 49,0-24,25 25,-26-25,26-1,-50-24,25 0,24 0,1-24,24-1,50-124,50 0,0-49,-1-1,1 1,-75 24,0 1,-49 123,24 0,-49 26,0-1,-25 25,25 0,-25-25,25 25,-25 0</inkml:trace>
  <inkml:trace contextRef="#ctx0" brushRef="#br0" timeOffset="4250">124 8756,'0'25,"0"-25,0 0,0 0,25 25,-1-25,51 0,-1 0,25-50,50-49,-25-25,25 25,0-25,-25 0,0-1,-25 26,-24 0,-26 49,1 26,-1-1,-49 0,50 25,-50-25,0 25</inkml:trace>
</inkml:ink>
</file>

<file path=ppt/ink/ink7.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5:18:13.439"/>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0 424,'0'0,"0"0,0 0,25 0,25 0,49 0,-25 25,75 24,-50-24,1-25,-26 0,50 25,-25-25,-24 0,-1 0,-24 0,-1 0,26 0,-26 0,51 0,-26 0,-24 0,24 0,0 0,1 0,-1 0,1 0,-1 0,25 0,25 0,-49 0,-1 0,-24 0,24 0,-24 0,24 0,25 0,25 0,-49 0,-26 0,1 0,-25 0,24 0,-49 0,125 0,48 0,26 0,-1 0,-24 0,-26 0,-23 0,-26 0,-25 0,25 0,1 0,-26 0,-24 0,-1 0,1 0,-1 0,1 0,0 0,-1 0,1 0,-1 0,-24 0,0-25,99-24,75-51,98 1,50 0,75 24,-25 1,50 49,-100 25,-25 0,-123 0,-26 25,-49 49,-49-24,24-25,-74 0,0-25,-1 0,26 0,74 0,149-50,74-24,25 74,75 0,-26 74,-73 25,-76-49,-98-25,-75 0,-49-25,0 0,-50 0,24 0,1 0,-25 0,50 0,49 0,149 0,50 49,49 1,0 49,-49-49,-25 24,-25-49,-75 49,-24-74,-74 0,-1 0,-24 0,-26 0,26 0,-50 0,75-49,98-26,50-24,100-50,-26 50,51 0,-26 24,-49 1,-25 49,-74 0,-50 25,-50 0,-24 0,24 0,-49 0,-25 0,25 0,0 25,-25-25,24 0,-24 0,0 0,25 0,0 0,0 0,24 0,26 0,-1 25,26-25,-26 0,0 0,26 0,-26 25,0-25,-24 0,24 49,1-24,-1 0,-49-25,0 25,0 0,-1-25,-24 0,0 0,25 0,-25 0,99 0,75-25,0 25,74 0,-50 25,-24 24,-50-49,-75 50,1-25,-25-25,-25 0,25 0,-25 0,25 0,-1 0,-24 0,25 0,-25 0,0 0,-25 0,1 0,-1 0,0 0,-25 0,-24 0,-75 0,25-25,-25 25,0-25,25 25,-24 0,-26 0,50 0,-50 0,25 0,25 0,-24 0,-1 0,74 0,1 0,49 0,0 0,0 0,25 0,-24 0,-1 0,25 0,-25 0,-49 25,-1-25,1 0,24 25,-49-1,0 1,0 50,-50-26,25 1,24-25,26-1,24 1,-24 0,-75-25,-49 0,-25 0,-100 0,50 0,50 0,0 0,24 0,26 25,73-25,26 0,24 0,-24 0,49 0,25 0,-49 0,49 0,-50 0,25-25,0 25,-24 0,24 0,0-25,0 25,1 0,-26-25,25 25,-24 0,24 0,-50 0,26 0,-1 0,0 0,1 0,-1 0,25 0,-49 0,-75 0,-49 0,-50 0,-25-24,0-1,0 0,25 25,50 0,74 0,-25 0,99 0,1 0,-1 0,25 0,25 0,-49 0,-26 0,26-25,24 25,-50-25,75 1,-24 24,-26 0,-99 0,-49 0,-75 0,-25-25,1-25,-51 50,51 0,-1 0,50 0,49 25,51-25,73 0,26 0,-1 0,-24-25,-1 25,-24 0,-99 0,-1 25,-74-25,25 25,-25 0,25-25,25 24,25-24,-26 0,100 0,0-24,50 24,24-25,1 0,-26 0,50 25,1 0</inkml:trace>
</inkml:ink>
</file>

<file path=ppt/ink/ink8.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5:19:20.659"/>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0 330,'0'0,"0"0,25 0,50 0,24 25,74-25,26 25,49-1,-50-24,75 50,-25-25,-24 24,24 1,-25 24,-50 1,-49-26,-49-24,-26-50,100-49,99-75,50 25,24 50,75-25,-49 74,-76 0,-23 0,-125 25,24 0,-98 0,0 0,-26 0,1 0,0 0,25 0,123 0,50-49,150 24,98 25,75 0,-75 25,-173 74,-75-50,-74 1,-50-25,-74-25,-1 0,1 0,-74 25,-125-1,-24-24,-75 0,-75 0,-24-24,50-1,-25 25,49 0,50 0,74 0,1 0,-1 0,0 0,50 0,25 0,-25 0,25 0,24 0,26 0,-1 0,-49 0,-124 74,24-49,-73-25,-76 0,-24 0,50 0,-50-25,99 25,-25 0,50-25,50 25,98 0,-24-24,50 24,24-25,26 0,-26 25,25 0,-24-25,24 0,0 25,-49 0,-26 0,-24 0,50 0,24 0,1 0,24 0,25 0,0 0,0 0,0 0,49 0,1 0,24-49,51 24,-26 0,50 0,-50-24,50 24,-1 0,1 0,-25 1,0 24,0 0,0 0,0 0,0 0,0 0,25 49,-25-24,-25 25,50-26,-25 1,-24 0,-26-25,-24 0,-1 0,1 0,-50 0,25 0,-1 0,-24 0,25-25,-25 25,25-25,49 25,100 0,49 0,-24 0,24 25,0 0,-49 0</inkml:trace>
</inkml:ink>
</file>

<file path=ppt/ink/ink9.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5:19:28.979"/>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0 273,'0'25,"50"-25,24 0,26 25,73-25,50 0,-24 0,49 0,0-75,-50 51,-49-26,0 0,-25 25,-25 1,-24-1,49 0,-25 0,-25 25,1 0,-1 0,1 0,-1 25,0 0,1-25,-26 0,26 25,-26-25,-24 0,0 0,0 0,49 0,75 0,50 24,123 51,-24 49,-1 0,-24-50,-99-49,-25 0,-75-25,0 0,-49 0,25 0,0-25,-50 25,24 0,76 0,48-49,76-1,98 0,1 26,24 24,25 0,-74 0,-50 0,-50 24,-49 1,-25-25,-50 25,1 0,-51-25,1 0,0 0,-25 25,75-25,98-25,50-25,125 25,24-24,49 49,-24 0,-49 0,-100 0,-100 0,-24 0,-49 0,-50 0,-1 0,-24 0,50 0,74 0,99 0,75 0,74 0,50 74,-25-24,-100-1,-24-24,-99-25,-75 0,-25 0,-24 0,-25 0,0 0,-25 0,0 0,24 0,1 0,-25 0,25 0,-25-25,25 25,-25-24,0 24,25 0,-1 0,1 0,0 0,0 0,-25 0,25 0</inkml:trace>
</inkml:ink>
</file>

<file path=ppt/ink/ink10.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5:19:33.419"/>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0 158,'0'0,"50"0,49 25,75-25,74 0,-25 0,99 0,-49 0,0-25,0-25,-75 26,50-1,-74 0,0 0,-50 25,24 0,26 0,-75 0,50 25,-25 0,-49 24,49-24,-25 25,-25-50,1 0,-1 0,0 0,51 0,73 0,75 0,74 0,-24 25,-51-1,-24 26,-74-25,-75-25,0 0,1 0,-51 0,-24 25,25-25,-25 0,-1 0,26 24,-25 1,24-25,1 0,0 0,-26 25,1-25,0 0,49 0,50 0,124-25,1 25,-1 0,24 0,-24 0,-74 0,-50 0,-49 0,-1 0,-49 0,0 0,-25 0,24 0,-24 0,25 0,-25 0,25 0,0 0,24 0,-24 0,25 0,-25 0,49 0,-49 0,0 0,-25-25,24 25,-24 0,0 0</inkml:trace>
</inkml:ink>
</file>

<file path=ppt/ink/ink11.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5:19:37.879"/>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0 180,'0'0,"49"0,26 24,74 1,49-25,25 25,100 0,-25-25,-1-25,-24 0,50-74,-51 49,-24 1,-49 24,-50 25,-50 0,-25 0,-24 0,0 0,-26 25,1 0,50-25,24 0,99 0,100 0,173 0,199 99,-149-25,-199 1,-74-50,-74-25,-75 0,-24 0,-26 0,1-25,-50 25,25 0,-25 0,49-25,125-25,24 1,150-26,24 50,24 25,-23 0,-26 75,-74-26,-125-24,1 0,-99-25,0 0,-26 25,-24-25,25 0,0 0,25 0,98-50,26 1,99 24,74-50,75 51,-50-1,-25 25,0 0,1 0,-100 0,-75 0,-24 0,-50 0,1 49,-26 1,25 0,-24-1,-26-24,1 0,-25 0,-1-25,1 0,25 0,74 0,99 0,0-25,50 25,-25 0,-74 0,-75 0,-49 0,-25 0,-25 0,0 0,24 0,-24 0</inkml:trace>
</inkml:ink>
</file>

<file path=ppt/ink/ink12.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5:19:43.899"/>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58,'0'0,"0"0,0 0,25 0,49 0,26 0,24 25,124-25,49 0,1 0,49 0,-24 0,-1 0,-98 0,-76 0,-24 0,-24 0,24 25,-50-25,-24 0,-26 0,26 0,24 0,75-25,75 0,123 25,-25 0,75 25,50 49,-100-24,-74-25,-100-1,-73 1,-1 0,-50 0,-24-25,0 0,0 0,24-25,51-25,123-49,25 50,74 24,100 25,74 0,-74 0,49 74,-248-24,-49-25,-50-1,-74 1,-26-25,-24 0,0 25,124-50,100-49,-26 24,125 1,-51 24,1 0,-74 25,-75-25,0 25,-75-25,-24 25,25 0,-50 0,25 0,-1 0,26 0,0 0,24 0,0 0,1 0,-1 0,1 0,-1 0,-24 25,-1-25,1 25,-50-25,0 25,0-25,0 0,0 25,0-25,-25 24,25-24,-49 0,-1 25,25 0,-49-25,24 25,-24-25,-1 0,1 0,-1 0,1 0,0 0,-1 0,1 0,24 0,-24 0,-1 0,-24 0,-25-25,50 0,-26 0,26 25,0-24,-26-1,51 25,24-25,0 25,-24 0,24 0</inkml:trace>
</inkml:ink>
</file>

<file path=ppt/ink/ink13.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5:19:48.359"/>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49,'0'0,"25"0,24 0,26 0,24 25,75-25,74 25,-25 0,50-25,-25 0,-25 0,-49 0,-1-25,-49 0,-24 0,-26 0,0 25,-49 0,0 0,0 0,-25 0,25 0,-1 0,26 0,74-24,50 24,98 0,76 0,73 0,51 99,-1 25,-173-75,-100-24,-49 0,-50-25,-24 0,-26 0,-24 0,-25 0,25 0,-25 0,74 0,75-25,99 0,50 1,74 24,0 0,50 0,-100 49,-74 1,-74-1,-25-24,-75-25,-24 25,-1 0,-49-25,25 0,0 25,24-25,150-100,49 26,50 0,74 49,99-25,75 50,49 50,-149 24,-148-24,-100 24,-24 1,-50-1,-25 1,-49-51,-25-24,-25 0,0 25,25-25,-25 0,49 0,75-25,99-49,50-25,75 49,73 0,125 50,-50 0,-49 0,-150 75,-49-26,-74 26,-25-75,-75 50,1-26,-51-24,1 0,-25 25,99-50,100-49,49-25,74-1,50 51,100-26,-100 75,49 25,-123 74,-50-49,-49 24,-125-24,-24-25,-26 0,-24-25,0 25,25-25</inkml:trace>
</inkml:ink>
</file>

<file path=ppt/ink/ink14.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1T05:19:54.399"/>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0 114,'0'0,"50"0,49 0,100 0,73 0,125 74,25-49,-25 24,49 1,-74-25,-49 24,-50-24,-25 25,-25-25,-74 24,-75-24,-24-25,-1-25,100-99,124-25,0 50,74 0,75 49,124 50,-50 0,-99 50,-50 49,-74-24,-75-1,-49 0,-75-24,-24-25,-25-25,49-25,150-74,24-25,49 49,100 26,99-1,0 75,-24 25,-175 49,-74-25,-24 1,-75-1,-74-24,-1-50,-24 0,0 24,0-24,99-49,124-26,74 1,50 0,25 24,25 50,-1 0,-123 0,-50 25,-124 0,-49-25,-26 24,-24-24,0 0,24 0,51-49,172 24,76 25,49 0,24 0,-49 0,-49 0,-75 0,-50-25,-74 25,-49-25,-26 25,-24 0,0 0,-25 0,25 0,0 0,-25-24,24 24,51-25,123 0,25 25,100 0,-25 25,-26 49,-24 1,-99-51,-124-24,0 0,0 0</inkml:trace>
</inkml:ink>
</file>

<file path=ppt/ink/ink15.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24T11:42:08.94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148 1910,'0'0,"0"25,0-25,0 25,0-25,0 24,50 1,0-25,-1 25,1-25,49-74,25-150,75-48,-1-150,50-49,-99 198,-25 74,-74 150,-26 24,1 0,-25 25</inkml:trace>
  <inkml:trace contextRef="#ctx0" brushRef="#br0" timeOffset="1074">0 3200,'0'0,"0"25,0-1,24 26,-24 0,25-1,0 1,0 0,24-26,-49-24,50 0,49-49,25-100,75-124,-1 50,1-50,-26 50,-49 49,-25 50,-24 50,-25 24,-26 50,1-25,-25 25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86BF6E-9892-4A3F-9736-D4972C306986}" type="datetimeFigureOut">
              <a:rPr lang="en-US" smtClean="0"/>
              <a:pPr/>
              <a:t>9/28/2021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9593F0-4554-44A0-A70D-D9166E0A11C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49593F0-4554-44A0-A70D-D9166E0A11CA}" type="slidenum">
              <a:rPr lang="en-US" smtClean="0"/>
              <a:pPr/>
              <a:t>47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EEF8F0F-FDED-4EB5-8FC1-06B4F6D67D7D}" type="datetimeFigureOut">
              <a:rPr lang="en-US" smtClean="0"/>
              <a:pPr/>
              <a:t>9/28/2021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160E24-64D6-449F-AFD6-238575DC522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EF8F0F-FDED-4EB5-8FC1-06B4F6D67D7D}" type="datetimeFigureOut">
              <a:rPr lang="en-US" smtClean="0"/>
              <a:pPr/>
              <a:t>9/28/2021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160E24-64D6-449F-AFD6-238575DC522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EF8F0F-FDED-4EB5-8FC1-06B4F6D67D7D}" type="datetimeFigureOut">
              <a:rPr lang="en-US" smtClean="0"/>
              <a:pPr/>
              <a:t>9/28/2021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160E24-64D6-449F-AFD6-238575DC522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EF8F0F-FDED-4EB5-8FC1-06B4F6D67D7D}" type="datetimeFigureOut">
              <a:rPr lang="en-US" smtClean="0"/>
              <a:pPr/>
              <a:t>9/28/2021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160E24-64D6-449F-AFD6-238575DC522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EF8F0F-FDED-4EB5-8FC1-06B4F6D67D7D}" type="datetimeFigureOut">
              <a:rPr lang="en-US" smtClean="0"/>
              <a:pPr/>
              <a:t>9/28/2021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160E24-64D6-449F-AFD6-238575DC522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EF8F0F-FDED-4EB5-8FC1-06B4F6D67D7D}" type="datetimeFigureOut">
              <a:rPr lang="en-US" smtClean="0"/>
              <a:pPr/>
              <a:t>9/28/2021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160E24-64D6-449F-AFD6-238575DC522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EF8F0F-FDED-4EB5-8FC1-06B4F6D67D7D}" type="datetimeFigureOut">
              <a:rPr lang="en-US" smtClean="0"/>
              <a:pPr/>
              <a:t>9/28/2021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160E24-64D6-449F-AFD6-238575DC522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EF8F0F-FDED-4EB5-8FC1-06B4F6D67D7D}" type="datetimeFigureOut">
              <a:rPr lang="en-US" smtClean="0"/>
              <a:pPr/>
              <a:t>9/28/2021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160E24-64D6-449F-AFD6-238575DC522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EF8F0F-FDED-4EB5-8FC1-06B4F6D67D7D}" type="datetimeFigureOut">
              <a:rPr lang="en-US" smtClean="0"/>
              <a:pPr/>
              <a:t>9/28/2021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160E24-64D6-449F-AFD6-238575DC522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EF8F0F-FDED-4EB5-8FC1-06B4F6D67D7D}" type="datetimeFigureOut">
              <a:rPr lang="en-US" smtClean="0"/>
              <a:pPr/>
              <a:t>9/28/2021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160E24-64D6-449F-AFD6-238575DC522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EF8F0F-FDED-4EB5-8FC1-06B4F6D67D7D}" type="datetimeFigureOut">
              <a:rPr lang="en-US" smtClean="0"/>
              <a:pPr/>
              <a:t>9/28/2021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160E24-64D6-449F-AFD6-238575DC522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EF8F0F-FDED-4EB5-8FC1-06B4F6D67D7D}" type="datetimeFigureOut">
              <a:rPr lang="en-US" smtClean="0"/>
              <a:pPr/>
              <a:t>9/28/2021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160E24-64D6-449F-AFD6-238575DC522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8" Type="http://schemas.openxmlformats.org/officeDocument/2006/relationships/customXml" Target="../ink/ink4.xml" /><Relationship Id="rId3" Type="http://schemas.openxmlformats.org/officeDocument/2006/relationships/image" Target="../media/image1.png" /><Relationship Id="rId7" Type="http://schemas.openxmlformats.org/officeDocument/2006/relationships/image" Target="../media/image3.png" /><Relationship Id="rId2" Type="http://schemas.openxmlformats.org/officeDocument/2006/relationships/customXml" Target="../ink/ink1.xml" /><Relationship Id="rId1" Type="http://schemas.openxmlformats.org/officeDocument/2006/relationships/slideLayout" Target="../slideLayouts/slideLayout2.xml" /><Relationship Id="rId6" Type="http://schemas.openxmlformats.org/officeDocument/2006/relationships/customXml" Target="../ink/ink3.xml" /><Relationship Id="rId11" Type="http://schemas.openxmlformats.org/officeDocument/2006/relationships/image" Target="../media/image5.png" /><Relationship Id="rId5" Type="http://schemas.openxmlformats.org/officeDocument/2006/relationships/image" Target="../media/image2.png" /><Relationship Id="rId10" Type="http://schemas.openxmlformats.org/officeDocument/2006/relationships/customXml" Target="../ink/ink5.xml" /><Relationship Id="rId4" Type="http://schemas.openxmlformats.org/officeDocument/2006/relationships/customXml" Target="../ink/ink2.xml" /><Relationship Id="rId9" Type="http://schemas.openxmlformats.org/officeDocument/2006/relationships/image" Target="../media/image4.png"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customXml" Target="../ink/ink6.xml"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customXml" Target="../ink/ink7.xml" /><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8" Type="http://schemas.openxmlformats.org/officeDocument/2006/relationships/customXml" Target="../ink/ink11.xml" /><Relationship Id="rId13" Type="http://schemas.openxmlformats.org/officeDocument/2006/relationships/image" Target="../media/image13.png" /><Relationship Id="rId3" Type="http://schemas.openxmlformats.org/officeDocument/2006/relationships/image" Target="../media/image8.png" /><Relationship Id="rId7" Type="http://schemas.openxmlformats.org/officeDocument/2006/relationships/image" Target="../media/image10.png" /><Relationship Id="rId12" Type="http://schemas.openxmlformats.org/officeDocument/2006/relationships/customXml" Target="../ink/ink13.xml" /><Relationship Id="rId2" Type="http://schemas.openxmlformats.org/officeDocument/2006/relationships/customXml" Target="../ink/ink8.xml" /><Relationship Id="rId1" Type="http://schemas.openxmlformats.org/officeDocument/2006/relationships/slideLayout" Target="../slideLayouts/slideLayout2.xml" /><Relationship Id="rId6" Type="http://schemas.openxmlformats.org/officeDocument/2006/relationships/customXml" Target="../ink/ink10.xml" /><Relationship Id="rId11" Type="http://schemas.openxmlformats.org/officeDocument/2006/relationships/image" Target="../media/image12.png" /><Relationship Id="rId5" Type="http://schemas.openxmlformats.org/officeDocument/2006/relationships/image" Target="../media/image9.png" /><Relationship Id="rId15" Type="http://schemas.openxmlformats.org/officeDocument/2006/relationships/image" Target="../media/image14.png" /><Relationship Id="rId10" Type="http://schemas.openxmlformats.org/officeDocument/2006/relationships/customXml" Target="../ink/ink12.xml" /><Relationship Id="rId4" Type="http://schemas.openxmlformats.org/officeDocument/2006/relationships/customXml" Target="../ink/ink9.xml" /><Relationship Id="rId9" Type="http://schemas.openxmlformats.org/officeDocument/2006/relationships/image" Target="../media/image11.png" /><Relationship Id="rId14" Type="http://schemas.openxmlformats.org/officeDocument/2006/relationships/customXml" Target="../ink/ink14.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customXml" Target="../ink/ink15.xml" /><Relationship Id="rId1" Type="http://schemas.openxmlformats.org/officeDocument/2006/relationships/slideLayout" Target="../slideLayouts/slideLayout2.xml"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304800" y="152393"/>
          <a:ext cx="8534399" cy="6474528"/>
        </p:xfrm>
        <a:graphic>
          <a:graphicData uri="http://schemas.openxmlformats.org/drawingml/2006/table">
            <a:tbl>
              <a:tblPr/>
              <a:tblGrid>
                <a:gridCol w="934021">
                  <a:extLst>
                    <a:ext uri="{9D8B030D-6E8A-4147-A177-3AD203B41FA5}">
                      <a16:colId xmlns:a16="http://schemas.microsoft.com/office/drawing/2014/main" val="20000"/>
                    </a:ext>
                  </a:extLst>
                </a:gridCol>
                <a:gridCol w="5146281">
                  <a:extLst>
                    <a:ext uri="{9D8B030D-6E8A-4147-A177-3AD203B41FA5}">
                      <a16:colId xmlns:a16="http://schemas.microsoft.com/office/drawing/2014/main" val="20001"/>
                    </a:ext>
                  </a:extLst>
                </a:gridCol>
                <a:gridCol w="2454097">
                  <a:extLst>
                    <a:ext uri="{9D8B030D-6E8A-4147-A177-3AD203B41FA5}">
                      <a16:colId xmlns:a16="http://schemas.microsoft.com/office/drawing/2014/main" val="20002"/>
                    </a:ext>
                  </a:extLst>
                </a:gridCol>
              </a:tblGrid>
              <a:tr h="257717">
                <a:tc>
                  <a:txBody>
                    <a:bodyPr/>
                    <a:lstStyle/>
                    <a:p>
                      <a:pPr marL="0" marR="0" algn="ctr">
                        <a:lnSpc>
                          <a:spcPct val="115000"/>
                        </a:lnSpc>
                        <a:spcBef>
                          <a:spcPts val="0"/>
                        </a:spcBef>
                        <a:spcAft>
                          <a:spcPts val="0"/>
                        </a:spcAft>
                      </a:pPr>
                      <a:r>
                        <a:rPr lang="en-US" sz="1400" dirty="0">
                          <a:solidFill>
                            <a:srgbClr val="000000"/>
                          </a:solidFill>
                          <a:latin typeface="Arial"/>
                          <a:ea typeface="Times New Roman"/>
                          <a:cs typeface="Times New Roman"/>
                        </a:rPr>
                        <a:t>I</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Union and its territory</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1 to 4</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7717">
                <a:tc>
                  <a:txBody>
                    <a:bodyPr/>
                    <a:lstStyle/>
                    <a:p>
                      <a:pPr marL="0" marR="0" algn="ctr">
                        <a:lnSpc>
                          <a:spcPct val="115000"/>
                        </a:lnSpc>
                        <a:spcBef>
                          <a:spcPts val="0"/>
                        </a:spcBef>
                        <a:spcAft>
                          <a:spcPts val="0"/>
                        </a:spcAft>
                      </a:pPr>
                      <a:r>
                        <a:rPr lang="en-US" sz="1400" b="1" dirty="0">
                          <a:solidFill>
                            <a:srgbClr val="FF0000"/>
                          </a:solidFill>
                          <a:latin typeface="Arial"/>
                          <a:ea typeface="Times New Roman"/>
                          <a:cs typeface="Times New Roman"/>
                        </a:rPr>
                        <a:t>II</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FF0000"/>
                          </a:solidFill>
                          <a:latin typeface="Arial"/>
                          <a:ea typeface="Times New Roman"/>
                          <a:cs typeface="Times New Roman"/>
                        </a:rPr>
                        <a:t>Citizenship</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FF0000"/>
                          </a:solidFill>
                          <a:latin typeface="Arial"/>
                          <a:ea typeface="Times New Roman"/>
                          <a:cs typeface="Times New Roman"/>
                        </a:rPr>
                        <a:t>5 to 11</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57717">
                <a:tc>
                  <a:txBody>
                    <a:bodyPr/>
                    <a:lstStyle/>
                    <a:p>
                      <a:pPr marL="0" marR="0" algn="ctr">
                        <a:lnSpc>
                          <a:spcPct val="115000"/>
                        </a:lnSpc>
                        <a:spcBef>
                          <a:spcPts val="0"/>
                        </a:spcBef>
                        <a:spcAft>
                          <a:spcPts val="0"/>
                        </a:spcAft>
                      </a:pPr>
                      <a:r>
                        <a:rPr lang="en-US" sz="1400" b="1" dirty="0">
                          <a:solidFill>
                            <a:srgbClr val="FF0000"/>
                          </a:solidFill>
                          <a:latin typeface="Arial"/>
                          <a:ea typeface="Times New Roman"/>
                          <a:cs typeface="Times New Roman"/>
                        </a:rPr>
                        <a:t>III</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FF0000"/>
                          </a:solidFill>
                          <a:latin typeface="Arial"/>
                          <a:ea typeface="Times New Roman"/>
                          <a:cs typeface="Times New Roman"/>
                        </a:rPr>
                        <a:t>Fundamental Rights</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FF0000"/>
                          </a:solidFill>
                          <a:latin typeface="Arial"/>
                          <a:ea typeface="Times New Roman"/>
                          <a:cs typeface="Times New Roman"/>
                        </a:rPr>
                        <a:t>12 to 35</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IV</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Directive Principles of State Policy</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36 to 51</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57717">
                <a:tc>
                  <a:txBody>
                    <a:bodyPr/>
                    <a:lstStyle/>
                    <a:p>
                      <a:pPr marL="0" marR="0" algn="ctr">
                        <a:lnSpc>
                          <a:spcPct val="115000"/>
                        </a:lnSpc>
                        <a:spcBef>
                          <a:spcPts val="0"/>
                        </a:spcBef>
                        <a:spcAft>
                          <a:spcPts val="0"/>
                        </a:spcAft>
                      </a:pPr>
                      <a:r>
                        <a:rPr lang="en-US" sz="1400" b="1" dirty="0">
                          <a:solidFill>
                            <a:srgbClr val="FF0000"/>
                          </a:solidFill>
                          <a:latin typeface="Arial"/>
                          <a:ea typeface="Times New Roman"/>
                          <a:cs typeface="Times New Roman"/>
                        </a:rPr>
                        <a:t>IV-A</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FF0000"/>
                          </a:solidFill>
                          <a:latin typeface="Arial"/>
                          <a:ea typeface="Times New Roman"/>
                          <a:cs typeface="Times New Roman"/>
                        </a:rPr>
                        <a:t>Fundamental Duties</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FF0000"/>
                          </a:solidFill>
                          <a:latin typeface="Arial"/>
                          <a:ea typeface="Times New Roman"/>
                          <a:cs typeface="Times New Roman"/>
                        </a:rPr>
                        <a:t>51-A</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V</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The Union Government</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52 to 151</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 </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I - The Executive</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52 to 78</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 </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II - Parliament</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79 to 122</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 </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III - Legislative Powers of President</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123</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 </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IV - The Union Judiciary</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124 to 147</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91798">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 </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V - Comptroller and Auditor-General of India</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148 to 151</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55239">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VI</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The State Governments</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152 to 237</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 </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I - General</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152</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 </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II - The Executive</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153 to 167</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 </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III - The State Legislature</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168 to 212</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 </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IV - Legislative Powers of Governor</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213</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 </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V - The High Courts</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214 to 232</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 </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VI - Subordinate Courts</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233 to 237</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VIII</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The Union Territories</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239 to 242</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257717">
                <a:tc>
                  <a:txBody>
                    <a:bodyPr/>
                    <a:lstStyle/>
                    <a:p>
                      <a:pPr marL="0" marR="0" algn="ctr">
                        <a:lnSpc>
                          <a:spcPct val="115000"/>
                        </a:lnSpc>
                        <a:spcBef>
                          <a:spcPts val="0"/>
                        </a:spcBef>
                        <a:spcAft>
                          <a:spcPts val="0"/>
                        </a:spcAft>
                      </a:pPr>
                      <a:r>
                        <a:rPr lang="en-US" sz="1400" b="1" dirty="0">
                          <a:solidFill>
                            <a:srgbClr val="FF0000"/>
                          </a:solidFill>
                          <a:latin typeface="Arial"/>
                          <a:ea typeface="Times New Roman"/>
                          <a:cs typeface="Times New Roman"/>
                        </a:rPr>
                        <a:t>IX</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FF0000"/>
                          </a:solidFill>
                          <a:latin typeface="Arial"/>
                          <a:ea typeface="Times New Roman"/>
                          <a:cs typeface="Times New Roman"/>
                        </a:rPr>
                        <a:t>The </a:t>
                      </a:r>
                      <a:r>
                        <a:rPr lang="en-US" sz="1400" b="1" dirty="0" err="1">
                          <a:solidFill>
                            <a:srgbClr val="FF0000"/>
                          </a:solidFill>
                          <a:latin typeface="Arial"/>
                          <a:ea typeface="Times New Roman"/>
                          <a:cs typeface="Times New Roman"/>
                        </a:rPr>
                        <a:t>Panchayats</a:t>
                      </a:r>
                      <a:endParaRPr lang="en-US" sz="1400" b="1">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a:solidFill>
                            <a:srgbClr val="FF0000"/>
                          </a:solidFill>
                          <a:latin typeface="Arial"/>
                          <a:ea typeface="Times New Roman"/>
                          <a:cs typeface="Times New Roman"/>
                        </a:rPr>
                        <a:t>243 to 243-O</a:t>
                      </a:r>
                      <a:endParaRPr lang="en-US" sz="120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57717">
                <a:tc>
                  <a:txBody>
                    <a:bodyPr/>
                    <a:lstStyle/>
                    <a:p>
                      <a:pPr marL="0" marR="0" algn="ctr">
                        <a:lnSpc>
                          <a:spcPct val="115000"/>
                        </a:lnSpc>
                        <a:spcBef>
                          <a:spcPts val="0"/>
                        </a:spcBef>
                        <a:spcAft>
                          <a:spcPts val="0"/>
                        </a:spcAft>
                      </a:pPr>
                      <a:r>
                        <a:rPr lang="en-US" sz="1400" b="1">
                          <a:solidFill>
                            <a:srgbClr val="000000"/>
                          </a:solidFill>
                          <a:latin typeface="Arial"/>
                          <a:ea typeface="Times New Roman"/>
                          <a:cs typeface="Times New Roman"/>
                        </a:rPr>
                        <a:t>IX-A</a:t>
                      </a:r>
                      <a:endParaRPr lang="en-US" sz="140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a:solidFill>
                            <a:srgbClr val="000000"/>
                          </a:solidFill>
                          <a:latin typeface="Arial"/>
                          <a:ea typeface="Times New Roman"/>
                          <a:cs typeface="Times New Roman"/>
                        </a:rPr>
                        <a:t>The Municipalities</a:t>
                      </a:r>
                      <a:endParaRPr lang="en-US" sz="1400" b="1">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a:solidFill>
                            <a:srgbClr val="000000"/>
                          </a:solidFill>
                          <a:latin typeface="Arial"/>
                          <a:ea typeface="Times New Roman"/>
                          <a:cs typeface="Times New Roman"/>
                        </a:rPr>
                        <a:t>243-P to 243-ZG</a:t>
                      </a:r>
                      <a:endParaRPr lang="en-US" sz="120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257717">
                <a:tc>
                  <a:txBody>
                    <a:bodyPr/>
                    <a:lstStyle/>
                    <a:p>
                      <a:pPr marL="0" marR="0" algn="ctr">
                        <a:lnSpc>
                          <a:spcPct val="115000"/>
                        </a:lnSpc>
                        <a:spcBef>
                          <a:spcPts val="0"/>
                        </a:spcBef>
                        <a:spcAft>
                          <a:spcPts val="0"/>
                        </a:spcAft>
                      </a:pPr>
                      <a:r>
                        <a:rPr lang="en-US" sz="1400" b="1">
                          <a:solidFill>
                            <a:srgbClr val="000000"/>
                          </a:solidFill>
                          <a:latin typeface="Arial"/>
                          <a:ea typeface="Times New Roman"/>
                          <a:cs typeface="Times New Roman"/>
                        </a:rPr>
                        <a:t>X</a:t>
                      </a:r>
                      <a:endParaRPr lang="en-US" sz="140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a:solidFill>
                            <a:srgbClr val="000000"/>
                          </a:solidFill>
                          <a:latin typeface="Arial"/>
                          <a:ea typeface="Times New Roman"/>
                          <a:cs typeface="Times New Roman"/>
                        </a:rPr>
                        <a:t>The Scheduled and Tribal Areas</a:t>
                      </a:r>
                      <a:endParaRPr lang="en-US" sz="1400" b="1">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a:solidFill>
                            <a:srgbClr val="000000"/>
                          </a:solidFill>
                          <a:latin typeface="Arial"/>
                          <a:ea typeface="Times New Roman"/>
                          <a:cs typeface="Times New Roman"/>
                        </a:rPr>
                        <a:t>244 to 244-A</a:t>
                      </a:r>
                      <a:endParaRPr lang="en-US" sz="120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257717">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XI</a:t>
                      </a:r>
                      <a:endParaRPr lang="en-US" sz="14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a:solidFill>
                            <a:srgbClr val="000000"/>
                          </a:solidFill>
                          <a:latin typeface="Arial"/>
                          <a:ea typeface="Times New Roman"/>
                          <a:cs typeface="Times New Roman"/>
                        </a:rPr>
                        <a:t>Relations between the Union and the States</a:t>
                      </a:r>
                      <a:endParaRPr lang="en-US" sz="1400" b="1">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a:solidFill>
                            <a:srgbClr val="000000"/>
                          </a:solidFill>
                          <a:latin typeface="Arial"/>
                          <a:ea typeface="Times New Roman"/>
                          <a:cs typeface="Times New Roman"/>
                        </a:rPr>
                        <a:t>245 to 263</a:t>
                      </a:r>
                      <a:endParaRPr lang="en-US" sz="120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257717">
                <a:tc>
                  <a:txBody>
                    <a:bodyPr/>
                    <a:lstStyle/>
                    <a:p>
                      <a:pPr marL="0" marR="0" algn="ctr">
                        <a:lnSpc>
                          <a:spcPct val="115000"/>
                        </a:lnSpc>
                        <a:spcBef>
                          <a:spcPts val="0"/>
                        </a:spcBef>
                        <a:spcAft>
                          <a:spcPts val="0"/>
                        </a:spcAft>
                      </a:pPr>
                      <a:r>
                        <a:rPr lang="en-US" sz="800" b="1">
                          <a:solidFill>
                            <a:srgbClr val="000000"/>
                          </a:solidFill>
                          <a:latin typeface="Arial"/>
                          <a:ea typeface="Times New Roman"/>
                          <a:cs typeface="Times New Roman"/>
                        </a:rPr>
                        <a:t> </a:t>
                      </a:r>
                      <a:endParaRPr lang="en-US" sz="80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I - Legislative Relations</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a:solidFill>
                            <a:srgbClr val="000000"/>
                          </a:solidFill>
                          <a:latin typeface="Arial"/>
                          <a:ea typeface="Times New Roman"/>
                          <a:cs typeface="Times New Roman"/>
                        </a:rPr>
                        <a:t>245 to 255</a:t>
                      </a:r>
                      <a:endParaRPr lang="en-US" sz="120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257717">
                <a:tc>
                  <a:txBody>
                    <a:bodyPr/>
                    <a:lstStyle/>
                    <a:p>
                      <a:pPr marL="0" marR="0" algn="ctr">
                        <a:lnSpc>
                          <a:spcPct val="115000"/>
                        </a:lnSpc>
                        <a:spcBef>
                          <a:spcPts val="0"/>
                        </a:spcBef>
                        <a:spcAft>
                          <a:spcPts val="0"/>
                        </a:spcAft>
                      </a:pPr>
                      <a:r>
                        <a:rPr lang="en-US" sz="800" b="1">
                          <a:solidFill>
                            <a:srgbClr val="000000"/>
                          </a:solidFill>
                          <a:latin typeface="Arial"/>
                          <a:ea typeface="Times New Roman"/>
                          <a:cs typeface="Times New Roman"/>
                        </a:rPr>
                        <a:t> </a:t>
                      </a:r>
                      <a:endParaRPr lang="en-US" sz="80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Arial"/>
                          <a:ea typeface="Times New Roman"/>
                          <a:cs typeface="Times New Roman"/>
                        </a:rPr>
                        <a:t>Chapter II - Administrative Relations</a:t>
                      </a:r>
                      <a:endParaRPr lang="en-US" sz="1400" b="1"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Arial"/>
                          <a:ea typeface="Times New Roman"/>
                          <a:cs typeface="Times New Roman"/>
                        </a:rPr>
                        <a:t>256 to 263</a:t>
                      </a:r>
                      <a:endParaRPr lang="en-US" sz="1200" dirty="0">
                        <a:latin typeface="Calibri"/>
                        <a:ea typeface="Calibri"/>
                        <a:cs typeface="Times New Roman"/>
                      </a:endParaRPr>
                    </a:p>
                  </a:txBody>
                  <a:tcPr marL="52730" marR="527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304800" y="152408"/>
          <a:ext cx="8534400" cy="6400792"/>
        </p:xfrm>
        <a:graphic>
          <a:graphicData uri="http://schemas.openxmlformats.org/drawingml/2006/table">
            <a:tbl>
              <a:tblPr/>
              <a:tblGrid>
                <a:gridCol w="933020">
                  <a:extLst>
                    <a:ext uri="{9D8B030D-6E8A-4147-A177-3AD203B41FA5}">
                      <a16:colId xmlns:a16="http://schemas.microsoft.com/office/drawing/2014/main" val="20000"/>
                    </a:ext>
                  </a:extLst>
                </a:gridCol>
                <a:gridCol w="5145338">
                  <a:extLst>
                    <a:ext uri="{9D8B030D-6E8A-4147-A177-3AD203B41FA5}">
                      <a16:colId xmlns:a16="http://schemas.microsoft.com/office/drawing/2014/main" val="20001"/>
                    </a:ext>
                  </a:extLst>
                </a:gridCol>
                <a:gridCol w="2456042">
                  <a:extLst>
                    <a:ext uri="{9D8B030D-6E8A-4147-A177-3AD203B41FA5}">
                      <a16:colId xmlns:a16="http://schemas.microsoft.com/office/drawing/2014/main" val="20002"/>
                    </a:ext>
                  </a:extLst>
                </a:gridCol>
              </a:tblGrid>
              <a:tr h="253616">
                <a:tc>
                  <a:txBody>
                    <a:bodyPr/>
                    <a:lstStyle/>
                    <a:p>
                      <a:pPr algn="ctr" fontAlgn="t"/>
                      <a:r>
                        <a:rPr lang="en-US" sz="1200" b="1" i="0" u="none" strike="noStrike">
                          <a:solidFill>
                            <a:srgbClr val="000000"/>
                          </a:solidFill>
                          <a:latin typeface="Arial"/>
                        </a:rPr>
                        <a:t>XII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Finance, Property, Contracts and Suits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264 to 300-A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00"/>
                  </a:ext>
                </a:extLst>
              </a:tr>
              <a:tr h="253616">
                <a:tc>
                  <a:txBody>
                    <a:bodyPr/>
                    <a:lstStyle/>
                    <a:p>
                      <a:pPr algn="ctr" fontAlgn="t"/>
                      <a:r>
                        <a:rPr lang="en-US" sz="1200" b="1" i="0" u="none" strike="noStrike">
                          <a:solidFill>
                            <a:srgbClr val="000000"/>
                          </a:solidFill>
                          <a:latin typeface="Arial"/>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Chapter I - Finance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264 to 291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01"/>
                  </a:ext>
                </a:extLst>
              </a:tr>
              <a:tr h="253616">
                <a:tc>
                  <a:txBody>
                    <a:bodyPr/>
                    <a:lstStyle/>
                    <a:p>
                      <a:pPr algn="ctr" fontAlgn="t"/>
                      <a:r>
                        <a:rPr lang="en-US" sz="1200" b="1" i="0" u="none" strike="noStrike">
                          <a:solidFill>
                            <a:srgbClr val="000000"/>
                          </a:solidFill>
                          <a:latin typeface="Arial"/>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Chapter II - Borrowing</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292 to 293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02"/>
                  </a:ext>
                </a:extLst>
              </a:tr>
              <a:tr h="458926">
                <a:tc>
                  <a:txBody>
                    <a:bodyPr/>
                    <a:lstStyle/>
                    <a:p>
                      <a:pPr algn="ctr" fontAlgn="t"/>
                      <a:r>
                        <a:rPr lang="en-US" sz="1200" b="1" i="0" u="none" strike="noStrike">
                          <a:solidFill>
                            <a:srgbClr val="008000"/>
                          </a:solidFill>
                          <a:latin typeface="Arial"/>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FF0000"/>
                          </a:solidFill>
                          <a:latin typeface="Arial"/>
                        </a:rPr>
                        <a:t>Chapter III - Property, Contracts, Rights, Liabilities, Obligations and Suits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FF0000"/>
                          </a:solidFill>
                          <a:latin typeface="Arial"/>
                        </a:rPr>
                        <a:t>294 to 300</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03"/>
                  </a:ext>
                </a:extLst>
              </a:tr>
              <a:tr h="253616">
                <a:tc>
                  <a:txBody>
                    <a:bodyPr/>
                    <a:lstStyle/>
                    <a:p>
                      <a:pPr algn="ctr" fontAlgn="t"/>
                      <a:r>
                        <a:rPr lang="en-US" sz="1200" b="1" i="0" u="none" strike="noStrike">
                          <a:solidFill>
                            <a:srgbClr val="008000"/>
                          </a:solidFill>
                          <a:latin typeface="Arial"/>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FF0000"/>
                          </a:solidFill>
                          <a:latin typeface="Arial"/>
                        </a:rPr>
                        <a:t>Cpapter IV - Right to Property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FF0000"/>
                          </a:solidFill>
                          <a:latin typeface="Arial"/>
                        </a:rPr>
                        <a:t>300-A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04"/>
                  </a:ext>
                </a:extLst>
              </a:tr>
              <a:tr h="458926">
                <a:tc>
                  <a:txBody>
                    <a:bodyPr/>
                    <a:lstStyle/>
                    <a:p>
                      <a:pPr algn="ctr" fontAlgn="t"/>
                      <a:r>
                        <a:rPr lang="en-US" sz="1200" b="1" i="0" u="none" strike="noStrike">
                          <a:solidFill>
                            <a:srgbClr val="000000"/>
                          </a:solidFill>
                          <a:latin typeface="Arial"/>
                        </a:rPr>
                        <a:t>XIII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Trade, Commerce and Intercourse within the Territory of India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301 to 307</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05"/>
                  </a:ext>
                </a:extLst>
              </a:tr>
              <a:tr h="253616">
                <a:tc>
                  <a:txBody>
                    <a:bodyPr/>
                    <a:lstStyle/>
                    <a:p>
                      <a:pPr algn="ctr" fontAlgn="t"/>
                      <a:r>
                        <a:rPr lang="en-US" sz="1200" b="1" i="0" u="none" strike="noStrike">
                          <a:solidFill>
                            <a:srgbClr val="000000"/>
                          </a:solidFill>
                          <a:latin typeface="Arial"/>
                        </a:rPr>
                        <a:t>XIV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Services under the Union and the States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308 to 323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06"/>
                  </a:ext>
                </a:extLst>
              </a:tr>
              <a:tr h="253616">
                <a:tc>
                  <a:txBody>
                    <a:bodyPr/>
                    <a:lstStyle/>
                    <a:p>
                      <a:pPr algn="ctr" fontAlgn="t"/>
                      <a:r>
                        <a:rPr lang="en-US" sz="1200" b="1" i="0" u="none" strike="noStrike">
                          <a:solidFill>
                            <a:srgbClr val="000000"/>
                          </a:solidFill>
                          <a:latin typeface="Arial"/>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Chapter I - Services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308 to 314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07"/>
                  </a:ext>
                </a:extLst>
              </a:tr>
              <a:tr h="253616">
                <a:tc>
                  <a:txBody>
                    <a:bodyPr/>
                    <a:lstStyle/>
                    <a:p>
                      <a:pPr algn="ctr" fontAlgn="t"/>
                      <a:r>
                        <a:rPr lang="en-US" sz="1200" b="1" i="0" u="none" strike="noStrike">
                          <a:solidFill>
                            <a:srgbClr val="000000"/>
                          </a:solidFill>
                          <a:latin typeface="Arial"/>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Chapter II - Public Service Commissions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315 to 323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08"/>
                  </a:ext>
                </a:extLst>
              </a:tr>
              <a:tr h="253616">
                <a:tc>
                  <a:txBody>
                    <a:bodyPr/>
                    <a:lstStyle/>
                    <a:p>
                      <a:pPr algn="ctr" fontAlgn="t"/>
                      <a:r>
                        <a:rPr lang="en-US" sz="1200" b="1" i="0" u="none" strike="noStrike">
                          <a:solidFill>
                            <a:srgbClr val="000000"/>
                          </a:solidFill>
                          <a:latin typeface="Arial"/>
                        </a:rPr>
                        <a:t>XIV-A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Tribunals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323-A to 323-B</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09"/>
                  </a:ext>
                </a:extLst>
              </a:tr>
              <a:tr h="253616">
                <a:tc>
                  <a:txBody>
                    <a:bodyPr/>
                    <a:lstStyle/>
                    <a:p>
                      <a:pPr algn="ctr" fontAlgn="t"/>
                      <a:r>
                        <a:rPr lang="en-US" sz="1200" b="1" i="0" u="none" strike="noStrike">
                          <a:solidFill>
                            <a:srgbClr val="FF0000"/>
                          </a:solidFill>
                          <a:latin typeface="Arial"/>
                        </a:rPr>
                        <a:t>XV</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FF0000"/>
                          </a:solidFill>
                          <a:latin typeface="Arial"/>
                        </a:rPr>
                        <a:t>Elections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FF0000"/>
                          </a:solidFill>
                          <a:latin typeface="Arial"/>
                        </a:rPr>
                        <a:t>324 to 329-A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10"/>
                  </a:ext>
                </a:extLst>
              </a:tr>
              <a:tr h="253616">
                <a:tc>
                  <a:txBody>
                    <a:bodyPr/>
                    <a:lstStyle/>
                    <a:p>
                      <a:pPr algn="ctr" fontAlgn="t"/>
                      <a:r>
                        <a:rPr lang="en-US" sz="1200" b="1" i="0" u="none" strike="noStrike">
                          <a:solidFill>
                            <a:srgbClr val="000000"/>
                          </a:solidFill>
                          <a:latin typeface="Arial"/>
                        </a:rPr>
                        <a:t>XVI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Special Provisions relating to Certain Classes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330 to 342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11"/>
                  </a:ext>
                </a:extLst>
              </a:tr>
              <a:tr h="253616">
                <a:tc>
                  <a:txBody>
                    <a:bodyPr/>
                    <a:lstStyle/>
                    <a:p>
                      <a:pPr algn="ctr" fontAlgn="t"/>
                      <a:r>
                        <a:rPr lang="en-US" sz="1200" b="1" i="0" u="none" strike="noStrike">
                          <a:solidFill>
                            <a:srgbClr val="000000"/>
                          </a:solidFill>
                          <a:latin typeface="Arial"/>
                        </a:rPr>
                        <a:t>XVII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Official Language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343 to 351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12"/>
                  </a:ext>
                </a:extLst>
              </a:tr>
              <a:tr h="253616">
                <a:tc>
                  <a:txBody>
                    <a:bodyPr/>
                    <a:lstStyle/>
                    <a:p>
                      <a:pPr algn="ctr" fontAlgn="t"/>
                      <a:r>
                        <a:rPr lang="en-US" sz="1200" b="1" i="0" u="none" strike="noStrike">
                          <a:solidFill>
                            <a:srgbClr val="000000"/>
                          </a:solidFill>
                          <a:latin typeface="Arial"/>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Chapter I - Language of the Union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343 to 344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13"/>
                  </a:ext>
                </a:extLst>
              </a:tr>
              <a:tr h="253616">
                <a:tc>
                  <a:txBody>
                    <a:bodyPr/>
                    <a:lstStyle/>
                    <a:p>
                      <a:pPr algn="ctr" fontAlgn="t"/>
                      <a:r>
                        <a:rPr lang="en-US" sz="1200" b="1" i="0" u="none" strike="noStrike">
                          <a:solidFill>
                            <a:srgbClr val="000000"/>
                          </a:solidFill>
                          <a:latin typeface="Arial"/>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Chapter II - Regional Languages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345 to 347</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14"/>
                  </a:ext>
                </a:extLst>
              </a:tr>
              <a:tr h="458926">
                <a:tc>
                  <a:txBody>
                    <a:bodyPr/>
                    <a:lstStyle/>
                    <a:p>
                      <a:pPr algn="ctr" fontAlgn="t"/>
                      <a:r>
                        <a:rPr lang="en-US" sz="1200" b="1" i="0" u="none" strike="noStrike">
                          <a:solidFill>
                            <a:srgbClr val="000000"/>
                          </a:solidFill>
                          <a:latin typeface="Arial"/>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Chapter III-Language of the Supreme Court, High Courts, and so 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348 to 349</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15"/>
                  </a:ext>
                </a:extLst>
              </a:tr>
              <a:tr h="253616">
                <a:tc>
                  <a:txBody>
                    <a:bodyPr/>
                    <a:lstStyle/>
                    <a:p>
                      <a:pPr algn="ctr" fontAlgn="t"/>
                      <a:r>
                        <a:rPr lang="en-US" sz="1200" b="0" i="0" u="none" strike="noStrike">
                          <a:solidFill>
                            <a:srgbClr val="000000"/>
                          </a:solidFill>
                          <a:latin typeface="Arial"/>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Chapter IV-Special Directives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350 to 351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16"/>
                  </a:ext>
                </a:extLst>
              </a:tr>
              <a:tr h="253616">
                <a:tc>
                  <a:txBody>
                    <a:bodyPr/>
                    <a:lstStyle/>
                    <a:p>
                      <a:pPr algn="ctr" fontAlgn="t"/>
                      <a:r>
                        <a:rPr lang="en-US" sz="1200" b="1" i="0" u="none" strike="noStrike">
                          <a:solidFill>
                            <a:srgbClr val="000000"/>
                          </a:solidFill>
                          <a:latin typeface="Arial"/>
                        </a:rPr>
                        <a:t>XVIII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Emergency Provisions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352 to 360</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17"/>
                  </a:ext>
                </a:extLst>
              </a:tr>
              <a:tr h="253616">
                <a:tc>
                  <a:txBody>
                    <a:bodyPr/>
                    <a:lstStyle/>
                    <a:p>
                      <a:pPr algn="ctr" fontAlgn="t"/>
                      <a:r>
                        <a:rPr lang="en-US" sz="1200" b="1" i="0" u="none" strike="noStrike">
                          <a:solidFill>
                            <a:srgbClr val="000000"/>
                          </a:solidFill>
                          <a:latin typeface="Arial"/>
                        </a:rPr>
                        <a:t>XIX</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Miscellaneous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000000"/>
                          </a:solidFill>
                          <a:latin typeface="Arial"/>
                        </a:rPr>
                        <a:t>361 to 367</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18"/>
                  </a:ext>
                </a:extLst>
              </a:tr>
              <a:tr h="253616">
                <a:tc>
                  <a:txBody>
                    <a:bodyPr/>
                    <a:lstStyle/>
                    <a:p>
                      <a:pPr algn="ctr" fontAlgn="t"/>
                      <a:r>
                        <a:rPr lang="en-US" sz="1200" b="1" i="0" u="none" strike="noStrike">
                          <a:solidFill>
                            <a:srgbClr val="FF0000"/>
                          </a:solidFill>
                          <a:latin typeface="Arial"/>
                        </a:rPr>
                        <a:t>XX</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FF0000"/>
                          </a:solidFill>
                          <a:latin typeface="Arial"/>
                        </a:rPr>
                        <a:t>Amendment of the Constitution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a:solidFill>
                            <a:srgbClr val="FF0000"/>
                          </a:solidFill>
                          <a:latin typeface="Arial"/>
                        </a:rPr>
                        <a:t>368</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19"/>
                  </a:ext>
                </a:extLst>
              </a:tr>
              <a:tr h="253616">
                <a:tc>
                  <a:txBody>
                    <a:bodyPr/>
                    <a:lstStyle/>
                    <a:p>
                      <a:pPr algn="ctr" fontAlgn="t"/>
                      <a:r>
                        <a:rPr lang="en-US" sz="1200" b="1" i="0" u="none" strike="noStrike">
                          <a:solidFill>
                            <a:srgbClr val="FF0000"/>
                          </a:solidFill>
                          <a:latin typeface="Arial"/>
                        </a:rPr>
                        <a:t>XXI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a:solidFill>
                            <a:srgbClr val="000000"/>
                          </a:solidFill>
                          <a:latin typeface="Arial"/>
                        </a:rPr>
                        <a:t>Temporary, Transitional and Special Provisions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ctr" fontAlgn="t"/>
                      <a:r>
                        <a:rPr lang="en-US" sz="1400" b="1" i="0" u="none" strike="noStrike" dirty="0">
                          <a:solidFill>
                            <a:srgbClr val="000000"/>
                          </a:solidFill>
                          <a:latin typeface="Arial"/>
                        </a:rPr>
                        <a:t>369 to 392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20"/>
                  </a:ext>
                </a:extLst>
              </a:tr>
              <a:tr h="458926">
                <a:tc>
                  <a:txBody>
                    <a:bodyPr/>
                    <a:lstStyle/>
                    <a:p>
                      <a:pPr algn="ctr" fontAlgn="t"/>
                      <a:r>
                        <a:rPr lang="en-US" sz="1200" b="1" i="0" u="none" strike="noStrike" dirty="0">
                          <a:solidFill>
                            <a:srgbClr val="000000"/>
                          </a:solidFill>
                          <a:latin typeface="Arial"/>
                        </a:rPr>
                        <a:t>XXII</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t"/>
                      <a:r>
                        <a:rPr lang="en-US" sz="1400" b="1" i="0" u="none" strike="noStrike" dirty="0">
                          <a:solidFill>
                            <a:srgbClr val="000000"/>
                          </a:solidFill>
                          <a:latin typeface="Arial"/>
                        </a:rPr>
                        <a:t>Short title, Commencement, Authoritative Text in Hindi and Repeals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tc>
                  <a:txBody>
                    <a:bodyPr/>
                    <a:lstStyle/>
                    <a:p>
                      <a:pPr algn="l" fontAlgn="b"/>
                      <a:r>
                        <a:rPr lang="en-US" sz="900" b="0" i="0" u="none" strike="noStrike" dirty="0">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FBE2"/>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533400" y="304799"/>
          <a:ext cx="7924800" cy="6231525"/>
        </p:xfrm>
        <a:graphic>
          <a:graphicData uri="http://schemas.openxmlformats.org/drawingml/2006/table">
            <a:tbl>
              <a:tblPr/>
              <a:tblGrid>
                <a:gridCol w="38862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408883">
                <a:tc>
                  <a:txBody>
                    <a:bodyPr/>
                    <a:lstStyle/>
                    <a:p>
                      <a:pPr algn="just" fontAlgn="b"/>
                      <a:r>
                        <a:rPr lang="en-US" sz="2000" b="1" i="1" u="none" strike="noStrike">
                          <a:solidFill>
                            <a:srgbClr val="000000"/>
                          </a:solidFill>
                          <a:latin typeface="Arial"/>
                        </a:rPr>
                        <a:t>Britain</a:t>
                      </a:r>
                    </a:p>
                  </a:txBody>
                  <a:tcPr marL="0" marR="0" marT="0" marB="0" anchor="b">
                    <a:lnL>
                      <a:noFill/>
                    </a:lnL>
                    <a:lnR>
                      <a:noFill/>
                    </a:lnR>
                    <a:lnT>
                      <a:noFill/>
                    </a:lnT>
                    <a:lnB>
                      <a:noFill/>
                    </a:lnB>
                    <a:solidFill>
                      <a:srgbClr val="FFFF00"/>
                    </a:solidFill>
                  </a:tcPr>
                </a:tc>
                <a:tc>
                  <a:txBody>
                    <a:bodyPr/>
                    <a:lstStyle/>
                    <a:p>
                      <a:pPr algn="just" fontAlgn="b"/>
                      <a:r>
                        <a:rPr lang="en-US" sz="2000" b="1" i="1" u="none" strike="noStrike">
                          <a:solidFill>
                            <a:srgbClr val="000000"/>
                          </a:solidFill>
                          <a:latin typeface="Arial"/>
                        </a:rPr>
                        <a:t>Unites States of America</a:t>
                      </a:r>
                    </a:p>
                  </a:txBody>
                  <a:tcPr marL="0" marR="0" marT="0" marB="0" anchor="b">
                    <a:lnL>
                      <a:noFill/>
                    </a:lnL>
                    <a:lnR>
                      <a:noFill/>
                    </a:lnR>
                    <a:lnT>
                      <a:noFill/>
                    </a:lnT>
                    <a:lnB>
                      <a:noFill/>
                    </a:lnB>
                    <a:solidFill>
                      <a:srgbClr val="FFFF00"/>
                    </a:solidFill>
                  </a:tcPr>
                </a:tc>
                <a:extLst>
                  <a:ext uri="{0D108BD9-81ED-4DB2-BD59-A6C34878D82A}">
                    <a16:rowId xmlns:a16="http://schemas.microsoft.com/office/drawing/2014/main" val="10000"/>
                  </a:ext>
                </a:extLst>
              </a:tr>
              <a:tr h="389413">
                <a:tc>
                  <a:txBody>
                    <a:bodyPr/>
                    <a:lstStyle/>
                    <a:p>
                      <a:pPr algn="just" fontAlgn="b"/>
                      <a:r>
                        <a:rPr lang="en-US" sz="1600" b="1" i="0" u="none" strike="noStrike">
                          <a:solidFill>
                            <a:srgbClr val="000000"/>
                          </a:solidFill>
                          <a:latin typeface="Arial"/>
                        </a:rPr>
                        <a:t>1.</a:t>
                      </a:r>
                      <a:r>
                        <a:rPr lang="en-US" sz="1600" b="0" i="0" u="none" strike="noStrike">
                          <a:solidFill>
                            <a:srgbClr val="000000"/>
                          </a:solidFill>
                          <a:latin typeface="Arial"/>
                        </a:rPr>
                        <a:t> Parliamentary government</a:t>
                      </a:r>
                      <a:endParaRPr lang="en-US" sz="1600" b="1" i="0" u="none" strike="noStrike">
                        <a:solidFill>
                          <a:srgbClr val="000000"/>
                        </a:solidFill>
                        <a:latin typeface="Arial"/>
                      </a:endParaRPr>
                    </a:p>
                  </a:txBody>
                  <a:tcPr marL="0" marR="0" marT="0" marB="0" anchor="b">
                    <a:lnL>
                      <a:noFill/>
                    </a:lnL>
                    <a:lnR>
                      <a:noFill/>
                    </a:lnR>
                    <a:lnT>
                      <a:noFill/>
                    </a:lnT>
                    <a:lnB>
                      <a:noFill/>
                    </a:lnB>
                  </a:tcPr>
                </a:tc>
                <a:tc>
                  <a:txBody>
                    <a:bodyPr/>
                    <a:lstStyle/>
                    <a:p>
                      <a:pPr algn="just" fontAlgn="b"/>
                      <a:r>
                        <a:rPr lang="en-US" sz="1600" b="1" i="0" u="none" strike="noStrike">
                          <a:solidFill>
                            <a:srgbClr val="000000"/>
                          </a:solidFill>
                          <a:latin typeface="Arial"/>
                        </a:rPr>
                        <a:t>1.</a:t>
                      </a:r>
                      <a:r>
                        <a:rPr lang="en-US" sz="1600" b="0" i="0" u="none" strike="noStrike">
                          <a:solidFill>
                            <a:srgbClr val="000000"/>
                          </a:solidFill>
                          <a:latin typeface="Arial"/>
                        </a:rPr>
                        <a:t> Impeachment of the president</a:t>
                      </a:r>
                      <a:endParaRPr lang="en-US" sz="1600" b="1" i="0" u="none" strike="noStrike">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1"/>
                  </a:ext>
                </a:extLst>
              </a:tr>
              <a:tr h="389413">
                <a:tc>
                  <a:txBody>
                    <a:bodyPr/>
                    <a:lstStyle/>
                    <a:p>
                      <a:pPr algn="just" fontAlgn="b"/>
                      <a:r>
                        <a:rPr lang="en-US" sz="1600" b="1" i="0" u="none" strike="noStrike">
                          <a:solidFill>
                            <a:srgbClr val="000000"/>
                          </a:solidFill>
                          <a:latin typeface="Arial"/>
                        </a:rPr>
                        <a:t>2.</a:t>
                      </a:r>
                      <a:r>
                        <a:rPr lang="en-US" sz="1600" b="0" i="0" u="none" strike="noStrike">
                          <a:solidFill>
                            <a:srgbClr val="000000"/>
                          </a:solidFill>
                          <a:latin typeface="Arial"/>
                        </a:rPr>
                        <a:t> Rule of Law</a:t>
                      </a:r>
                      <a:endParaRPr lang="en-US" sz="1600" b="1" i="0" u="none" strike="noStrike">
                        <a:solidFill>
                          <a:srgbClr val="000000"/>
                        </a:solidFill>
                        <a:latin typeface="Arial"/>
                      </a:endParaRPr>
                    </a:p>
                  </a:txBody>
                  <a:tcPr marL="0" marR="0" marT="0" marB="0" anchor="b">
                    <a:lnL>
                      <a:noFill/>
                    </a:lnL>
                    <a:lnR>
                      <a:noFill/>
                    </a:lnR>
                    <a:lnT>
                      <a:noFill/>
                    </a:lnT>
                    <a:lnB>
                      <a:noFill/>
                    </a:lnB>
                  </a:tcPr>
                </a:tc>
                <a:tc>
                  <a:txBody>
                    <a:bodyPr/>
                    <a:lstStyle/>
                    <a:p>
                      <a:pPr algn="just" fontAlgn="b"/>
                      <a:r>
                        <a:rPr lang="en-US" sz="1600" b="1" i="0" u="none" strike="noStrike">
                          <a:solidFill>
                            <a:srgbClr val="000000"/>
                          </a:solidFill>
                          <a:latin typeface="Arial"/>
                        </a:rPr>
                        <a:t>2.</a:t>
                      </a:r>
                      <a:r>
                        <a:rPr lang="en-US" sz="1600" b="0" i="0" u="none" strike="noStrike">
                          <a:solidFill>
                            <a:srgbClr val="000000"/>
                          </a:solidFill>
                          <a:latin typeface="Arial"/>
                        </a:rPr>
                        <a:t> Functions of president and vice-president</a:t>
                      </a:r>
                      <a:endParaRPr lang="en-US" sz="1600" b="1" i="0" u="none" strike="noStrike">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2"/>
                  </a:ext>
                </a:extLst>
              </a:tr>
              <a:tr h="428355">
                <a:tc>
                  <a:txBody>
                    <a:bodyPr/>
                    <a:lstStyle/>
                    <a:p>
                      <a:pPr algn="just" fontAlgn="b"/>
                      <a:r>
                        <a:rPr lang="en-US" sz="1600" b="1" i="0" u="none" strike="noStrike">
                          <a:solidFill>
                            <a:srgbClr val="000000"/>
                          </a:solidFill>
                          <a:latin typeface="Arial"/>
                        </a:rPr>
                        <a:t>3</a:t>
                      </a:r>
                      <a:r>
                        <a:rPr lang="en-US" sz="1600" b="0" i="0" u="none" strike="noStrike">
                          <a:solidFill>
                            <a:srgbClr val="000000"/>
                          </a:solidFill>
                          <a:latin typeface="Arial"/>
                        </a:rPr>
                        <a:t>. Legislative procedure</a:t>
                      </a:r>
                      <a:endParaRPr lang="en-US" sz="1600" b="1" i="0" u="none" strike="noStrike">
                        <a:solidFill>
                          <a:srgbClr val="000000"/>
                        </a:solidFill>
                        <a:latin typeface="Arial"/>
                      </a:endParaRPr>
                    </a:p>
                  </a:txBody>
                  <a:tcPr marL="0" marR="0" marT="0" marB="0" anchor="b">
                    <a:lnL>
                      <a:noFill/>
                    </a:lnL>
                    <a:lnR>
                      <a:noFill/>
                    </a:lnR>
                    <a:lnT>
                      <a:noFill/>
                    </a:lnT>
                    <a:lnB>
                      <a:noFill/>
                    </a:lnB>
                  </a:tcPr>
                </a:tc>
                <a:tc>
                  <a:txBody>
                    <a:bodyPr/>
                    <a:lstStyle/>
                    <a:p>
                      <a:pPr algn="just" fontAlgn="b"/>
                      <a:r>
                        <a:rPr lang="en-US" sz="1600" b="1" i="0" u="none" strike="noStrike">
                          <a:solidFill>
                            <a:srgbClr val="000000"/>
                          </a:solidFill>
                          <a:latin typeface="Arial"/>
                        </a:rPr>
                        <a:t>3.</a:t>
                      </a:r>
                      <a:r>
                        <a:rPr lang="en-US" sz="1600" b="0" i="0" u="none" strike="noStrike">
                          <a:solidFill>
                            <a:srgbClr val="000000"/>
                          </a:solidFill>
                          <a:latin typeface="Arial"/>
                        </a:rPr>
                        <a:t> Removal of Supreme Court and High court judges</a:t>
                      </a:r>
                      <a:endParaRPr lang="en-US" sz="1600" b="1" i="0" u="none" strike="noStrike">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3"/>
                  </a:ext>
                </a:extLst>
              </a:tr>
              <a:tr h="389413">
                <a:tc>
                  <a:txBody>
                    <a:bodyPr/>
                    <a:lstStyle/>
                    <a:p>
                      <a:pPr algn="just" fontAlgn="b"/>
                      <a:r>
                        <a:rPr lang="en-US" sz="1600" b="1" i="0" u="none" strike="noStrike">
                          <a:solidFill>
                            <a:srgbClr val="000000"/>
                          </a:solidFill>
                          <a:latin typeface="Arial"/>
                        </a:rPr>
                        <a:t>4.</a:t>
                      </a:r>
                      <a:r>
                        <a:rPr lang="en-US" sz="1600" b="0" i="0" u="none" strike="noStrike">
                          <a:solidFill>
                            <a:srgbClr val="000000"/>
                          </a:solidFill>
                          <a:latin typeface="Arial"/>
                        </a:rPr>
                        <a:t> Single citizenship</a:t>
                      </a:r>
                      <a:endParaRPr lang="en-US" sz="1600" b="1" i="0" u="none" strike="noStrike">
                        <a:solidFill>
                          <a:srgbClr val="000000"/>
                        </a:solidFill>
                        <a:latin typeface="Arial"/>
                      </a:endParaRPr>
                    </a:p>
                  </a:txBody>
                  <a:tcPr marL="0" marR="0" marT="0" marB="0" anchor="b">
                    <a:lnL>
                      <a:noFill/>
                    </a:lnL>
                    <a:lnR>
                      <a:noFill/>
                    </a:lnR>
                    <a:lnT>
                      <a:noFill/>
                    </a:lnT>
                    <a:lnB>
                      <a:noFill/>
                    </a:lnB>
                  </a:tcPr>
                </a:tc>
                <a:tc>
                  <a:txBody>
                    <a:bodyPr/>
                    <a:lstStyle/>
                    <a:p>
                      <a:pPr algn="just" fontAlgn="b"/>
                      <a:r>
                        <a:rPr lang="en-US" sz="1600" b="1" i="0" u="none" strike="noStrike">
                          <a:solidFill>
                            <a:srgbClr val="000000"/>
                          </a:solidFill>
                          <a:latin typeface="Arial"/>
                        </a:rPr>
                        <a:t>4.</a:t>
                      </a:r>
                      <a:r>
                        <a:rPr lang="en-US" sz="1600" b="0" i="0" u="none" strike="noStrike">
                          <a:solidFill>
                            <a:srgbClr val="000000"/>
                          </a:solidFill>
                          <a:latin typeface="Arial"/>
                        </a:rPr>
                        <a:t> Fundamental Rights</a:t>
                      </a:r>
                      <a:endParaRPr lang="en-US" sz="1600" b="1" i="0" u="none" strike="noStrike">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4"/>
                  </a:ext>
                </a:extLst>
              </a:tr>
              <a:tr h="389413">
                <a:tc>
                  <a:txBody>
                    <a:bodyPr/>
                    <a:lstStyle/>
                    <a:p>
                      <a:pPr algn="just" fontAlgn="b"/>
                      <a:r>
                        <a:rPr lang="en-US" sz="1600" b="1" i="0" u="none" strike="noStrike">
                          <a:solidFill>
                            <a:srgbClr val="000000"/>
                          </a:solidFill>
                          <a:latin typeface="Arial"/>
                        </a:rPr>
                        <a:t>5.</a:t>
                      </a:r>
                      <a:r>
                        <a:rPr lang="en-US" sz="1600" b="0" i="0" u="none" strike="noStrike">
                          <a:solidFill>
                            <a:srgbClr val="000000"/>
                          </a:solidFill>
                          <a:latin typeface="Arial"/>
                        </a:rPr>
                        <a:t> Cabinet system</a:t>
                      </a:r>
                      <a:endParaRPr lang="en-US" sz="1600" b="1" i="0" u="none" strike="noStrike">
                        <a:solidFill>
                          <a:srgbClr val="000000"/>
                        </a:solidFill>
                        <a:latin typeface="Arial"/>
                      </a:endParaRPr>
                    </a:p>
                  </a:txBody>
                  <a:tcPr marL="0" marR="0" marT="0" marB="0" anchor="b">
                    <a:lnL>
                      <a:noFill/>
                    </a:lnL>
                    <a:lnR>
                      <a:noFill/>
                    </a:lnR>
                    <a:lnT>
                      <a:noFill/>
                    </a:lnT>
                    <a:lnB>
                      <a:noFill/>
                    </a:lnB>
                  </a:tcPr>
                </a:tc>
                <a:tc>
                  <a:txBody>
                    <a:bodyPr/>
                    <a:lstStyle/>
                    <a:p>
                      <a:pPr algn="just" fontAlgn="b"/>
                      <a:r>
                        <a:rPr lang="en-US" sz="1600" b="1" i="0" u="none" strike="noStrike">
                          <a:solidFill>
                            <a:srgbClr val="000000"/>
                          </a:solidFill>
                          <a:latin typeface="Arial"/>
                        </a:rPr>
                        <a:t>5.</a:t>
                      </a:r>
                      <a:r>
                        <a:rPr lang="en-US" sz="1600" b="0" i="0" u="none" strike="noStrike">
                          <a:solidFill>
                            <a:srgbClr val="000000"/>
                          </a:solidFill>
                          <a:latin typeface="Arial"/>
                        </a:rPr>
                        <a:t> Judicial review</a:t>
                      </a:r>
                      <a:endParaRPr lang="en-US" sz="1600" b="1" i="0" u="none" strike="noStrike">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5"/>
                  </a:ext>
                </a:extLst>
              </a:tr>
              <a:tr h="389413">
                <a:tc>
                  <a:txBody>
                    <a:bodyPr/>
                    <a:lstStyle/>
                    <a:p>
                      <a:pPr algn="just" fontAlgn="b"/>
                      <a:r>
                        <a:rPr lang="en-US" sz="1600" b="1" i="0" u="none" strike="noStrike">
                          <a:solidFill>
                            <a:srgbClr val="000000"/>
                          </a:solidFill>
                          <a:latin typeface="Arial"/>
                        </a:rPr>
                        <a:t>6.</a:t>
                      </a:r>
                      <a:r>
                        <a:rPr lang="en-US" sz="1600" b="0" i="0" u="none" strike="noStrike">
                          <a:solidFill>
                            <a:srgbClr val="000000"/>
                          </a:solidFill>
                          <a:latin typeface="Arial"/>
                        </a:rPr>
                        <a:t> Prerogative writs</a:t>
                      </a:r>
                      <a:endParaRPr lang="en-US" sz="1600" b="1" i="0" u="none" strike="noStrike">
                        <a:solidFill>
                          <a:srgbClr val="000000"/>
                        </a:solidFill>
                        <a:latin typeface="Arial"/>
                      </a:endParaRPr>
                    </a:p>
                  </a:txBody>
                  <a:tcPr marL="0" marR="0" marT="0" marB="0" anchor="b">
                    <a:lnL>
                      <a:noFill/>
                    </a:lnL>
                    <a:lnR>
                      <a:noFill/>
                    </a:lnR>
                    <a:lnT>
                      <a:noFill/>
                    </a:lnT>
                    <a:lnB>
                      <a:noFill/>
                    </a:lnB>
                  </a:tcPr>
                </a:tc>
                <a:tc>
                  <a:txBody>
                    <a:bodyPr/>
                    <a:lstStyle/>
                    <a:p>
                      <a:pPr algn="just" fontAlgn="b"/>
                      <a:r>
                        <a:rPr lang="en-US" sz="1600" b="1" i="0" u="none" strike="noStrike">
                          <a:solidFill>
                            <a:srgbClr val="000000"/>
                          </a:solidFill>
                          <a:latin typeface="Arial"/>
                        </a:rPr>
                        <a:t>6.</a:t>
                      </a:r>
                      <a:r>
                        <a:rPr lang="en-US" sz="1600" b="0" i="0" u="none" strike="noStrike">
                          <a:solidFill>
                            <a:srgbClr val="000000"/>
                          </a:solidFill>
                          <a:latin typeface="Arial"/>
                        </a:rPr>
                        <a:t> Independence of judiciary</a:t>
                      </a:r>
                      <a:endParaRPr lang="en-US" sz="1600" b="1" i="0" u="none" strike="noStrike">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6"/>
                  </a:ext>
                </a:extLst>
              </a:tr>
              <a:tr h="389413">
                <a:tc>
                  <a:txBody>
                    <a:bodyPr/>
                    <a:lstStyle/>
                    <a:p>
                      <a:pPr algn="just" fontAlgn="b"/>
                      <a:r>
                        <a:rPr lang="en-US" sz="1600" b="1" i="0" u="none" strike="noStrike">
                          <a:solidFill>
                            <a:srgbClr val="000000"/>
                          </a:solidFill>
                          <a:latin typeface="Arial"/>
                        </a:rPr>
                        <a:t>7.</a:t>
                      </a:r>
                      <a:r>
                        <a:rPr lang="en-US" sz="1600" b="0" i="0" u="none" strike="noStrike">
                          <a:solidFill>
                            <a:srgbClr val="000000"/>
                          </a:solidFill>
                          <a:latin typeface="Arial"/>
                        </a:rPr>
                        <a:t> Parliamentary privileges</a:t>
                      </a:r>
                      <a:endParaRPr lang="en-US" sz="1600" b="1" i="0" u="none" strike="noStrike">
                        <a:solidFill>
                          <a:srgbClr val="000000"/>
                        </a:solidFill>
                        <a:latin typeface="Arial"/>
                      </a:endParaRPr>
                    </a:p>
                  </a:txBody>
                  <a:tcPr marL="0" marR="0" marT="0" marB="0" anchor="b">
                    <a:lnL>
                      <a:noFill/>
                    </a:lnL>
                    <a:lnR>
                      <a:noFill/>
                    </a:lnR>
                    <a:lnT>
                      <a:noFill/>
                    </a:lnT>
                    <a:lnB>
                      <a:noFill/>
                    </a:lnB>
                  </a:tcPr>
                </a:tc>
                <a:tc>
                  <a:txBody>
                    <a:bodyPr/>
                    <a:lstStyle/>
                    <a:p>
                      <a:pPr algn="just" fontAlgn="b"/>
                      <a:r>
                        <a:rPr lang="en-US" sz="1600" b="1" i="0" u="none" strike="noStrike" dirty="0">
                          <a:solidFill>
                            <a:srgbClr val="000000"/>
                          </a:solidFill>
                          <a:latin typeface="Arial"/>
                        </a:rPr>
                        <a:t>7.</a:t>
                      </a:r>
                      <a:r>
                        <a:rPr lang="en-US" sz="1600" b="0" i="0" u="none" strike="noStrike" dirty="0">
                          <a:solidFill>
                            <a:srgbClr val="000000"/>
                          </a:solidFill>
                          <a:latin typeface="Arial"/>
                        </a:rPr>
                        <a:t> Preamble of the constitution</a:t>
                      </a:r>
                      <a:endParaRPr lang="en-US" sz="1600" b="1" i="0" u="none" strike="noStrike" dirty="0">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7"/>
                  </a:ext>
                </a:extLst>
              </a:tr>
              <a:tr h="389413">
                <a:tc>
                  <a:txBody>
                    <a:bodyPr/>
                    <a:lstStyle/>
                    <a:p>
                      <a:pPr algn="just" fontAlgn="b"/>
                      <a:r>
                        <a:rPr lang="en-US" sz="1600" b="1" i="0" u="none" strike="noStrike" dirty="0">
                          <a:solidFill>
                            <a:srgbClr val="000000"/>
                          </a:solidFill>
                          <a:latin typeface="Arial"/>
                        </a:rPr>
                        <a:t>8</a:t>
                      </a:r>
                      <a:r>
                        <a:rPr lang="en-US" sz="1600" b="0" i="0" u="none" strike="noStrike" dirty="0">
                          <a:solidFill>
                            <a:srgbClr val="000000"/>
                          </a:solidFill>
                          <a:latin typeface="Arial"/>
                        </a:rPr>
                        <a:t>. Bicameralism</a:t>
                      </a:r>
                      <a:endParaRPr lang="en-US" sz="1600" b="1" i="0" u="none" strike="noStrike" dirty="0">
                        <a:solidFill>
                          <a:srgbClr val="000000"/>
                        </a:solidFill>
                        <a:latin typeface="Arial"/>
                      </a:endParaRPr>
                    </a:p>
                  </a:txBody>
                  <a:tcPr marL="0" marR="0" marT="0" marB="0" anchor="b">
                    <a:lnL>
                      <a:noFill/>
                    </a:lnL>
                    <a:lnR>
                      <a:noFill/>
                    </a:lnR>
                    <a:lnT>
                      <a:noFill/>
                    </a:lnT>
                    <a:lnB>
                      <a:noFill/>
                    </a:lnB>
                  </a:tcPr>
                </a:tc>
                <a:tc>
                  <a:txBody>
                    <a:bodyPr/>
                    <a:lstStyle/>
                    <a:p>
                      <a:pPr algn="l" fontAlgn="b"/>
                      <a:endParaRPr lang="en-US" sz="1000" b="0" i="0" u="none" strike="noStrike">
                        <a:solidFill>
                          <a:srgbClr val="000000"/>
                        </a:solidFill>
                        <a:latin typeface="Calibri"/>
                      </a:endParaRPr>
                    </a:p>
                  </a:txBody>
                  <a:tcPr marL="0" marR="0" marT="0" marB="0" anchor="b">
                    <a:lnL>
                      <a:noFill/>
                    </a:lnL>
                    <a:lnR>
                      <a:noFill/>
                    </a:lnR>
                    <a:lnT>
                      <a:noFill/>
                    </a:lnT>
                    <a:lnB>
                      <a:noFill/>
                    </a:lnB>
                  </a:tcPr>
                </a:tc>
                <a:extLst>
                  <a:ext uri="{0D108BD9-81ED-4DB2-BD59-A6C34878D82A}">
                    <a16:rowId xmlns:a16="http://schemas.microsoft.com/office/drawing/2014/main" val="10008"/>
                  </a:ext>
                </a:extLst>
              </a:tr>
              <a:tr h="389413">
                <a:tc>
                  <a:txBody>
                    <a:bodyPr/>
                    <a:lstStyle/>
                    <a:p>
                      <a:pPr algn="l" fontAlgn="b"/>
                      <a:endParaRPr lang="en-US" sz="10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en-US" sz="1000" b="0" i="0" u="none" strike="noStrike">
                        <a:solidFill>
                          <a:srgbClr val="000000"/>
                        </a:solidFill>
                        <a:latin typeface="Calibri"/>
                      </a:endParaRPr>
                    </a:p>
                  </a:txBody>
                  <a:tcPr marL="0" marR="0" marT="0" marB="0" anchor="b">
                    <a:lnL>
                      <a:noFill/>
                    </a:lnL>
                    <a:lnR>
                      <a:noFill/>
                    </a:lnR>
                    <a:lnT>
                      <a:noFill/>
                    </a:lnT>
                    <a:lnB>
                      <a:noFill/>
                    </a:lnB>
                  </a:tcPr>
                </a:tc>
                <a:extLst>
                  <a:ext uri="{0D108BD9-81ED-4DB2-BD59-A6C34878D82A}">
                    <a16:rowId xmlns:a16="http://schemas.microsoft.com/office/drawing/2014/main" val="10009"/>
                  </a:ext>
                </a:extLst>
              </a:tr>
              <a:tr h="389413">
                <a:tc>
                  <a:txBody>
                    <a:bodyPr/>
                    <a:lstStyle/>
                    <a:p>
                      <a:pPr algn="just" fontAlgn="b"/>
                      <a:r>
                        <a:rPr lang="en-US" sz="1400" b="1" i="0" u="none" strike="noStrike">
                          <a:solidFill>
                            <a:srgbClr val="000000"/>
                          </a:solidFill>
                          <a:latin typeface="Arial"/>
                        </a:rPr>
                        <a:t>Canada</a:t>
                      </a:r>
                    </a:p>
                  </a:txBody>
                  <a:tcPr marL="0" marR="0" marT="0" marB="0" anchor="b">
                    <a:lnL>
                      <a:noFill/>
                    </a:lnL>
                    <a:lnR>
                      <a:noFill/>
                    </a:lnR>
                    <a:lnT>
                      <a:noFill/>
                    </a:lnT>
                    <a:lnB>
                      <a:noFill/>
                    </a:lnB>
                    <a:solidFill>
                      <a:srgbClr val="FFFF00"/>
                    </a:solidFill>
                  </a:tcPr>
                </a:tc>
                <a:tc>
                  <a:txBody>
                    <a:bodyPr/>
                    <a:lstStyle/>
                    <a:p>
                      <a:pPr algn="just" fontAlgn="b"/>
                      <a:r>
                        <a:rPr lang="en-US" sz="1600" b="1" i="0" u="none" strike="noStrike">
                          <a:solidFill>
                            <a:srgbClr val="000000"/>
                          </a:solidFill>
                          <a:latin typeface="Arial"/>
                        </a:rPr>
                        <a:t>Ireland</a:t>
                      </a:r>
                    </a:p>
                  </a:txBody>
                  <a:tcPr marL="0" marR="0" marT="0" marB="0" anchor="b">
                    <a:lnL>
                      <a:noFill/>
                    </a:lnL>
                    <a:lnR>
                      <a:noFill/>
                    </a:lnR>
                    <a:lnT>
                      <a:noFill/>
                    </a:lnT>
                    <a:lnB>
                      <a:noFill/>
                    </a:lnB>
                    <a:solidFill>
                      <a:srgbClr val="FFFF00"/>
                    </a:solidFill>
                  </a:tcPr>
                </a:tc>
                <a:extLst>
                  <a:ext uri="{0D108BD9-81ED-4DB2-BD59-A6C34878D82A}">
                    <a16:rowId xmlns:a16="http://schemas.microsoft.com/office/drawing/2014/main" val="10010"/>
                  </a:ext>
                </a:extLst>
              </a:tr>
              <a:tr h="506239">
                <a:tc>
                  <a:txBody>
                    <a:bodyPr/>
                    <a:lstStyle/>
                    <a:p>
                      <a:pPr algn="just" fontAlgn="b"/>
                      <a:r>
                        <a:rPr lang="en-US" sz="1400" b="1" i="0" u="none" strike="noStrike">
                          <a:solidFill>
                            <a:srgbClr val="000000"/>
                          </a:solidFill>
                          <a:latin typeface="Arial"/>
                        </a:rPr>
                        <a:t>1.</a:t>
                      </a:r>
                      <a:r>
                        <a:rPr lang="en-US" sz="1400" b="0" i="0" u="none" strike="noStrike">
                          <a:solidFill>
                            <a:srgbClr val="000000"/>
                          </a:solidFill>
                          <a:latin typeface="Arial"/>
                        </a:rPr>
                        <a:t> Federation with a strong Centre</a:t>
                      </a:r>
                      <a:endParaRPr lang="en-US" sz="1400" b="1" i="0" u="none" strike="noStrike">
                        <a:solidFill>
                          <a:srgbClr val="000000"/>
                        </a:solidFill>
                        <a:latin typeface="Arial"/>
                      </a:endParaRPr>
                    </a:p>
                  </a:txBody>
                  <a:tcPr marL="0" marR="0" marT="0" marB="0" anchor="b">
                    <a:lnL>
                      <a:noFill/>
                    </a:lnL>
                    <a:lnR>
                      <a:noFill/>
                    </a:lnR>
                    <a:lnT>
                      <a:noFill/>
                    </a:lnT>
                    <a:lnB>
                      <a:noFill/>
                    </a:lnB>
                  </a:tcPr>
                </a:tc>
                <a:tc>
                  <a:txBody>
                    <a:bodyPr/>
                    <a:lstStyle/>
                    <a:p>
                      <a:pPr algn="just" fontAlgn="b"/>
                      <a:r>
                        <a:rPr lang="en-US" sz="1600" b="1" i="0" u="none" strike="noStrike">
                          <a:solidFill>
                            <a:srgbClr val="000000"/>
                          </a:solidFill>
                          <a:latin typeface="Arial"/>
                        </a:rPr>
                        <a:t>1.</a:t>
                      </a:r>
                      <a:r>
                        <a:rPr lang="en-US" sz="1600" b="0" i="0" u="none" strike="noStrike">
                          <a:solidFill>
                            <a:srgbClr val="000000"/>
                          </a:solidFill>
                          <a:latin typeface="Arial"/>
                        </a:rPr>
                        <a:t> Directive Principles of State Policy</a:t>
                      </a:r>
                      <a:endParaRPr lang="en-US" sz="1600" b="1" i="0" u="none" strike="noStrike">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11"/>
                  </a:ext>
                </a:extLst>
              </a:tr>
              <a:tr h="408883">
                <a:tc>
                  <a:txBody>
                    <a:bodyPr/>
                    <a:lstStyle/>
                    <a:p>
                      <a:pPr algn="just" fontAlgn="b"/>
                      <a:r>
                        <a:rPr lang="en-US" sz="1400" b="1" i="0" u="none" strike="noStrike">
                          <a:solidFill>
                            <a:srgbClr val="000000"/>
                          </a:solidFill>
                          <a:latin typeface="Arial"/>
                        </a:rPr>
                        <a:t>2.</a:t>
                      </a:r>
                      <a:r>
                        <a:rPr lang="en-US" sz="1400" b="0" i="0" u="none" strike="noStrike">
                          <a:solidFill>
                            <a:srgbClr val="000000"/>
                          </a:solidFill>
                          <a:latin typeface="Arial"/>
                        </a:rPr>
                        <a:t> Vesting of residuary powers in the Centre</a:t>
                      </a:r>
                      <a:endParaRPr lang="en-US" sz="1400" b="1" i="0" u="none" strike="noStrike">
                        <a:solidFill>
                          <a:srgbClr val="000000"/>
                        </a:solidFill>
                        <a:latin typeface="Arial"/>
                      </a:endParaRPr>
                    </a:p>
                  </a:txBody>
                  <a:tcPr marL="0" marR="0" marT="0" marB="0" anchor="b">
                    <a:lnL>
                      <a:noFill/>
                    </a:lnL>
                    <a:lnR>
                      <a:noFill/>
                    </a:lnR>
                    <a:lnT>
                      <a:noFill/>
                    </a:lnT>
                    <a:lnB>
                      <a:noFill/>
                    </a:lnB>
                  </a:tcPr>
                </a:tc>
                <a:tc>
                  <a:txBody>
                    <a:bodyPr/>
                    <a:lstStyle/>
                    <a:p>
                      <a:pPr algn="just" fontAlgn="b"/>
                      <a:r>
                        <a:rPr lang="en-US" sz="1600" b="1" i="0" u="none" strike="noStrike">
                          <a:solidFill>
                            <a:srgbClr val="000000"/>
                          </a:solidFill>
                          <a:latin typeface="Arial"/>
                        </a:rPr>
                        <a:t>2.</a:t>
                      </a:r>
                      <a:r>
                        <a:rPr lang="en-US" sz="1600" b="0" i="0" u="none" strike="noStrike">
                          <a:solidFill>
                            <a:srgbClr val="000000"/>
                          </a:solidFill>
                          <a:latin typeface="Arial"/>
                        </a:rPr>
                        <a:t> Nomination of mem-bers to Rajya Sabha</a:t>
                      </a:r>
                      <a:endParaRPr lang="en-US" sz="1600" b="1" i="0" u="none" strike="noStrike">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12"/>
                  </a:ext>
                </a:extLst>
              </a:tr>
              <a:tr h="486768">
                <a:tc>
                  <a:txBody>
                    <a:bodyPr/>
                    <a:lstStyle/>
                    <a:p>
                      <a:pPr algn="just" fontAlgn="b"/>
                      <a:r>
                        <a:rPr lang="en-US" sz="1400" b="1" i="0" u="none" strike="noStrike">
                          <a:solidFill>
                            <a:srgbClr val="000000"/>
                          </a:solidFill>
                          <a:latin typeface="Arial"/>
                        </a:rPr>
                        <a:t>3</a:t>
                      </a:r>
                      <a:r>
                        <a:rPr lang="en-US" sz="1400" b="0" i="0" u="none" strike="noStrike">
                          <a:solidFill>
                            <a:srgbClr val="000000"/>
                          </a:solidFill>
                          <a:latin typeface="Arial"/>
                        </a:rPr>
                        <a:t>. Appointment of state governors by the Centre</a:t>
                      </a:r>
                      <a:endParaRPr lang="en-US" sz="1400" b="1" i="0" u="none" strike="noStrike">
                        <a:solidFill>
                          <a:srgbClr val="000000"/>
                        </a:solidFill>
                        <a:latin typeface="Arial"/>
                      </a:endParaRPr>
                    </a:p>
                  </a:txBody>
                  <a:tcPr marL="0" marR="0" marT="0" marB="0" anchor="b">
                    <a:lnL>
                      <a:noFill/>
                    </a:lnL>
                    <a:lnR>
                      <a:noFill/>
                    </a:lnR>
                    <a:lnT>
                      <a:noFill/>
                    </a:lnT>
                    <a:lnB>
                      <a:noFill/>
                    </a:lnB>
                  </a:tcPr>
                </a:tc>
                <a:tc>
                  <a:txBody>
                    <a:bodyPr/>
                    <a:lstStyle/>
                    <a:p>
                      <a:pPr algn="just" fontAlgn="b"/>
                      <a:r>
                        <a:rPr lang="en-US" sz="1600" b="1" i="0" u="none" strike="noStrike">
                          <a:solidFill>
                            <a:srgbClr val="000000"/>
                          </a:solidFill>
                          <a:latin typeface="Arial"/>
                        </a:rPr>
                        <a:t>3.</a:t>
                      </a:r>
                      <a:r>
                        <a:rPr lang="en-US" sz="1600" b="0" i="0" u="none" strike="noStrike">
                          <a:solidFill>
                            <a:srgbClr val="000000"/>
                          </a:solidFill>
                          <a:latin typeface="Arial"/>
                        </a:rPr>
                        <a:t> Method of election of president</a:t>
                      </a:r>
                      <a:endParaRPr lang="en-US" sz="1600" b="1" i="0" u="none" strike="noStrike">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13"/>
                  </a:ext>
                </a:extLst>
              </a:tr>
              <a:tr h="428355">
                <a:tc>
                  <a:txBody>
                    <a:bodyPr/>
                    <a:lstStyle/>
                    <a:p>
                      <a:pPr algn="just" fontAlgn="b"/>
                      <a:r>
                        <a:rPr lang="en-US" sz="1400" b="1" i="0" u="none" strike="noStrike" dirty="0">
                          <a:solidFill>
                            <a:srgbClr val="000000"/>
                          </a:solidFill>
                          <a:latin typeface="Arial"/>
                        </a:rPr>
                        <a:t>4.</a:t>
                      </a:r>
                      <a:r>
                        <a:rPr lang="en-US" sz="1400" b="0" i="0" u="none" strike="noStrike" dirty="0">
                          <a:solidFill>
                            <a:srgbClr val="000000"/>
                          </a:solidFill>
                          <a:latin typeface="Arial"/>
                        </a:rPr>
                        <a:t> Advisory jurisdiction of the Supreme Court</a:t>
                      </a:r>
                      <a:endParaRPr lang="en-US" sz="1400" b="1" i="0" u="none" strike="noStrike" dirty="0">
                        <a:solidFill>
                          <a:srgbClr val="000000"/>
                        </a:solidFill>
                        <a:latin typeface="Arial"/>
                      </a:endParaRPr>
                    </a:p>
                  </a:txBody>
                  <a:tcPr marL="0" marR="0" marT="0" marB="0" anchor="b">
                    <a:lnL>
                      <a:noFill/>
                    </a:lnL>
                    <a:lnR>
                      <a:noFill/>
                    </a:lnR>
                    <a:lnT>
                      <a:noFill/>
                    </a:lnT>
                    <a:lnB>
                      <a:noFill/>
                    </a:lnB>
                  </a:tcPr>
                </a:tc>
                <a:tc>
                  <a:txBody>
                    <a:bodyPr/>
                    <a:lstStyle/>
                    <a:p>
                      <a:pPr algn="l" fontAlgn="b"/>
                      <a:endParaRPr lang="en-US" sz="1600" b="0" i="0" u="none" strike="noStrike" dirty="0">
                        <a:solidFill>
                          <a:srgbClr val="000000"/>
                        </a:solidFill>
                        <a:latin typeface="Calibri"/>
                      </a:endParaRPr>
                    </a:p>
                  </a:txBody>
                  <a:tcPr marL="0" marR="0" marT="0" marB="0" anchor="b">
                    <a:lnL>
                      <a:noFill/>
                    </a:lnL>
                    <a:lnR>
                      <a:noFill/>
                    </a:lnR>
                    <a:lnT>
                      <a:noFill/>
                    </a:lnT>
                    <a:lnB>
                      <a:noFill/>
                    </a:lnB>
                  </a:tcPr>
                </a:tc>
                <a:extLst>
                  <a:ext uri="{0D108BD9-81ED-4DB2-BD59-A6C34878D82A}">
                    <a16:rowId xmlns:a16="http://schemas.microsoft.com/office/drawing/2014/main" val="1001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457200" y="228599"/>
          <a:ext cx="8305800" cy="6248400"/>
        </p:xfrm>
        <a:graphic>
          <a:graphicData uri="http://schemas.openxmlformats.org/drawingml/2006/table">
            <a:tbl>
              <a:tblPr/>
              <a:tblGrid>
                <a:gridCol w="4146482">
                  <a:extLst>
                    <a:ext uri="{9D8B030D-6E8A-4147-A177-3AD203B41FA5}">
                      <a16:colId xmlns:a16="http://schemas.microsoft.com/office/drawing/2014/main" val="20000"/>
                    </a:ext>
                  </a:extLst>
                </a:gridCol>
                <a:gridCol w="4159318">
                  <a:extLst>
                    <a:ext uri="{9D8B030D-6E8A-4147-A177-3AD203B41FA5}">
                      <a16:colId xmlns:a16="http://schemas.microsoft.com/office/drawing/2014/main" val="20001"/>
                    </a:ext>
                  </a:extLst>
                </a:gridCol>
              </a:tblGrid>
              <a:tr h="488156">
                <a:tc>
                  <a:txBody>
                    <a:bodyPr/>
                    <a:lstStyle/>
                    <a:p>
                      <a:pPr algn="just" fontAlgn="b"/>
                      <a:r>
                        <a:rPr lang="en-US" sz="1600" b="1" i="1" u="none" strike="noStrike" dirty="0">
                          <a:solidFill>
                            <a:srgbClr val="000000"/>
                          </a:solidFill>
                          <a:latin typeface="Arial"/>
                        </a:rPr>
                        <a:t>Weimar Constitution of Germany</a:t>
                      </a:r>
                    </a:p>
                  </a:txBody>
                  <a:tcPr marL="0" marR="0" marT="0" marB="0" anchor="b">
                    <a:lnL>
                      <a:noFill/>
                    </a:lnL>
                    <a:lnR>
                      <a:noFill/>
                    </a:lnR>
                    <a:lnT>
                      <a:noFill/>
                    </a:lnT>
                    <a:lnB>
                      <a:noFill/>
                    </a:lnB>
                    <a:solidFill>
                      <a:srgbClr val="FFFF00"/>
                    </a:solidFill>
                  </a:tcPr>
                </a:tc>
                <a:tc>
                  <a:txBody>
                    <a:bodyPr/>
                    <a:lstStyle/>
                    <a:p>
                      <a:pPr algn="just" fontAlgn="b"/>
                      <a:r>
                        <a:rPr lang="en-US" sz="1600" b="1" i="1" u="none" strike="noStrike">
                          <a:solidFill>
                            <a:srgbClr val="000000"/>
                          </a:solidFill>
                          <a:latin typeface="Arial"/>
                        </a:rPr>
                        <a:t>South African Constitution</a:t>
                      </a:r>
                    </a:p>
                  </a:txBody>
                  <a:tcPr marL="0" marR="0" marT="0" marB="0" anchor="b">
                    <a:lnL>
                      <a:noFill/>
                    </a:lnL>
                    <a:lnR>
                      <a:noFill/>
                    </a:lnR>
                    <a:lnT>
                      <a:noFill/>
                    </a:lnT>
                    <a:lnB>
                      <a:noFill/>
                    </a:lnB>
                    <a:solidFill>
                      <a:srgbClr val="FFFF00"/>
                    </a:solidFill>
                  </a:tcPr>
                </a:tc>
                <a:extLst>
                  <a:ext uri="{0D108BD9-81ED-4DB2-BD59-A6C34878D82A}">
                    <a16:rowId xmlns:a16="http://schemas.microsoft.com/office/drawing/2014/main" val="10000"/>
                  </a:ext>
                </a:extLst>
              </a:tr>
              <a:tr h="976312">
                <a:tc>
                  <a:txBody>
                    <a:bodyPr/>
                    <a:lstStyle/>
                    <a:p>
                      <a:pPr algn="just" fontAlgn="b"/>
                      <a:r>
                        <a:rPr lang="en-US" sz="1600" b="0" i="0" u="none" strike="noStrike">
                          <a:solidFill>
                            <a:srgbClr val="000000"/>
                          </a:solidFill>
                          <a:latin typeface="Arial"/>
                        </a:rPr>
                        <a:t>1. Suspension of Fundamental Rights during Emergency</a:t>
                      </a:r>
                    </a:p>
                  </a:txBody>
                  <a:tcPr marL="0" marR="0" marT="0" marB="0" anchor="b">
                    <a:lnL>
                      <a:noFill/>
                    </a:lnL>
                    <a:lnR>
                      <a:noFill/>
                    </a:lnR>
                    <a:lnT>
                      <a:noFill/>
                    </a:lnT>
                    <a:lnB>
                      <a:noFill/>
                    </a:lnB>
                  </a:tcPr>
                </a:tc>
                <a:tc>
                  <a:txBody>
                    <a:bodyPr/>
                    <a:lstStyle/>
                    <a:p>
                      <a:pPr algn="just" fontAlgn="b"/>
                      <a:r>
                        <a:rPr lang="en-US" sz="1600" b="1" i="0" u="none" strike="noStrike">
                          <a:solidFill>
                            <a:srgbClr val="000000"/>
                          </a:solidFill>
                          <a:latin typeface="Arial"/>
                        </a:rPr>
                        <a:t>1.</a:t>
                      </a:r>
                      <a:r>
                        <a:rPr lang="en-US" sz="1600" b="0" i="0" u="none" strike="noStrike">
                          <a:solidFill>
                            <a:srgbClr val="000000"/>
                          </a:solidFill>
                          <a:latin typeface="Arial"/>
                        </a:rPr>
                        <a:t> Procedure for amendment of the Constitution </a:t>
                      </a:r>
                      <a:endParaRPr lang="en-US" sz="1600" b="1" i="0" u="none" strike="noStrike">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1"/>
                  </a:ext>
                </a:extLst>
              </a:tr>
              <a:tr h="488156">
                <a:tc>
                  <a:txBody>
                    <a:bodyPr/>
                    <a:lstStyle/>
                    <a:p>
                      <a:pPr algn="just" fontAlgn="b"/>
                      <a:r>
                        <a:rPr lang="en-US" sz="1600" b="1" i="1" u="none" strike="noStrike" dirty="0">
                          <a:solidFill>
                            <a:srgbClr val="000000"/>
                          </a:solidFill>
                          <a:latin typeface="Arial"/>
                        </a:rPr>
                        <a:t>Soviet Constitution (USSR, now Russia)</a:t>
                      </a:r>
                    </a:p>
                  </a:txBody>
                  <a:tcPr marL="0" marR="0" marT="0" marB="0" anchor="b">
                    <a:lnL>
                      <a:noFill/>
                    </a:lnL>
                    <a:lnR>
                      <a:noFill/>
                    </a:lnR>
                    <a:lnT>
                      <a:noFill/>
                    </a:lnT>
                    <a:lnB>
                      <a:noFill/>
                    </a:lnB>
                    <a:solidFill>
                      <a:srgbClr val="FFFF00"/>
                    </a:solidFill>
                  </a:tcPr>
                </a:tc>
                <a:tc>
                  <a:txBody>
                    <a:bodyPr/>
                    <a:lstStyle/>
                    <a:p>
                      <a:pPr algn="just" fontAlgn="b"/>
                      <a:r>
                        <a:rPr lang="en-US" sz="1600" b="1" i="0" u="none" strike="noStrike">
                          <a:solidFill>
                            <a:srgbClr val="000000"/>
                          </a:solidFill>
                          <a:latin typeface="Arial"/>
                        </a:rPr>
                        <a:t>2.</a:t>
                      </a:r>
                      <a:r>
                        <a:rPr lang="en-US" sz="1600" b="0" i="0" u="none" strike="noStrike">
                          <a:solidFill>
                            <a:srgbClr val="000000"/>
                          </a:solidFill>
                          <a:latin typeface="Arial"/>
                        </a:rPr>
                        <a:t> Election of members of Rajya Sabh</a:t>
                      </a:r>
                      <a:endParaRPr lang="en-US" sz="1600" b="1" i="0" u="none" strike="noStrike">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2"/>
                  </a:ext>
                </a:extLst>
              </a:tr>
              <a:tr h="536973">
                <a:tc>
                  <a:txBody>
                    <a:bodyPr/>
                    <a:lstStyle/>
                    <a:p>
                      <a:pPr algn="just" fontAlgn="b"/>
                      <a:r>
                        <a:rPr lang="en-US" sz="1600" b="0" i="0" u="none" strike="noStrike" dirty="0">
                          <a:solidFill>
                            <a:srgbClr val="000000"/>
                          </a:solidFill>
                          <a:latin typeface="Arial"/>
                        </a:rPr>
                        <a:t>1. Fundamental duties</a:t>
                      </a:r>
                    </a:p>
                  </a:txBody>
                  <a:tcPr marL="0" marR="0" marT="0" marB="0" anchor="b">
                    <a:lnL>
                      <a:noFill/>
                    </a:lnL>
                    <a:lnR>
                      <a:noFill/>
                    </a:lnR>
                    <a:lnT>
                      <a:noFill/>
                    </a:lnT>
                    <a:lnB>
                      <a:noFill/>
                    </a:lnB>
                  </a:tcPr>
                </a:tc>
                <a:tc>
                  <a:txBody>
                    <a:bodyPr/>
                    <a:lstStyle/>
                    <a:p>
                      <a:pPr algn="just" fontAlgn="b"/>
                      <a:r>
                        <a:rPr lang="en-US" sz="1600" b="1" i="1" u="none" strike="noStrike">
                          <a:solidFill>
                            <a:srgbClr val="000000"/>
                          </a:solidFill>
                          <a:latin typeface="Arial"/>
                        </a:rPr>
                        <a:t>Japan</a:t>
                      </a:r>
                    </a:p>
                  </a:txBody>
                  <a:tcPr marL="0" marR="0" marT="0" marB="0" anchor="b">
                    <a:lnL>
                      <a:noFill/>
                    </a:lnL>
                    <a:lnR>
                      <a:noFill/>
                    </a:lnR>
                    <a:lnT>
                      <a:noFill/>
                    </a:lnT>
                    <a:lnB>
                      <a:noFill/>
                    </a:lnB>
                    <a:solidFill>
                      <a:srgbClr val="FFFF00"/>
                    </a:solidFill>
                  </a:tcPr>
                </a:tc>
                <a:extLst>
                  <a:ext uri="{0D108BD9-81ED-4DB2-BD59-A6C34878D82A}">
                    <a16:rowId xmlns:a16="http://schemas.microsoft.com/office/drawing/2014/main" val="10003"/>
                  </a:ext>
                </a:extLst>
              </a:tr>
              <a:tr h="976312">
                <a:tc>
                  <a:txBody>
                    <a:bodyPr/>
                    <a:lstStyle/>
                    <a:p>
                      <a:pPr algn="just" fontAlgn="b"/>
                      <a:r>
                        <a:rPr lang="en-US" sz="1600" b="0" i="0" u="none" strike="noStrike">
                          <a:solidFill>
                            <a:srgbClr val="000000"/>
                          </a:solidFill>
                          <a:latin typeface="Arial"/>
                        </a:rPr>
                        <a:t>2. The ideal of justice (social, economic and political) in the Preamble</a:t>
                      </a:r>
                    </a:p>
                  </a:txBody>
                  <a:tcPr marL="0" marR="0" marT="0" marB="0" anchor="b">
                    <a:lnL>
                      <a:noFill/>
                    </a:lnL>
                    <a:lnR>
                      <a:noFill/>
                    </a:lnR>
                    <a:lnT>
                      <a:noFill/>
                    </a:lnT>
                    <a:lnB>
                      <a:noFill/>
                    </a:lnB>
                  </a:tcPr>
                </a:tc>
                <a:tc>
                  <a:txBody>
                    <a:bodyPr/>
                    <a:lstStyle/>
                    <a:p>
                      <a:pPr algn="just" fontAlgn="b"/>
                      <a:r>
                        <a:rPr lang="en-US" sz="1600" b="1" i="0" u="none" strike="noStrike">
                          <a:solidFill>
                            <a:srgbClr val="000000"/>
                          </a:solidFill>
                          <a:latin typeface="Arial"/>
                        </a:rPr>
                        <a:t>1. </a:t>
                      </a:r>
                      <a:r>
                        <a:rPr lang="en-US" sz="1600" b="0" i="0" u="none" strike="noStrike">
                          <a:solidFill>
                            <a:srgbClr val="000000"/>
                          </a:solidFill>
                          <a:latin typeface="Arial"/>
                        </a:rPr>
                        <a:t>Concept of </a:t>
                      </a:r>
                      <a:r>
                        <a:rPr lang="en-US" sz="1600" b="0" i="1" u="none" strike="noStrike">
                          <a:solidFill>
                            <a:srgbClr val="000000"/>
                          </a:solidFill>
                          <a:latin typeface="Arial"/>
                        </a:rPr>
                        <a:t>“procedure established by Law”</a:t>
                      </a:r>
                      <a:endParaRPr lang="en-US" sz="1600" b="1" i="0" u="none" strike="noStrike">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4"/>
                  </a:ext>
                </a:extLst>
              </a:tr>
              <a:tr h="488156">
                <a:tc>
                  <a:txBody>
                    <a:bodyPr/>
                    <a:lstStyle/>
                    <a:p>
                      <a:pPr algn="just" fontAlgn="b"/>
                      <a:r>
                        <a:rPr lang="en-US" sz="1600" b="1" i="0" u="none" strike="noStrike" dirty="0">
                          <a:solidFill>
                            <a:srgbClr val="000000"/>
                          </a:solidFill>
                          <a:latin typeface="Arial"/>
                        </a:rPr>
                        <a:t>Australia</a:t>
                      </a:r>
                    </a:p>
                  </a:txBody>
                  <a:tcPr marL="0" marR="0" marT="0" marB="0" anchor="b">
                    <a:lnL>
                      <a:noFill/>
                    </a:lnL>
                    <a:lnR>
                      <a:noFill/>
                    </a:lnR>
                    <a:lnT>
                      <a:noFill/>
                    </a:lnT>
                    <a:lnB>
                      <a:noFill/>
                    </a:lnB>
                    <a:solidFill>
                      <a:srgbClr val="FFFF00"/>
                    </a:solidFill>
                  </a:tcPr>
                </a:tc>
                <a:tc>
                  <a:txBody>
                    <a:bodyPr/>
                    <a:lstStyle/>
                    <a:p>
                      <a:pPr algn="just" fontAlgn="b"/>
                      <a:r>
                        <a:rPr lang="en-US" sz="1600" b="1" i="0" u="none" strike="noStrike">
                          <a:solidFill>
                            <a:srgbClr val="000000"/>
                          </a:solidFill>
                          <a:latin typeface="Arial"/>
                        </a:rPr>
                        <a:t>France</a:t>
                      </a:r>
                    </a:p>
                  </a:txBody>
                  <a:tcPr marL="0" marR="0" marT="0" marB="0" anchor="b">
                    <a:lnL>
                      <a:noFill/>
                    </a:lnL>
                    <a:lnR>
                      <a:noFill/>
                    </a:lnR>
                    <a:lnT>
                      <a:noFill/>
                    </a:lnT>
                    <a:lnB>
                      <a:noFill/>
                    </a:lnB>
                    <a:solidFill>
                      <a:srgbClr val="FFFF00"/>
                    </a:solidFill>
                  </a:tcPr>
                </a:tc>
                <a:extLst>
                  <a:ext uri="{0D108BD9-81ED-4DB2-BD59-A6C34878D82A}">
                    <a16:rowId xmlns:a16="http://schemas.microsoft.com/office/drawing/2014/main" val="10005"/>
                  </a:ext>
                </a:extLst>
              </a:tr>
              <a:tr h="634603">
                <a:tc>
                  <a:txBody>
                    <a:bodyPr/>
                    <a:lstStyle/>
                    <a:p>
                      <a:pPr algn="just" fontAlgn="b"/>
                      <a:r>
                        <a:rPr lang="en-US" sz="1600" b="0" i="0" u="none" strike="noStrike">
                          <a:solidFill>
                            <a:srgbClr val="000000"/>
                          </a:solidFill>
                          <a:latin typeface="Arial"/>
                        </a:rPr>
                        <a:t>1. Concurrent List</a:t>
                      </a:r>
                    </a:p>
                  </a:txBody>
                  <a:tcPr marL="0" marR="0" marT="0" marB="0" anchor="b">
                    <a:lnL>
                      <a:noFill/>
                    </a:lnL>
                    <a:lnR>
                      <a:noFill/>
                    </a:lnR>
                    <a:lnT>
                      <a:noFill/>
                    </a:lnT>
                    <a:lnB>
                      <a:noFill/>
                    </a:lnB>
                  </a:tcPr>
                </a:tc>
                <a:tc>
                  <a:txBody>
                    <a:bodyPr/>
                    <a:lstStyle/>
                    <a:p>
                      <a:pPr algn="just" fontAlgn="b"/>
                      <a:r>
                        <a:rPr lang="en-US" sz="1600" b="1" i="0" u="none" strike="noStrike" dirty="0">
                          <a:solidFill>
                            <a:srgbClr val="000000"/>
                          </a:solidFill>
                          <a:latin typeface="Arial"/>
                        </a:rPr>
                        <a:t>1.</a:t>
                      </a:r>
                      <a:r>
                        <a:rPr lang="en-US" sz="1600" b="0" i="0" u="none" strike="noStrike" dirty="0">
                          <a:solidFill>
                            <a:srgbClr val="000000"/>
                          </a:solidFill>
                          <a:latin typeface="Arial"/>
                        </a:rPr>
                        <a:t> The ideals of Republic in the Preamble</a:t>
                      </a:r>
                      <a:endParaRPr lang="en-US" sz="1600" b="1" i="0" u="none" strike="noStrike" dirty="0">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6"/>
                  </a:ext>
                </a:extLst>
              </a:tr>
              <a:tr h="512564">
                <a:tc>
                  <a:txBody>
                    <a:bodyPr/>
                    <a:lstStyle/>
                    <a:p>
                      <a:pPr algn="just" fontAlgn="b"/>
                      <a:r>
                        <a:rPr lang="en-US" sz="1600" b="0" i="0" u="none" strike="noStrike">
                          <a:solidFill>
                            <a:srgbClr val="000000"/>
                          </a:solidFill>
                          <a:latin typeface="Arial"/>
                        </a:rPr>
                        <a:t>2. Freedom of trade</a:t>
                      </a:r>
                    </a:p>
                  </a:txBody>
                  <a:tcPr marL="0" marR="0" marT="0" marB="0" anchor="b">
                    <a:lnL>
                      <a:noFill/>
                    </a:lnL>
                    <a:lnR>
                      <a:noFill/>
                    </a:lnR>
                    <a:lnT>
                      <a:noFill/>
                    </a:lnT>
                    <a:lnB>
                      <a:noFill/>
                    </a:lnB>
                  </a:tcPr>
                </a:tc>
                <a:tc>
                  <a:txBody>
                    <a:bodyPr/>
                    <a:lstStyle/>
                    <a:p>
                      <a:pPr algn="just" fontAlgn="b"/>
                      <a:r>
                        <a:rPr lang="en-US" sz="1600" b="1" i="0" u="none" strike="noStrike" dirty="0">
                          <a:solidFill>
                            <a:srgbClr val="000000"/>
                          </a:solidFill>
                          <a:latin typeface="Arial"/>
                        </a:rPr>
                        <a:t>2.</a:t>
                      </a:r>
                      <a:r>
                        <a:rPr lang="en-US" sz="1600" b="0" i="0" u="none" strike="noStrike" dirty="0">
                          <a:solidFill>
                            <a:srgbClr val="000000"/>
                          </a:solidFill>
                          <a:latin typeface="Arial"/>
                        </a:rPr>
                        <a:t> The ideals of liberty in the Preamble</a:t>
                      </a:r>
                      <a:endParaRPr lang="en-US" sz="1600" b="1" i="0" u="none" strike="noStrike" dirty="0">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7"/>
                  </a:ext>
                </a:extLst>
              </a:tr>
              <a:tr h="610195">
                <a:tc>
                  <a:txBody>
                    <a:bodyPr/>
                    <a:lstStyle/>
                    <a:p>
                      <a:pPr algn="just" fontAlgn="b"/>
                      <a:r>
                        <a:rPr lang="en-US" sz="1600" b="0" i="0" u="none" strike="noStrike">
                          <a:solidFill>
                            <a:srgbClr val="000000"/>
                          </a:solidFill>
                          <a:latin typeface="Arial"/>
                        </a:rPr>
                        <a:t>3. Commerce and intercourse</a:t>
                      </a:r>
                    </a:p>
                  </a:txBody>
                  <a:tcPr marL="0" marR="0" marT="0" marB="0" anchor="b">
                    <a:lnL>
                      <a:noFill/>
                    </a:lnL>
                    <a:lnR>
                      <a:noFill/>
                    </a:lnR>
                    <a:lnT>
                      <a:noFill/>
                    </a:lnT>
                    <a:lnB>
                      <a:noFill/>
                    </a:lnB>
                  </a:tcPr>
                </a:tc>
                <a:tc>
                  <a:txBody>
                    <a:bodyPr/>
                    <a:lstStyle/>
                    <a:p>
                      <a:pPr algn="just" fontAlgn="b"/>
                      <a:r>
                        <a:rPr lang="en-US" sz="1600" b="1" i="0" u="none" strike="noStrike" dirty="0">
                          <a:solidFill>
                            <a:srgbClr val="000000"/>
                          </a:solidFill>
                          <a:latin typeface="Arial"/>
                        </a:rPr>
                        <a:t>3.</a:t>
                      </a:r>
                      <a:r>
                        <a:rPr lang="en-US" sz="1600" b="0" i="0" u="none" strike="noStrike" dirty="0">
                          <a:solidFill>
                            <a:srgbClr val="000000"/>
                          </a:solidFill>
                          <a:latin typeface="Arial"/>
                        </a:rPr>
                        <a:t> The ideals of equality in the Preamble</a:t>
                      </a:r>
                      <a:endParaRPr lang="en-US" sz="1600" b="1" i="0" u="none" strike="noStrike" dirty="0">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8"/>
                  </a:ext>
                </a:extLst>
              </a:tr>
              <a:tr h="536973">
                <a:tc>
                  <a:txBody>
                    <a:bodyPr/>
                    <a:lstStyle/>
                    <a:p>
                      <a:pPr algn="just" fontAlgn="b"/>
                      <a:r>
                        <a:rPr lang="en-US" sz="1600" b="0" i="0" u="none" strike="noStrike" dirty="0">
                          <a:solidFill>
                            <a:srgbClr val="000000"/>
                          </a:solidFill>
                          <a:latin typeface="Arial"/>
                        </a:rPr>
                        <a:t>4. Joint sitting of the two Houses of Parliament</a:t>
                      </a:r>
                    </a:p>
                  </a:txBody>
                  <a:tcPr marL="0" marR="0" marT="0" marB="0" anchor="b">
                    <a:lnL>
                      <a:noFill/>
                    </a:lnL>
                    <a:lnR>
                      <a:noFill/>
                    </a:lnR>
                    <a:lnT>
                      <a:noFill/>
                    </a:lnT>
                    <a:lnB>
                      <a:noFill/>
                    </a:lnB>
                  </a:tcPr>
                </a:tc>
                <a:tc>
                  <a:txBody>
                    <a:bodyPr/>
                    <a:lstStyle/>
                    <a:p>
                      <a:pPr algn="just" fontAlgn="b"/>
                      <a:r>
                        <a:rPr lang="en-US" sz="1600" b="1" i="0" u="none" strike="noStrike" dirty="0">
                          <a:solidFill>
                            <a:srgbClr val="000000"/>
                          </a:solidFill>
                          <a:latin typeface="Arial"/>
                        </a:rPr>
                        <a:t>4.</a:t>
                      </a:r>
                      <a:r>
                        <a:rPr lang="en-US" sz="1600" b="0" i="0" u="none" strike="noStrike" dirty="0">
                          <a:solidFill>
                            <a:srgbClr val="000000"/>
                          </a:solidFill>
                          <a:latin typeface="Arial"/>
                        </a:rPr>
                        <a:t> The ideals of fraternity in the Preamble</a:t>
                      </a:r>
                      <a:endParaRPr lang="en-US" sz="1600" b="1" i="0" u="none" strike="noStrike" dirty="0">
                        <a:solidFill>
                          <a:srgbClr val="000000"/>
                        </a:solidFill>
                        <a:latin typeface="Arial"/>
                      </a:endParaRPr>
                    </a:p>
                  </a:txBody>
                  <a:tcPr marL="0" marR="0" marT="0" marB="0" anchor="b">
                    <a:lnL>
                      <a:noFill/>
                    </a:lnL>
                    <a:lnR>
                      <a:noFill/>
                    </a:lnR>
                    <a:lnT>
                      <a:noFill/>
                    </a:lnT>
                    <a:lnB>
                      <a:noFill/>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228600"/>
            <a:ext cx="8686800" cy="2031325"/>
          </a:xfrm>
          <a:prstGeom prst="rect">
            <a:avLst/>
          </a:prstGeom>
        </p:spPr>
        <p:txBody>
          <a:bodyPr wrap="square">
            <a:spAutoFit/>
          </a:bodyPr>
          <a:lstStyle/>
          <a:p>
            <a:pPr fontAlgn="base"/>
            <a:r>
              <a:rPr lang="en-US" b="1" dirty="0"/>
              <a:t>Regulating Act of 1773</a:t>
            </a:r>
          </a:p>
          <a:p>
            <a:pPr fontAlgn="base">
              <a:buFont typeface="Arial" pitchFamily="34" charset="0"/>
              <a:buChar char="•"/>
            </a:pPr>
            <a:r>
              <a:rPr lang="en-US" dirty="0"/>
              <a:t>The Supreme Court was established at Fort William (Calcutta) as the Apex Court in 1774.</a:t>
            </a:r>
          </a:p>
          <a:p>
            <a:pPr fontAlgn="base"/>
            <a:endParaRPr lang="en-US" dirty="0"/>
          </a:p>
          <a:p>
            <a:pPr fontAlgn="base"/>
            <a:r>
              <a:rPr lang="en-US" b="1" dirty="0"/>
              <a:t>Pitt’s India Act of 1784</a:t>
            </a:r>
          </a:p>
          <a:p>
            <a:pPr fontAlgn="base">
              <a:buFont typeface="Arial" pitchFamily="34" charset="0"/>
              <a:buChar char="•"/>
            </a:pPr>
            <a:r>
              <a:rPr lang="en-US" dirty="0"/>
              <a:t>Placed the Indian affairs under the direct control of the British Government.</a:t>
            </a:r>
          </a:p>
          <a:p>
            <a:pPr fontAlgn="base">
              <a:buFont typeface="Arial" pitchFamily="34" charset="0"/>
              <a:buChar char="•"/>
            </a:pPr>
            <a:r>
              <a:rPr lang="en-US" dirty="0"/>
              <a:t>The companies territories in India were called “the British possession in India”.</a:t>
            </a:r>
          </a:p>
          <a:p>
            <a:pPr fontAlgn="base">
              <a:buFont typeface="Arial" pitchFamily="34" charset="0"/>
              <a:buChar char="•"/>
            </a:pPr>
            <a:r>
              <a:rPr lang="en-US" dirty="0"/>
              <a:t>Governor’s councils were established in Madras and Bombay.</a:t>
            </a:r>
          </a:p>
        </p:txBody>
      </p:sp>
      <p:sp>
        <p:nvSpPr>
          <p:cNvPr id="5" name="Rectangle 4"/>
          <p:cNvSpPr/>
          <p:nvPr/>
        </p:nvSpPr>
        <p:spPr>
          <a:xfrm>
            <a:off x="304800" y="2438400"/>
            <a:ext cx="8077200" cy="1754326"/>
          </a:xfrm>
          <a:prstGeom prst="rect">
            <a:avLst/>
          </a:prstGeom>
        </p:spPr>
        <p:txBody>
          <a:bodyPr wrap="square">
            <a:spAutoFit/>
          </a:bodyPr>
          <a:lstStyle/>
          <a:p>
            <a:pPr fontAlgn="base"/>
            <a:r>
              <a:rPr lang="en-US" b="1" dirty="0"/>
              <a:t>Charter Act of 1833</a:t>
            </a:r>
          </a:p>
          <a:p>
            <a:pPr fontAlgn="base">
              <a:buFont typeface="Arial" pitchFamily="34" charset="0"/>
              <a:buChar char="•"/>
            </a:pPr>
            <a:r>
              <a:rPr lang="en-US" b="1" dirty="0"/>
              <a:t>Governor-General (of Bengal) </a:t>
            </a:r>
            <a:r>
              <a:rPr lang="en-US" dirty="0"/>
              <a:t>became as the Governor-General of India.</a:t>
            </a:r>
          </a:p>
          <a:p>
            <a:pPr fontAlgn="base">
              <a:buFont typeface="Arial" pitchFamily="34" charset="0"/>
              <a:buChar char="•"/>
            </a:pPr>
            <a:r>
              <a:rPr lang="en-US" dirty="0"/>
              <a:t>First Governor-General of India was Lord William </a:t>
            </a:r>
            <a:r>
              <a:rPr lang="en-US" dirty="0" err="1"/>
              <a:t>Bentick</a:t>
            </a:r>
            <a:r>
              <a:rPr lang="en-US" dirty="0"/>
              <a:t>.</a:t>
            </a:r>
          </a:p>
          <a:p>
            <a:pPr fontAlgn="base">
              <a:buFont typeface="Arial" pitchFamily="34" charset="0"/>
              <a:buChar char="•"/>
            </a:pPr>
            <a:r>
              <a:rPr lang="en-US" dirty="0"/>
              <a:t>This was the final step towards centralization in the British India.</a:t>
            </a:r>
          </a:p>
          <a:p>
            <a:pPr fontAlgn="base">
              <a:buFont typeface="Arial" pitchFamily="34" charset="0"/>
              <a:buChar char="•"/>
            </a:pPr>
            <a:r>
              <a:rPr lang="en-US" i="1" dirty="0"/>
              <a:t>Beginning of a Central legislature for India as the act also took away legislative powers of Bombay and Madras provinces</a:t>
            </a:r>
            <a:r>
              <a:rPr lang="en-US" dirty="0"/>
              <a:t>.</a:t>
            </a:r>
          </a:p>
        </p:txBody>
      </p:sp>
      <p:sp>
        <p:nvSpPr>
          <p:cNvPr id="6" name="Rectangle 5"/>
          <p:cNvSpPr/>
          <p:nvPr/>
        </p:nvSpPr>
        <p:spPr>
          <a:xfrm>
            <a:off x="304800" y="4191000"/>
            <a:ext cx="8229600" cy="2031325"/>
          </a:xfrm>
          <a:prstGeom prst="rect">
            <a:avLst/>
          </a:prstGeom>
        </p:spPr>
        <p:txBody>
          <a:bodyPr wrap="square">
            <a:spAutoFit/>
          </a:bodyPr>
          <a:lstStyle/>
          <a:p>
            <a:pPr fontAlgn="base"/>
            <a:r>
              <a:rPr lang="en-US" b="1" dirty="0"/>
              <a:t>Charter Act of 1853</a:t>
            </a:r>
          </a:p>
          <a:p>
            <a:pPr fontAlgn="base">
              <a:buFont typeface="Arial" pitchFamily="34" charset="0"/>
              <a:buChar char="•"/>
            </a:pPr>
            <a:r>
              <a:rPr lang="en-US" b="1" dirty="0"/>
              <a:t>The legislative and executive functions of the Governor-General’s Council were separated</a:t>
            </a:r>
            <a:r>
              <a:rPr lang="en-US" dirty="0"/>
              <a:t>.</a:t>
            </a:r>
          </a:p>
          <a:p>
            <a:pPr fontAlgn="base">
              <a:buFont typeface="Arial" pitchFamily="34" charset="0"/>
              <a:buChar char="•"/>
            </a:pPr>
            <a:r>
              <a:rPr lang="en-US" i="1" dirty="0"/>
              <a:t>6 members in Central legislative council. Four out of six members were appointed by the provisional governments of Madras, Bombay, Bengal and Agra.</a:t>
            </a:r>
          </a:p>
          <a:p>
            <a:pPr fontAlgn="base">
              <a:buFont typeface="Arial" pitchFamily="34" charset="0"/>
              <a:buChar char="•"/>
            </a:pPr>
            <a:r>
              <a:rPr lang="en-US" dirty="0"/>
              <a:t>It introduced a system of open competition as the basis for the recruitment of civil servants of the Company (Indian Civil Service opened for all).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304800"/>
            <a:ext cx="8458200" cy="1200329"/>
          </a:xfrm>
          <a:prstGeom prst="rect">
            <a:avLst/>
          </a:prstGeom>
        </p:spPr>
        <p:txBody>
          <a:bodyPr wrap="square">
            <a:spAutoFit/>
          </a:bodyPr>
          <a:lstStyle/>
          <a:p>
            <a:pPr fontAlgn="base"/>
            <a:r>
              <a:rPr lang="en-US" b="1" dirty="0"/>
              <a:t>Government of India Act of 1858</a:t>
            </a:r>
          </a:p>
          <a:p>
            <a:pPr fontAlgn="base">
              <a:buFont typeface="Arial" pitchFamily="34" charset="0"/>
              <a:buChar char="•"/>
            </a:pPr>
            <a:r>
              <a:rPr lang="en-US" dirty="0"/>
              <a:t>The rule of Company was replaced by the rule of the Crown in India.</a:t>
            </a:r>
          </a:p>
          <a:p>
            <a:pPr fontAlgn="base">
              <a:buFont typeface="Arial" pitchFamily="34" charset="0"/>
              <a:buChar char="•"/>
            </a:pPr>
            <a:r>
              <a:rPr lang="en-US" dirty="0"/>
              <a:t>The powers of the British Crown were to be exercised by the Secretary of State for India</a:t>
            </a:r>
          </a:p>
          <a:p>
            <a:pPr fontAlgn="base">
              <a:buFont typeface="Arial" pitchFamily="34" charset="0"/>
              <a:buChar char="•"/>
            </a:pPr>
            <a:r>
              <a:rPr lang="en-US" i="1" dirty="0"/>
              <a:t>He was assisted by the </a:t>
            </a:r>
            <a:r>
              <a:rPr lang="en-US" b="1" i="1" dirty="0"/>
              <a:t>Council of India</a:t>
            </a:r>
            <a:r>
              <a:rPr lang="en-US" i="1" dirty="0"/>
              <a:t>, having 15 members</a:t>
            </a:r>
          </a:p>
        </p:txBody>
      </p:sp>
      <p:sp>
        <p:nvSpPr>
          <p:cNvPr id="5" name="Rectangle 4"/>
          <p:cNvSpPr/>
          <p:nvPr/>
        </p:nvSpPr>
        <p:spPr>
          <a:xfrm>
            <a:off x="304800" y="1676400"/>
            <a:ext cx="8229600" cy="1477328"/>
          </a:xfrm>
          <a:prstGeom prst="rect">
            <a:avLst/>
          </a:prstGeom>
        </p:spPr>
        <p:txBody>
          <a:bodyPr wrap="square">
            <a:spAutoFit/>
          </a:bodyPr>
          <a:lstStyle/>
          <a:p>
            <a:pPr fontAlgn="base"/>
            <a:r>
              <a:rPr lang="en-US" b="1" dirty="0"/>
              <a:t>Indian Councils Act of 1861</a:t>
            </a:r>
          </a:p>
          <a:p>
            <a:pPr fontAlgn="base">
              <a:buFont typeface="Arial" pitchFamily="34" charset="0"/>
              <a:buChar char="•"/>
            </a:pPr>
            <a:r>
              <a:rPr lang="en-US" dirty="0"/>
              <a:t>It introduced for the first time Indian representation in the institutions like Viceroy’s </a:t>
            </a:r>
            <a:r>
              <a:rPr lang="en-US" dirty="0" err="1"/>
              <a:t>executive+legislative</a:t>
            </a:r>
            <a:r>
              <a:rPr lang="en-US" dirty="0"/>
              <a:t> council (non-official). </a:t>
            </a:r>
            <a:r>
              <a:rPr lang="en-US" b="1" dirty="0"/>
              <a:t>3 Indians entered Legislative council</a:t>
            </a:r>
            <a:r>
              <a:rPr lang="en-US" dirty="0"/>
              <a:t>.</a:t>
            </a:r>
          </a:p>
          <a:p>
            <a:pPr fontAlgn="base">
              <a:buFont typeface="Arial" pitchFamily="34" charset="0"/>
              <a:buChar char="•"/>
            </a:pPr>
            <a:r>
              <a:rPr lang="en-US" dirty="0"/>
              <a:t>Legislative councils were established in Center and provinces..</a:t>
            </a:r>
          </a:p>
          <a:p>
            <a:pPr fontAlgn="base">
              <a:buFont typeface="Arial" pitchFamily="34" charset="0"/>
              <a:buChar char="•"/>
            </a:pPr>
            <a:r>
              <a:rPr lang="en-US" dirty="0"/>
              <a:t>It accorded statutory recognition to the portfolio system.</a:t>
            </a:r>
          </a:p>
        </p:txBody>
      </p:sp>
      <p:sp>
        <p:nvSpPr>
          <p:cNvPr id="6" name="Rectangle 5"/>
          <p:cNvSpPr/>
          <p:nvPr/>
        </p:nvSpPr>
        <p:spPr>
          <a:xfrm>
            <a:off x="304800" y="3276600"/>
            <a:ext cx="8305800" cy="1477328"/>
          </a:xfrm>
          <a:prstGeom prst="rect">
            <a:avLst/>
          </a:prstGeom>
        </p:spPr>
        <p:txBody>
          <a:bodyPr wrap="square">
            <a:spAutoFit/>
          </a:bodyPr>
          <a:lstStyle/>
          <a:p>
            <a:pPr fontAlgn="base"/>
            <a:r>
              <a:rPr lang="en-US" b="1" dirty="0"/>
              <a:t>India Council Act of 1892</a:t>
            </a:r>
          </a:p>
          <a:p>
            <a:pPr fontAlgn="base">
              <a:buFont typeface="Arial" pitchFamily="34" charset="0"/>
              <a:buChar char="•"/>
            </a:pPr>
            <a:r>
              <a:rPr lang="en-US" dirty="0"/>
              <a:t>Introduced indirect elections (nomination).</a:t>
            </a:r>
          </a:p>
          <a:p>
            <a:pPr fontAlgn="base">
              <a:buFont typeface="Arial" pitchFamily="34" charset="0"/>
              <a:buChar char="•"/>
            </a:pPr>
            <a:r>
              <a:rPr lang="en-US" dirty="0"/>
              <a:t>Enlarged the size of the legislative councils.</a:t>
            </a:r>
          </a:p>
          <a:p>
            <a:pPr fontAlgn="base">
              <a:buFont typeface="Arial" pitchFamily="34" charset="0"/>
              <a:buChar char="•"/>
            </a:pPr>
            <a:r>
              <a:rPr lang="en-US" dirty="0"/>
              <a:t>Enlarged the functions of the Legislative Councils and gave them the power of discussing the Budget and addressing questions to the Executive.</a:t>
            </a:r>
          </a:p>
        </p:txBody>
      </p:sp>
      <p:sp>
        <p:nvSpPr>
          <p:cNvPr id="7" name="Rectangle 6"/>
          <p:cNvSpPr/>
          <p:nvPr/>
        </p:nvSpPr>
        <p:spPr>
          <a:xfrm>
            <a:off x="304800" y="4800600"/>
            <a:ext cx="8534400" cy="1754326"/>
          </a:xfrm>
          <a:prstGeom prst="rect">
            <a:avLst/>
          </a:prstGeom>
        </p:spPr>
        <p:txBody>
          <a:bodyPr wrap="square">
            <a:spAutoFit/>
          </a:bodyPr>
          <a:lstStyle/>
          <a:p>
            <a:pPr fontAlgn="base"/>
            <a:r>
              <a:rPr lang="en-US" b="1" dirty="0"/>
              <a:t>Indian Councils Act of 1909</a:t>
            </a:r>
          </a:p>
          <a:p>
            <a:pPr fontAlgn="base">
              <a:buFont typeface="Arial" pitchFamily="34" charset="0"/>
              <a:buChar char="•"/>
            </a:pPr>
            <a:r>
              <a:rPr lang="en-US" dirty="0"/>
              <a:t>This Act is also known as the Morley- </a:t>
            </a:r>
            <a:r>
              <a:rPr lang="en-US" dirty="0" err="1"/>
              <a:t>Minto</a:t>
            </a:r>
            <a:r>
              <a:rPr lang="en-US" dirty="0"/>
              <a:t> Reforms.</a:t>
            </a:r>
          </a:p>
          <a:p>
            <a:pPr fontAlgn="base">
              <a:buFont typeface="Arial" pitchFamily="34" charset="0"/>
              <a:buChar char="•"/>
            </a:pPr>
            <a:r>
              <a:rPr lang="en-US" dirty="0"/>
              <a:t>Direct elections to legislative councils; first attempt at introducing a representative and popular element.</a:t>
            </a:r>
          </a:p>
          <a:p>
            <a:pPr fontAlgn="base">
              <a:buFont typeface="Arial" pitchFamily="34" charset="0"/>
              <a:buChar char="•"/>
            </a:pPr>
            <a:r>
              <a:rPr lang="en-US" b="1" dirty="0"/>
              <a:t>Indians for the first time in Viceroys executive council</a:t>
            </a:r>
            <a:r>
              <a:rPr lang="en-US" dirty="0"/>
              <a:t>. (</a:t>
            </a:r>
            <a:r>
              <a:rPr lang="en-US" dirty="0" err="1"/>
              <a:t>Satyendra</a:t>
            </a:r>
            <a:r>
              <a:rPr lang="en-US" dirty="0"/>
              <a:t> Prasad Sinha, as the law member)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97346"/>
            <a:ext cx="8382000" cy="2585323"/>
          </a:xfrm>
          <a:prstGeom prst="rect">
            <a:avLst/>
          </a:prstGeom>
        </p:spPr>
        <p:txBody>
          <a:bodyPr wrap="square">
            <a:spAutoFit/>
          </a:bodyPr>
          <a:lstStyle/>
          <a:p>
            <a:pPr fontAlgn="base"/>
            <a:r>
              <a:rPr lang="en-US" b="1" dirty="0"/>
              <a:t>Government of India Act of 1919</a:t>
            </a:r>
          </a:p>
          <a:p>
            <a:pPr fontAlgn="base">
              <a:buFont typeface="Arial" pitchFamily="34" charset="0"/>
              <a:buChar char="•"/>
            </a:pPr>
            <a:r>
              <a:rPr lang="en-US" dirty="0"/>
              <a:t>This Act is also known as the Montague-Chelmsford Reforms.</a:t>
            </a:r>
          </a:p>
          <a:p>
            <a:pPr fontAlgn="base">
              <a:buFont typeface="Arial" pitchFamily="34" charset="0"/>
              <a:buChar char="•"/>
            </a:pPr>
            <a:r>
              <a:rPr lang="en-US" dirty="0"/>
              <a:t>The Central subjects were demarcated and separated from those of the Provincial subjects.</a:t>
            </a:r>
          </a:p>
          <a:p>
            <a:pPr fontAlgn="base">
              <a:buFont typeface="Arial" pitchFamily="34" charset="0"/>
              <a:buChar char="•"/>
            </a:pPr>
            <a:r>
              <a:rPr lang="en-US" dirty="0"/>
              <a:t>The scheme of dual governance, ‘</a:t>
            </a:r>
            <a:r>
              <a:rPr lang="en-US" dirty="0" err="1"/>
              <a:t>Dyarchy</a:t>
            </a:r>
            <a:r>
              <a:rPr lang="en-US" dirty="0"/>
              <a:t>’, was introduced in the Provincial subjects.</a:t>
            </a:r>
          </a:p>
          <a:p>
            <a:pPr fontAlgn="base">
              <a:buFont typeface="Arial" pitchFamily="34" charset="0"/>
              <a:buChar char="•"/>
            </a:pPr>
            <a:r>
              <a:rPr lang="en-US" dirty="0"/>
              <a:t>The Act introduced, for the first time, </a:t>
            </a:r>
            <a:r>
              <a:rPr lang="en-US" b="1" dirty="0"/>
              <a:t>bicameralism at center</a:t>
            </a:r>
            <a:r>
              <a:rPr lang="en-US" dirty="0"/>
              <a:t>.</a:t>
            </a:r>
          </a:p>
          <a:p>
            <a:pPr fontAlgn="base">
              <a:buFont typeface="Arial" pitchFamily="34" charset="0"/>
              <a:buChar char="•"/>
            </a:pPr>
            <a:r>
              <a:rPr lang="en-US" b="1" dirty="0"/>
              <a:t>Legislative Assembly</a:t>
            </a:r>
            <a:r>
              <a:rPr lang="en-US" dirty="0"/>
              <a:t> with 140 members and </a:t>
            </a:r>
            <a:r>
              <a:rPr lang="en-US" b="1" dirty="0"/>
              <a:t>Legislative council</a:t>
            </a:r>
            <a:r>
              <a:rPr lang="en-US" dirty="0"/>
              <a:t> with 60 members.</a:t>
            </a:r>
          </a:p>
          <a:p>
            <a:pPr fontAlgn="base">
              <a:buFont typeface="Arial" pitchFamily="34" charset="0"/>
              <a:buChar char="•"/>
            </a:pPr>
            <a:r>
              <a:rPr lang="en-US" dirty="0"/>
              <a:t>Direct elections.</a:t>
            </a:r>
          </a:p>
          <a:p>
            <a:pPr fontAlgn="base"/>
            <a:endParaRPr lang="en-US" dirty="0"/>
          </a:p>
        </p:txBody>
      </p:sp>
      <p:sp>
        <p:nvSpPr>
          <p:cNvPr id="5" name="Rectangle 4"/>
          <p:cNvSpPr/>
          <p:nvPr/>
        </p:nvSpPr>
        <p:spPr>
          <a:xfrm>
            <a:off x="304800" y="2362200"/>
            <a:ext cx="8686800" cy="3139321"/>
          </a:xfrm>
          <a:prstGeom prst="rect">
            <a:avLst/>
          </a:prstGeom>
        </p:spPr>
        <p:txBody>
          <a:bodyPr wrap="square">
            <a:spAutoFit/>
          </a:bodyPr>
          <a:lstStyle/>
          <a:p>
            <a:pPr fontAlgn="base"/>
            <a:endParaRPr lang="en-US" b="1" dirty="0"/>
          </a:p>
          <a:p>
            <a:pPr fontAlgn="base"/>
            <a:r>
              <a:rPr lang="en-US" b="1" dirty="0"/>
              <a:t>Government of India Act of 1935</a:t>
            </a:r>
          </a:p>
          <a:p>
            <a:pPr fontAlgn="base">
              <a:buFont typeface="Arial" pitchFamily="34" charset="0"/>
              <a:buChar char="•"/>
            </a:pPr>
            <a:r>
              <a:rPr lang="en-US" dirty="0"/>
              <a:t>Three Lists: The Act divided the powers between the Centre and the units into items of three lists, namely the Federal List, the Provincial List and the Concurrent List.</a:t>
            </a:r>
          </a:p>
          <a:p>
            <a:pPr fontAlgn="base">
              <a:buFont typeface="Arial" pitchFamily="34" charset="0"/>
              <a:buChar char="•"/>
            </a:pPr>
            <a:r>
              <a:rPr lang="en-US" dirty="0"/>
              <a:t>The Federal List for the Centre consisted of 59 items, the Provincial List for the provinces consisted of 54 items and the Concurrent List for both consisted of 36 items</a:t>
            </a:r>
          </a:p>
          <a:p>
            <a:pPr fontAlgn="base">
              <a:buFont typeface="Arial" pitchFamily="34" charset="0"/>
              <a:buChar char="•"/>
            </a:pPr>
            <a:r>
              <a:rPr lang="en-US" dirty="0"/>
              <a:t>The residuary powers were vested with the Governor-General.</a:t>
            </a:r>
          </a:p>
          <a:p>
            <a:pPr fontAlgn="base">
              <a:buFont typeface="Arial" pitchFamily="34" charset="0"/>
              <a:buChar char="•"/>
            </a:pPr>
            <a:r>
              <a:rPr lang="en-US" dirty="0"/>
              <a:t>The Act abolished the </a:t>
            </a:r>
            <a:r>
              <a:rPr lang="en-US" dirty="0" err="1"/>
              <a:t>Dyarchy</a:t>
            </a:r>
            <a:r>
              <a:rPr lang="en-US" dirty="0"/>
              <a:t> in the Provinces and introduced ‘Provincial Autonomy’.</a:t>
            </a:r>
          </a:p>
          <a:p>
            <a:pPr fontAlgn="base">
              <a:buFont typeface="Arial" pitchFamily="34" charset="0"/>
              <a:buChar char="•"/>
            </a:pPr>
            <a:r>
              <a:rPr lang="en-US" dirty="0"/>
              <a:t>It provided for the adoption of </a:t>
            </a:r>
            <a:r>
              <a:rPr lang="en-US" dirty="0" err="1"/>
              <a:t>Dyarchy</a:t>
            </a:r>
            <a:r>
              <a:rPr lang="en-US" dirty="0"/>
              <a:t> at the Centre.</a:t>
            </a:r>
          </a:p>
          <a:p>
            <a:pPr fontAlgn="base">
              <a:buFont typeface="Arial" pitchFamily="34" charset="0"/>
              <a:buChar char="•"/>
            </a:pPr>
            <a:r>
              <a:rPr lang="en-US" dirty="0"/>
              <a:t>Introduced bicameralism in 6 out of 11 Provinces.</a:t>
            </a:r>
          </a:p>
          <a:p>
            <a:pPr fontAlgn="base">
              <a:buFont typeface="Arial" pitchFamily="34" charset="0"/>
              <a:buChar char="•"/>
            </a:pPr>
            <a:r>
              <a:rPr lang="en-US" dirty="0"/>
              <a:t>These six Provinces were Assam, Bengal, Bombay, Bihar, Madras and the United Province.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33600" y="533400"/>
            <a:ext cx="4876800" cy="707886"/>
          </a:xfrm>
          <a:prstGeom prst="rect">
            <a:avLst/>
          </a:prstGeom>
          <a:noFill/>
        </p:spPr>
        <p:txBody>
          <a:bodyPr wrap="square" rtlCol="0">
            <a:spAutoFit/>
          </a:bodyPr>
          <a:lstStyle/>
          <a:p>
            <a:pPr algn="ctr"/>
            <a:r>
              <a:rPr lang="en-US" sz="2000" dirty="0"/>
              <a:t>Indian Polity</a:t>
            </a:r>
          </a:p>
          <a:p>
            <a:r>
              <a:rPr lang="en-US" sz="2000" dirty="0"/>
              <a:t>Constitution – Working of Political System.</a:t>
            </a:r>
          </a:p>
        </p:txBody>
      </p:sp>
      <p:sp>
        <p:nvSpPr>
          <p:cNvPr id="6" name="TextBox 5"/>
          <p:cNvSpPr txBox="1"/>
          <p:nvPr/>
        </p:nvSpPr>
        <p:spPr>
          <a:xfrm>
            <a:off x="1371600" y="1752600"/>
            <a:ext cx="6324600" cy="1477328"/>
          </a:xfrm>
          <a:prstGeom prst="rect">
            <a:avLst/>
          </a:prstGeom>
          <a:noFill/>
        </p:spPr>
        <p:txBody>
          <a:bodyPr wrap="square" rtlCol="0">
            <a:spAutoFit/>
          </a:bodyPr>
          <a:lstStyle/>
          <a:p>
            <a:pPr algn="ctr"/>
            <a:r>
              <a:rPr lang="en-US" dirty="0"/>
              <a:t>Indian Constitution </a:t>
            </a:r>
          </a:p>
          <a:p>
            <a:endParaRPr lang="en-US" dirty="0"/>
          </a:p>
          <a:p>
            <a:endParaRPr lang="en-US" dirty="0"/>
          </a:p>
          <a:p>
            <a:endParaRPr lang="en-US" dirty="0"/>
          </a:p>
          <a:p>
            <a:endParaRPr lang="en-US" dirty="0"/>
          </a:p>
        </p:txBody>
      </p:sp>
      <p:graphicFrame>
        <p:nvGraphicFramePr>
          <p:cNvPr id="8" name="Table 7"/>
          <p:cNvGraphicFramePr>
            <a:graphicFrameLocks noGrp="1"/>
          </p:cNvGraphicFramePr>
          <p:nvPr/>
        </p:nvGraphicFramePr>
        <p:xfrm>
          <a:off x="1524000" y="2057400"/>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70840">
                <a:tc>
                  <a:txBody>
                    <a:bodyPr/>
                    <a:lstStyle/>
                    <a:p>
                      <a:r>
                        <a:rPr lang="en-US" dirty="0"/>
                        <a:t>Philosophical Aspect</a:t>
                      </a:r>
                    </a:p>
                  </a:txBody>
                  <a:tcPr/>
                </a:tc>
                <a:tc gridSpan="2">
                  <a:txBody>
                    <a:bodyPr/>
                    <a:lstStyle/>
                    <a:p>
                      <a:r>
                        <a:rPr lang="en-US" dirty="0"/>
                        <a:t>Governmental Bodies</a:t>
                      </a:r>
                    </a:p>
                  </a:txBody>
                  <a:tcPr/>
                </a:tc>
                <a:tc hMerge="1">
                  <a:txBody>
                    <a:bodyPr/>
                    <a:lstStyle/>
                    <a:p>
                      <a:endParaRPr lang="en-US"/>
                    </a:p>
                  </a:txBody>
                  <a:tcPr/>
                </a:tc>
                <a:extLst>
                  <a:ext uri="{0D108BD9-81ED-4DB2-BD59-A6C34878D82A}">
                    <a16:rowId xmlns:a16="http://schemas.microsoft.com/office/drawing/2014/main" val="10000"/>
                  </a:ext>
                </a:extLst>
              </a:tr>
              <a:tr h="370840">
                <a:tc>
                  <a:txBody>
                    <a:bodyPr/>
                    <a:lstStyle/>
                    <a:p>
                      <a:r>
                        <a:rPr lang="en-US" dirty="0"/>
                        <a:t>Preamble</a:t>
                      </a:r>
                    </a:p>
                  </a:txBody>
                  <a:tcPr/>
                </a:tc>
                <a:tc gridSpan="2">
                  <a:txBody>
                    <a:bodyPr/>
                    <a:lstStyle/>
                    <a:p>
                      <a:r>
                        <a:rPr lang="en-US" dirty="0"/>
                        <a:t>Union Government</a:t>
                      </a:r>
                    </a:p>
                  </a:txBody>
                  <a:tcPr/>
                </a:tc>
                <a:tc hMerge="1">
                  <a:txBody>
                    <a:bodyPr/>
                    <a:lstStyle/>
                    <a:p>
                      <a:endParaRPr lang="en-US"/>
                    </a:p>
                  </a:txBody>
                  <a:tcPr/>
                </a:tc>
                <a:extLst>
                  <a:ext uri="{0D108BD9-81ED-4DB2-BD59-A6C34878D82A}">
                    <a16:rowId xmlns:a16="http://schemas.microsoft.com/office/drawing/2014/main" val="10001"/>
                  </a:ext>
                </a:extLst>
              </a:tr>
              <a:tr h="370840">
                <a:tc>
                  <a:txBody>
                    <a:bodyPr/>
                    <a:lstStyle/>
                    <a:p>
                      <a:r>
                        <a:rPr lang="en-US" dirty="0"/>
                        <a:t>Fundamental Rights (FR)</a:t>
                      </a:r>
                    </a:p>
                  </a:txBody>
                  <a:tcPr/>
                </a:tc>
                <a:tc gridSpan="2">
                  <a:txBody>
                    <a:bodyPr/>
                    <a:lstStyle/>
                    <a:p>
                      <a:r>
                        <a:rPr lang="en-US" dirty="0"/>
                        <a:t>State Government</a:t>
                      </a:r>
                    </a:p>
                  </a:txBody>
                  <a:tcPr/>
                </a:tc>
                <a:tc hMerge="1">
                  <a:txBody>
                    <a:bodyPr/>
                    <a:lstStyle/>
                    <a:p>
                      <a:endParaRPr lang="en-US"/>
                    </a:p>
                  </a:txBody>
                  <a:tcPr/>
                </a:tc>
                <a:extLst>
                  <a:ext uri="{0D108BD9-81ED-4DB2-BD59-A6C34878D82A}">
                    <a16:rowId xmlns:a16="http://schemas.microsoft.com/office/drawing/2014/main" val="10002"/>
                  </a:ext>
                </a:extLst>
              </a:tr>
              <a:tr h="370840">
                <a:tc>
                  <a:txBody>
                    <a:bodyPr/>
                    <a:lstStyle/>
                    <a:p>
                      <a:r>
                        <a:rPr lang="en-US" dirty="0"/>
                        <a:t>DPSP</a:t>
                      </a:r>
                    </a:p>
                  </a:txBody>
                  <a:tcPr/>
                </a:tc>
                <a:tc gridSpan="2">
                  <a:txBody>
                    <a:bodyPr/>
                    <a:lstStyle/>
                    <a:p>
                      <a:r>
                        <a:rPr lang="en-US" dirty="0"/>
                        <a:t>Local Self Government</a:t>
                      </a:r>
                    </a:p>
                  </a:txBody>
                  <a:tcPr/>
                </a:tc>
                <a:tc hMerge="1">
                  <a:txBody>
                    <a:bodyPr/>
                    <a:lstStyle/>
                    <a:p>
                      <a:endParaRPr lang="en-US"/>
                    </a:p>
                  </a:txBody>
                  <a:tcPr/>
                </a:tc>
                <a:extLst>
                  <a:ext uri="{0D108BD9-81ED-4DB2-BD59-A6C34878D82A}">
                    <a16:rowId xmlns:a16="http://schemas.microsoft.com/office/drawing/2014/main" val="10003"/>
                  </a:ext>
                </a:extLst>
              </a:tr>
              <a:tr h="370840">
                <a:tc>
                  <a:txBody>
                    <a:bodyPr/>
                    <a:lstStyle/>
                    <a:p>
                      <a:r>
                        <a:rPr lang="en-US" dirty="0"/>
                        <a:t>Fundamental duties </a:t>
                      </a:r>
                    </a:p>
                  </a:txBody>
                  <a:tcPr/>
                </a:tc>
                <a:tc>
                  <a:txBody>
                    <a:bodyPr/>
                    <a:lstStyle/>
                    <a:p>
                      <a:r>
                        <a:rPr lang="en-US" dirty="0" err="1"/>
                        <a:t>Panchayat</a:t>
                      </a:r>
                      <a:endParaRPr lang="en-US" dirty="0"/>
                    </a:p>
                  </a:txBody>
                  <a:tcPr/>
                </a:tc>
                <a:tc>
                  <a:txBody>
                    <a:bodyPr/>
                    <a:lstStyle/>
                    <a:p>
                      <a:r>
                        <a:rPr lang="en-US" dirty="0" err="1"/>
                        <a:t>Muncipal</a:t>
                      </a:r>
                      <a:r>
                        <a:rPr lang="en-US" dirty="0"/>
                        <a:t> </a:t>
                      </a:r>
                    </a:p>
                  </a:txBody>
                  <a:tcPr>
                    <a:solidFill>
                      <a:schemeClr val="bg2">
                        <a:lumMod val="90000"/>
                      </a:schemeClr>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1295400" y="4495800"/>
            <a:ext cx="6629400" cy="369332"/>
          </a:xfrm>
          <a:prstGeom prst="rect">
            <a:avLst/>
          </a:prstGeom>
          <a:noFill/>
        </p:spPr>
        <p:txBody>
          <a:bodyPr wrap="square" rtlCol="0">
            <a:spAutoFit/>
          </a:bodyPr>
          <a:lstStyle/>
          <a:p>
            <a:endParaRPr lang="en-US" dirty="0"/>
          </a:p>
        </p:txBody>
      </p:sp>
      <p:graphicFrame>
        <p:nvGraphicFramePr>
          <p:cNvPr id="11" name="Table 10"/>
          <p:cNvGraphicFramePr>
            <a:graphicFrameLocks noGrp="1"/>
          </p:cNvGraphicFramePr>
          <p:nvPr/>
        </p:nvGraphicFramePr>
        <p:xfrm>
          <a:off x="838200" y="4267200"/>
          <a:ext cx="7696199" cy="1600201"/>
        </p:xfrm>
        <a:graphic>
          <a:graphicData uri="http://schemas.openxmlformats.org/drawingml/2006/table">
            <a:tbl>
              <a:tblPr/>
              <a:tblGrid>
                <a:gridCol w="2698667">
                  <a:extLst>
                    <a:ext uri="{9D8B030D-6E8A-4147-A177-3AD203B41FA5}">
                      <a16:colId xmlns:a16="http://schemas.microsoft.com/office/drawing/2014/main" val="20000"/>
                    </a:ext>
                  </a:extLst>
                </a:gridCol>
                <a:gridCol w="2623704">
                  <a:extLst>
                    <a:ext uri="{9D8B030D-6E8A-4147-A177-3AD203B41FA5}">
                      <a16:colId xmlns:a16="http://schemas.microsoft.com/office/drawing/2014/main" val="20001"/>
                    </a:ext>
                  </a:extLst>
                </a:gridCol>
                <a:gridCol w="2373828">
                  <a:extLst>
                    <a:ext uri="{9D8B030D-6E8A-4147-A177-3AD203B41FA5}">
                      <a16:colId xmlns:a16="http://schemas.microsoft.com/office/drawing/2014/main" val="20002"/>
                    </a:ext>
                  </a:extLst>
                </a:gridCol>
              </a:tblGrid>
              <a:tr h="345141">
                <a:tc>
                  <a:txBody>
                    <a:bodyPr/>
                    <a:lstStyle/>
                    <a:p>
                      <a:pPr algn="l" fontAlgn="b"/>
                      <a:endParaRPr lang="en-US" sz="1100" b="0" i="0" u="none" strike="noStrike">
                        <a:solidFill>
                          <a:srgbClr val="000000"/>
                        </a:solidFill>
                        <a:latin typeface="Calibri"/>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100" b="0" i="0" u="none" strike="noStrike">
                        <a:solidFill>
                          <a:srgbClr val="000000"/>
                        </a:solidFill>
                        <a:latin typeface="Calibri"/>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1100" b="0" i="0" u="none" strike="noStrike">
                        <a:solidFill>
                          <a:srgbClr val="000000"/>
                        </a:solidFill>
                        <a:latin typeface="Calibri"/>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3765">
                <a:tc gridSpan="3">
                  <a:txBody>
                    <a:bodyPr/>
                    <a:lstStyle/>
                    <a:p>
                      <a:pPr algn="ctr" fontAlgn="b"/>
                      <a:r>
                        <a:rPr lang="en-US" sz="1800" b="1" i="0" u="none" strike="noStrike">
                          <a:solidFill>
                            <a:srgbClr val="000000"/>
                          </a:solidFill>
                          <a:latin typeface="Calibri"/>
                        </a:rPr>
                        <a:t>Function of Government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13765">
                <a:tc>
                  <a:txBody>
                    <a:bodyPr/>
                    <a:lstStyle/>
                    <a:p>
                      <a:pPr algn="l" fontAlgn="b"/>
                      <a:r>
                        <a:rPr lang="en-US" sz="1800" b="1" i="0" u="none" strike="noStrike">
                          <a:solidFill>
                            <a:srgbClr val="000000"/>
                          </a:solidFill>
                          <a:latin typeface="Calibri"/>
                        </a:rPr>
                        <a:t>Law Making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800" b="1" i="0" u="none" strike="noStrike">
                          <a:solidFill>
                            <a:srgbClr val="000000"/>
                          </a:solidFill>
                          <a:latin typeface="Calibri"/>
                        </a:rPr>
                        <a:t>Law implementation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800" b="1" i="0" u="none" strike="noStrike">
                          <a:solidFill>
                            <a:srgbClr val="000000"/>
                          </a:solidFill>
                          <a:latin typeface="Calibri"/>
                        </a:rPr>
                        <a:t>Law Adjudication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3765">
                <a:tc gridSpan="3">
                  <a:txBody>
                    <a:bodyPr/>
                    <a:lstStyle/>
                    <a:p>
                      <a:pPr algn="ctr" fontAlgn="b"/>
                      <a:r>
                        <a:rPr lang="en-US" sz="1800" b="1" i="0" u="none" strike="noStrike" dirty="0">
                          <a:solidFill>
                            <a:srgbClr val="000000"/>
                          </a:solidFill>
                          <a:latin typeface="Calibri"/>
                        </a:rPr>
                        <a:t>Performed By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313765">
                <a:tc>
                  <a:txBody>
                    <a:bodyPr/>
                    <a:lstStyle/>
                    <a:p>
                      <a:pPr algn="l" fontAlgn="b"/>
                      <a:r>
                        <a:rPr lang="en-US" sz="1800" b="1" i="0" u="none" strike="noStrike">
                          <a:solidFill>
                            <a:srgbClr val="000000"/>
                          </a:solidFill>
                          <a:latin typeface="Calibri"/>
                        </a:rPr>
                        <a:t>Legislature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800" b="1" i="0" u="none" strike="noStrike" dirty="0">
                          <a:solidFill>
                            <a:srgbClr val="000000"/>
                          </a:solidFill>
                          <a:latin typeface="Calibri"/>
                        </a:rPr>
                        <a:t>Executive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800" b="1" i="0" u="none" strike="noStrike" dirty="0">
                          <a:solidFill>
                            <a:srgbClr val="000000"/>
                          </a:solidFill>
                          <a:latin typeface="Calibri"/>
                        </a:rPr>
                        <a:t>Judiciary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Constituent Assembly</a:t>
            </a:r>
          </a:p>
        </p:txBody>
      </p:sp>
      <p:sp>
        <p:nvSpPr>
          <p:cNvPr id="3" name="Content Placeholder 2"/>
          <p:cNvSpPr>
            <a:spLocks noGrp="1"/>
          </p:cNvSpPr>
          <p:nvPr>
            <p:ph idx="1"/>
          </p:nvPr>
        </p:nvSpPr>
        <p:spPr/>
        <p:txBody>
          <a:bodyPr>
            <a:normAutofit fontScale="92500" lnSpcReduction="20000"/>
          </a:bodyPr>
          <a:lstStyle/>
          <a:p>
            <a:r>
              <a:rPr lang="en-US" dirty="0"/>
              <a:t>In 1935 INC Officially demanded constituent Assembly</a:t>
            </a:r>
          </a:p>
          <a:p>
            <a:r>
              <a:rPr lang="en-US" dirty="0"/>
              <a:t>Finally accepted in August offer 1940</a:t>
            </a:r>
          </a:p>
          <a:p>
            <a:r>
              <a:rPr lang="en-US" dirty="0"/>
              <a:t>1942-Sir Stafford Cripps came to India with draft proposal on framing of Constitution **(Rejected by Muslim League)</a:t>
            </a:r>
          </a:p>
          <a:p>
            <a:r>
              <a:rPr lang="en-US" dirty="0"/>
              <a:t>Constituent Assembly- Member of Const. Ass were indirectly elected by the member of provincial Assembly</a:t>
            </a:r>
          </a:p>
          <a:p>
            <a:r>
              <a:rPr lang="en-US" dirty="0"/>
              <a:t>1</a:t>
            </a:r>
            <a:r>
              <a:rPr lang="en-US" baseline="30000" dirty="0"/>
              <a:t>st</a:t>
            </a:r>
            <a:r>
              <a:rPr lang="en-US" dirty="0"/>
              <a:t> Assembly took place on 9-Dec-1946 presided by </a:t>
            </a:r>
            <a:r>
              <a:rPr lang="en-US" dirty="0" err="1"/>
              <a:t>Dr.Sachinand</a:t>
            </a:r>
            <a:r>
              <a:rPr lang="en-US" dirty="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Muslim league rejected it.</a:t>
            </a:r>
          </a:p>
          <a:p>
            <a:r>
              <a:rPr lang="en-US" dirty="0"/>
              <a:t>11-Dec-1946 Dr. </a:t>
            </a:r>
            <a:r>
              <a:rPr lang="en-US" dirty="0" err="1"/>
              <a:t>Rajendra</a:t>
            </a:r>
            <a:r>
              <a:rPr lang="en-US" dirty="0"/>
              <a:t> Prasad and HC </a:t>
            </a:r>
            <a:r>
              <a:rPr lang="en-US" dirty="0" err="1"/>
              <a:t>Mukherjee</a:t>
            </a:r>
            <a:r>
              <a:rPr lang="en-US" dirty="0"/>
              <a:t> were elected as president and Vice President</a:t>
            </a:r>
          </a:p>
          <a:p>
            <a:r>
              <a:rPr lang="en-US" dirty="0"/>
              <a:t>BN Rau legal or Constitutional advisor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Committees </a:t>
            </a:r>
          </a:p>
        </p:txBody>
      </p:sp>
      <p:graphicFrame>
        <p:nvGraphicFramePr>
          <p:cNvPr id="4" name="Content Placeholder 3"/>
          <p:cNvGraphicFramePr>
            <a:graphicFrameLocks noGrp="1"/>
          </p:cNvGraphicFramePr>
          <p:nvPr>
            <p:ph idx="1"/>
          </p:nvPr>
        </p:nvGraphicFramePr>
        <p:xfrm>
          <a:off x="457200" y="1600200"/>
          <a:ext cx="8229600" cy="1854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dirty="0"/>
                        <a:t>Ruling Committee</a:t>
                      </a:r>
                    </a:p>
                  </a:txBody>
                  <a:tcPr/>
                </a:tc>
                <a:tc>
                  <a:txBody>
                    <a:bodyPr/>
                    <a:lstStyle/>
                    <a:p>
                      <a:r>
                        <a:rPr lang="en-US" dirty="0"/>
                        <a:t>Dr  </a:t>
                      </a:r>
                      <a:r>
                        <a:rPr lang="en-US" dirty="0" err="1"/>
                        <a:t>Rajendra</a:t>
                      </a:r>
                      <a:r>
                        <a:rPr lang="en-US" dirty="0"/>
                        <a:t> Prasad</a:t>
                      </a:r>
                    </a:p>
                  </a:txBody>
                  <a:tcPr/>
                </a:tc>
                <a:extLst>
                  <a:ext uri="{0D108BD9-81ED-4DB2-BD59-A6C34878D82A}">
                    <a16:rowId xmlns:a16="http://schemas.microsoft.com/office/drawing/2014/main" val="10000"/>
                  </a:ext>
                </a:extLst>
              </a:tr>
              <a:tr h="370840">
                <a:tc>
                  <a:txBody>
                    <a:bodyPr/>
                    <a:lstStyle/>
                    <a:p>
                      <a:r>
                        <a:rPr lang="en-US" dirty="0"/>
                        <a:t>Drafting Committee</a:t>
                      </a:r>
                    </a:p>
                  </a:txBody>
                  <a:tcPr/>
                </a:tc>
                <a:tc>
                  <a:txBody>
                    <a:bodyPr/>
                    <a:lstStyle/>
                    <a:p>
                      <a:r>
                        <a:rPr lang="en-US" dirty="0"/>
                        <a:t>Dr BR </a:t>
                      </a:r>
                      <a:r>
                        <a:rPr lang="en-US" dirty="0" err="1"/>
                        <a:t>Ambedkar</a:t>
                      </a:r>
                      <a:endParaRPr lang="en-US" dirty="0"/>
                    </a:p>
                  </a:txBody>
                  <a:tcPr/>
                </a:tc>
                <a:extLst>
                  <a:ext uri="{0D108BD9-81ED-4DB2-BD59-A6C34878D82A}">
                    <a16:rowId xmlns:a16="http://schemas.microsoft.com/office/drawing/2014/main" val="10001"/>
                  </a:ext>
                </a:extLst>
              </a:tr>
              <a:tr h="370840">
                <a:tc>
                  <a:txBody>
                    <a:bodyPr/>
                    <a:lstStyle/>
                    <a:p>
                      <a:r>
                        <a:rPr lang="en-US" dirty="0"/>
                        <a:t>Union Committee</a:t>
                      </a:r>
                    </a:p>
                  </a:txBody>
                  <a:tcPr/>
                </a:tc>
                <a:tc>
                  <a:txBody>
                    <a:bodyPr/>
                    <a:lstStyle/>
                    <a:p>
                      <a:r>
                        <a:rPr lang="en-US" dirty="0"/>
                        <a:t>PT </a:t>
                      </a:r>
                      <a:r>
                        <a:rPr lang="en-US" dirty="0" err="1"/>
                        <a:t>Jawahar</a:t>
                      </a:r>
                      <a:r>
                        <a:rPr lang="en-US" dirty="0"/>
                        <a:t> </a:t>
                      </a:r>
                      <a:r>
                        <a:rPr lang="en-US" dirty="0" err="1"/>
                        <a:t>Lal</a:t>
                      </a:r>
                      <a:r>
                        <a:rPr lang="en-US" dirty="0"/>
                        <a:t> Nehru</a:t>
                      </a:r>
                    </a:p>
                  </a:txBody>
                  <a:tcPr/>
                </a:tc>
                <a:extLst>
                  <a:ext uri="{0D108BD9-81ED-4DB2-BD59-A6C34878D82A}">
                    <a16:rowId xmlns:a16="http://schemas.microsoft.com/office/drawing/2014/main" val="10002"/>
                  </a:ext>
                </a:extLst>
              </a:tr>
              <a:tr h="370840">
                <a:tc>
                  <a:txBody>
                    <a:bodyPr/>
                    <a:lstStyle/>
                    <a:p>
                      <a:r>
                        <a:rPr lang="en-US" dirty="0"/>
                        <a:t>State Constituent Committee</a:t>
                      </a:r>
                      <a:r>
                        <a:rPr lang="en-US" baseline="0" dirty="0"/>
                        <a:t> </a:t>
                      </a:r>
                      <a:endParaRPr lang="en-US" dirty="0"/>
                    </a:p>
                  </a:txBody>
                  <a:tcPr/>
                </a:tc>
                <a:tc>
                  <a:txBody>
                    <a:bodyPr/>
                    <a:lstStyle/>
                    <a:p>
                      <a:r>
                        <a:rPr lang="en-US" dirty="0" err="1"/>
                        <a:t>Sardar</a:t>
                      </a:r>
                      <a:r>
                        <a:rPr lang="en-US" dirty="0"/>
                        <a:t> </a:t>
                      </a:r>
                      <a:r>
                        <a:rPr lang="en-US" dirty="0" err="1"/>
                        <a:t>Vallabh</a:t>
                      </a:r>
                      <a:r>
                        <a:rPr lang="en-US" dirty="0"/>
                        <a:t> </a:t>
                      </a:r>
                      <a:r>
                        <a:rPr lang="en-US" dirty="0" err="1"/>
                        <a:t>Bhai</a:t>
                      </a:r>
                      <a:r>
                        <a:rPr lang="en-US" dirty="0"/>
                        <a:t> Patel</a:t>
                      </a:r>
                    </a:p>
                  </a:txBody>
                  <a:tcPr/>
                </a:tc>
                <a:extLst>
                  <a:ext uri="{0D108BD9-81ED-4DB2-BD59-A6C34878D82A}">
                    <a16:rowId xmlns:a16="http://schemas.microsoft.com/office/drawing/2014/main" val="10003"/>
                  </a:ext>
                </a:extLst>
              </a:tr>
              <a:tr h="370840">
                <a:tc>
                  <a:txBody>
                    <a:bodyPr/>
                    <a:lstStyle/>
                    <a:p>
                      <a:r>
                        <a:rPr lang="en-US" dirty="0"/>
                        <a:t>State Committee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PT </a:t>
                      </a:r>
                      <a:r>
                        <a:rPr lang="en-US" dirty="0" err="1"/>
                        <a:t>Jawahar</a:t>
                      </a:r>
                      <a:r>
                        <a:rPr lang="en-US" dirty="0"/>
                        <a:t> </a:t>
                      </a:r>
                      <a:r>
                        <a:rPr lang="en-US" dirty="0" err="1"/>
                        <a:t>Lal</a:t>
                      </a:r>
                      <a:r>
                        <a:rPr lang="en-US" dirty="0"/>
                        <a:t> Nehru</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228600" y="4038600"/>
            <a:ext cx="8915400" cy="1200329"/>
          </a:xfrm>
          <a:prstGeom prst="rect">
            <a:avLst/>
          </a:prstGeom>
          <a:noFill/>
        </p:spPr>
        <p:txBody>
          <a:bodyPr wrap="square" rtlCol="0">
            <a:spAutoFit/>
          </a:bodyPr>
          <a:lstStyle/>
          <a:p>
            <a:pPr>
              <a:buFont typeface="Arial" pitchFamily="34" charset="0"/>
              <a:buChar char="•"/>
            </a:pPr>
            <a:r>
              <a:rPr lang="en-US" sz="2400" dirty="0"/>
              <a:t>Constitution was adopted on 26</a:t>
            </a:r>
            <a:r>
              <a:rPr lang="en-US" sz="2400" baseline="30000" dirty="0"/>
              <a:t>th</a:t>
            </a:r>
            <a:r>
              <a:rPr lang="en-US" sz="2400" dirty="0"/>
              <a:t> Nov 1949</a:t>
            </a:r>
          </a:p>
          <a:p>
            <a:pPr>
              <a:buFont typeface="Arial" pitchFamily="34" charset="0"/>
              <a:buChar char="•"/>
            </a:pPr>
            <a:r>
              <a:rPr lang="en-US" sz="2400" dirty="0"/>
              <a:t>Enforced on 26</a:t>
            </a:r>
            <a:r>
              <a:rPr lang="en-US" sz="2400" baseline="30000" dirty="0"/>
              <a:t>th</a:t>
            </a:r>
            <a:r>
              <a:rPr lang="en-US" sz="2400" dirty="0"/>
              <a:t> January 1950</a:t>
            </a:r>
          </a:p>
          <a:p>
            <a:pPr>
              <a:buFont typeface="Arial" pitchFamily="34" charset="0"/>
              <a:buChar char="•"/>
            </a:pPr>
            <a:r>
              <a:rPr lang="en-US" sz="2400" dirty="0"/>
              <a:t>Constituent Assembly will act as Parliament till first General election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our federation </a:t>
            </a:r>
          </a:p>
        </p:txBody>
      </p:sp>
      <p:sp>
        <p:nvSpPr>
          <p:cNvPr id="3" name="Content Placeholder 2"/>
          <p:cNvSpPr>
            <a:spLocks noGrp="1"/>
          </p:cNvSpPr>
          <p:nvPr>
            <p:ph idx="1"/>
          </p:nvPr>
        </p:nvSpPr>
        <p:spPr>
          <a:xfrm>
            <a:off x="381000" y="1219200"/>
            <a:ext cx="8458200" cy="4525963"/>
          </a:xfrm>
        </p:spPr>
        <p:txBody>
          <a:bodyPr>
            <a:normAutofit/>
          </a:bodyPr>
          <a:lstStyle/>
          <a:p>
            <a:r>
              <a:rPr lang="en-US" dirty="0"/>
              <a:t>A written constitution </a:t>
            </a:r>
          </a:p>
          <a:p>
            <a:r>
              <a:rPr lang="en-US" dirty="0"/>
              <a:t>Supremacy of Constitution </a:t>
            </a:r>
          </a:p>
          <a:p>
            <a:r>
              <a:rPr lang="en-US" dirty="0"/>
              <a:t>Rigid Constitution </a:t>
            </a:r>
          </a:p>
          <a:p>
            <a:r>
              <a:rPr lang="en-US" dirty="0"/>
              <a:t>Division of Power   </a:t>
            </a:r>
            <a:r>
              <a:rPr lang="en-US" sz="2000" dirty="0"/>
              <a:t>1)Union List 2) State List 3) Concurrent list</a:t>
            </a:r>
            <a:r>
              <a:rPr lang="en-US" sz="2800" dirty="0"/>
              <a:t> </a:t>
            </a:r>
            <a:endParaRPr lang="en-US" dirty="0"/>
          </a:p>
          <a:p>
            <a:r>
              <a:rPr lang="en-US" dirty="0"/>
              <a:t> A bicameral Legislation  </a:t>
            </a:r>
            <a:r>
              <a:rPr lang="en-US" sz="1900" dirty="0"/>
              <a:t>1</a:t>
            </a:r>
            <a:r>
              <a:rPr lang="en-US" sz="2200" dirty="0"/>
              <a:t>) Upper house 2) Lower house</a:t>
            </a:r>
            <a:endParaRPr lang="en-US" dirty="0"/>
          </a:p>
          <a:p>
            <a:r>
              <a:rPr lang="en-US" dirty="0"/>
              <a:t> Independent Judiciary </a:t>
            </a:r>
          </a:p>
          <a:p>
            <a:pPr algn="ctr">
              <a:buNone/>
            </a:pPr>
            <a:endParaRPr lang="en-US" sz="2400" dirty="0"/>
          </a:p>
          <a:p>
            <a:pPr algn="ctr">
              <a:buNone/>
            </a:pP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Distinct Features </a:t>
            </a:r>
          </a:p>
        </p:txBody>
      </p:sp>
      <p:sp>
        <p:nvSpPr>
          <p:cNvPr id="3" name="Content Placeholder 2"/>
          <p:cNvSpPr>
            <a:spLocks noGrp="1"/>
          </p:cNvSpPr>
          <p:nvPr>
            <p:ph idx="1"/>
          </p:nvPr>
        </p:nvSpPr>
        <p:spPr/>
        <p:txBody>
          <a:bodyPr>
            <a:normAutofit fontScale="92500" lnSpcReduction="10000"/>
          </a:bodyPr>
          <a:lstStyle/>
          <a:p>
            <a:r>
              <a:rPr lang="en-US" dirty="0"/>
              <a:t>Single Constitution with Single Citizenship**</a:t>
            </a:r>
          </a:p>
          <a:p>
            <a:r>
              <a:rPr lang="en-US" dirty="0"/>
              <a:t>Art-3, Authorizes the parliament to alter the state boundary and Name </a:t>
            </a:r>
          </a:p>
          <a:p>
            <a:r>
              <a:rPr lang="en-US" dirty="0"/>
              <a:t> National Emergency – “Division of Power is suspended”</a:t>
            </a:r>
          </a:p>
          <a:p>
            <a:r>
              <a:rPr lang="en-US" dirty="0"/>
              <a:t>Three List </a:t>
            </a:r>
          </a:p>
          <a:p>
            <a:r>
              <a:rPr lang="en-US" dirty="0"/>
              <a:t>All India Services </a:t>
            </a:r>
          </a:p>
          <a:p>
            <a:r>
              <a:rPr lang="en-US" dirty="0"/>
              <a:t>Governor who is executive head of State are appointed by center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Preamble of Indian Constitution</a:t>
            </a:r>
          </a:p>
        </p:txBody>
      </p:sp>
      <p:sp>
        <p:nvSpPr>
          <p:cNvPr id="3" name="Content Placeholder 2"/>
          <p:cNvSpPr>
            <a:spLocks noGrp="1"/>
          </p:cNvSpPr>
          <p:nvPr>
            <p:ph idx="1"/>
          </p:nvPr>
        </p:nvSpPr>
        <p:spPr>
          <a:xfrm>
            <a:off x="228600" y="1600200"/>
            <a:ext cx="8610600" cy="4953000"/>
          </a:xfrm>
        </p:spPr>
        <p:txBody>
          <a:bodyPr>
            <a:normAutofit/>
          </a:bodyPr>
          <a:lstStyle/>
          <a:p>
            <a:r>
              <a:rPr lang="en-US" sz="2400" dirty="0"/>
              <a:t>We, the people of India, having solemnly resolved to constitute India into a SOVEREIGN, SOCIALIST, SECULAR,DEMOCRATIC, REPUBLIC and to secure to all of its citizens;</a:t>
            </a:r>
          </a:p>
          <a:p>
            <a:pPr>
              <a:buNone/>
            </a:pPr>
            <a:endParaRPr lang="en-US" sz="2200" dirty="0"/>
          </a:p>
          <a:p>
            <a:pPr lvl="1"/>
            <a:r>
              <a:rPr lang="en-US" sz="2000" b="1" dirty="0"/>
              <a:t>JUSTICE</a:t>
            </a:r>
            <a:r>
              <a:rPr lang="en-US" sz="2000" dirty="0"/>
              <a:t> social, economic and political;</a:t>
            </a:r>
          </a:p>
          <a:p>
            <a:pPr lvl="1"/>
            <a:r>
              <a:rPr lang="en-US" sz="2000" b="1" dirty="0"/>
              <a:t>LIBERTY</a:t>
            </a:r>
            <a:r>
              <a:rPr lang="en-US" sz="2000" dirty="0"/>
              <a:t> of thought, expression, belief, faith and worship;</a:t>
            </a:r>
          </a:p>
          <a:p>
            <a:pPr lvl="1"/>
            <a:r>
              <a:rPr lang="en-US" sz="2000" b="1" dirty="0"/>
              <a:t>EQUALITY</a:t>
            </a:r>
            <a:r>
              <a:rPr lang="en-US" sz="2000" dirty="0"/>
              <a:t> of status and of opportunity, and to promote among them all.</a:t>
            </a:r>
          </a:p>
          <a:p>
            <a:pPr lvl="1"/>
            <a:r>
              <a:rPr lang="en-US" sz="2000" b="1" dirty="0"/>
              <a:t>FRATERNITY</a:t>
            </a:r>
            <a:r>
              <a:rPr lang="en-US" sz="2000" dirty="0"/>
              <a:t> assuring the dignity of the individual and the unity and integrity of the nation;</a:t>
            </a:r>
          </a:p>
          <a:p>
            <a:pPr lvl="1"/>
            <a:r>
              <a:rPr lang="en-US" sz="2000" dirty="0"/>
              <a:t>In our Constituent Assembly, this 26th day of November, 1949, do HEREBY ADOPT, ENACT AND GIVE TO OURSELVES THIS CONSTITUTION</a:t>
            </a:r>
          </a:p>
          <a:p>
            <a:pPr lvl="1"/>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Preamble</a:t>
            </a:r>
          </a:p>
        </p:txBody>
      </p:sp>
      <p:sp>
        <p:nvSpPr>
          <p:cNvPr id="3" name="Content Placeholder 2"/>
          <p:cNvSpPr>
            <a:spLocks noGrp="1"/>
          </p:cNvSpPr>
          <p:nvPr>
            <p:ph idx="1"/>
          </p:nvPr>
        </p:nvSpPr>
        <p:spPr/>
        <p:txBody>
          <a:bodyPr/>
          <a:lstStyle/>
          <a:p>
            <a:r>
              <a:rPr lang="en-US" sz="2400" dirty="0"/>
              <a:t>Not a mandatory part</a:t>
            </a:r>
          </a:p>
          <a:p>
            <a:r>
              <a:rPr lang="en-US" sz="2400" dirty="0"/>
              <a:t>Summary of Constitution </a:t>
            </a:r>
          </a:p>
          <a:p>
            <a:r>
              <a:rPr lang="en-US" sz="2400" dirty="0"/>
              <a:t>Contains the philosophy and Spirit</a:t>
            </a:r>
          </a:p>
          <a:p>
            <a:r>
              <a:rPr lang="en-US" sz="2400" dirty="0"/>
              <a:t>It gives a bird eye of entire Constitution </a:t>
            </a:r>
          </a:p>
          <a:p>
            <a:pPr marL="514350" indent="-514350">
              <a:buFont typeface="+mj-lt"/>
              <a:buAutoNum type="arabicPeriod"/>
            </a:pPr>
            <a:r>
              <a:rPr lang="en-US" dirty="0"/>
              <a:t>It declares the Supremacy of the people</a:t>
            </a:r>
          </a:p>
          <a:p>
            <a:pPr marL="514350" indent="-514350">
              <a:buFont typeface="+mj-lt"/>
              <a:buAutoNum type="arabicPeriod"/>
            </a:pPr>
            <a:r>
              <a:rPr lang="en-US" dirty="0"/>
              <a:t>It Contain Ideas and Aspiration </a:t>
            </a:r>
          </a:p>
          <a:p>
            <a:endParaRPr lang="en-US" dirty="0"/>
          </a:p>
        </p:txBody>
      </p:sp>
      <p:graphicFrame>
        <p:nvGraphicFramePr>
          <p:cNvPr id="4" name="Table 3"/>
          <p:cNvGraphicFramePr>
            <a:graphicFrameLocks noGrp="1"/>
          </p:cNvGraphicFramePr>
          <p:nvPr/>
        </p:nvGraphicFramePr>
        <p:xfrm>
          <a:off x="990600" y="4572000"/>
          <a:ext cx="7848600" cy="7416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370840">
                <a:tc>
                  <a:txBody>
                    <a:bodyPr/>
                    <a:lstStyle/>
                    <a:p>
                      <a:r>
                        <a:rPr lang="en-US" dirty="0"/>
                        <a:t>Ideas</a:t>
                      </a:r>
                    </a:p>
                  </a:txBody>
                  <a:tcPr/>
                </a:tc>
                <a:tc>
                  <a:txBody>
                    <a:bodyPr/>
                    <a:lstStyle/>
                    <a:p>
                      <a:r>
                        <a:rPr lang="en-US" dirty="0"/>
                        <a:t>Goals that are achieved  Sovereignty,</a:t>
                      </a:r>
                      <a:r>
                        <a:rPr lang="en-US" baseline="0" dirty="0"/>
                        <a:t>  Socialism, Secularism</a:t>
                      </a:r>
                      <a:endParaRPr lang="en-US" dirty="0"/>
                    </a:p>
                  </a:txBody>
                  <a:tcPr/>
                </a:tc>
                <a:extLst>
                  <a:ext uri="{0D108BD9-81ED-4DB2-BD59-A6C34878D82A}">
                    <a16:rowId xmlns:a16="http://schemas.microsoft.com/office/drawing/2014/main" val="10000"/>
                  </a:ext>
                </a:extLst>
              </a:tr>
              <a:tr h="370840">
                <a:tc>
                  <a:txBody>
                    <a:bodyPr/>
                    <a:lstStyle/>
                    <a:p>
                      <a:r>
                        <a:rPr lang="en-US" dirty="0"/>
                        <a:t>Aspiration</a:t>
                      </a:r>
                    </a:p>
                  </a:txBody>
                  <a:tcPr/>
                </a:tc>
                <a:tc>
                  <a:txBody>
                    <a:bodyPr/>
                    <a:lstStyle/>
                    <a:p>
                      <a:r>
                        <a:rPr lang="en-US" dirty="0"/>
                        <a:t>Goals which are yet to Achieve Justice, Equality,</a:t>
                      </a:r>
                      <a:r>
                        <a:rPr lang="en-US" baseline="0" dirty="0"/>
                        <a:t> Fraternity </a:t>
                      </a:r>
                      <a:endParaRPr lang="en-US"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Amendment to Preamble</a:t>
            </a:r>
          </a:p>
        </p:txBody>
      </p:sp>
      <p:sp>
        <p:nvSpPr>
          <p:cNvPr id="3" name="Content Placeholder 2"/>
          <p:cNvSpPr>
            <a:spLocks noGrp="1"/>
          </p:cNvSpPr>
          <p:nvPr>
            <p:ph idx="1"/>
          </p:nvPr>
        </p:nvSpPr>
        <p:spPr/>
        <p:txBody>
          <a:bodyPr/>
          <a:lstStyle/>
          <a:p>
            <a:r>
              <a:rPr lang="en-US" dirty="0"/>
              <a:t>Amended only Once till now</a:t>
            </a:r>
          </a:p>
          <a:p>
            <a:r>
              <a:rPr lang="en-US" dirty="0"/>
              <a:t>By 42</a:t>
            </a:r>
            <a:r>
              <a:rPr lang="en-US" baseline="30000" dirty="0"/>
              <a:t>nd</a:t>
            </a:r>
            <a:r>
              <a:rPr lang="en-US" dirty="0"/>
              <a:t> </a:t>
            </a:r>
            <a:r>
              <a:rPr lang="en-US" dirty="0" err="1"/>
              <a:t>Ammd</a:t>
            </a:r>
            <a:r>
              <a:rPr lang="en-US" dirty="0"/>
              <a:t>. Act 1976</a:t>
            </a:r>
          </a:p>
          <a:p>
            <a:endParaRPr lang="en-US" dirty="0"/>
          </a:p>
        </p:txBody>
      </p:sp>
      <p:graphicFrame>
        <p:nvGraphicFramePr>
          <p:cNvPr id="4" name="Table 3"/>
          <p:cNvGraphicFramePr>
            <a:graphicFrameLocks noGrp="1"/>
          </p:cNvGraphicFramePr>
          <p:nvPr/>
        </p:nvGraphicFramePr>
        <p:xfrm>
          <a:off x="685800" y="3124200"/>
          <a:ext cx="7772400" cy="161544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457200">
                <a:tc>
                  <a:txBody>
                    <a:bodyPr/>
                    <a:lstStyle/>
                    <a:p>
                      <a:pPr algn="ctr"/>
                      <a:r>
                        <a:rPr lang="en-US" sz="2400" dirty="0"/>
                        <a:t>Old (Original)</a:t>
                      </a:r>
                    </a:p>
                  </a:txBody>
                  <a:tcPr/>
                </a:tc>
                <a:tc>
                  <a:txBody>
                    <a:bodyPr/>
                    <a:lstStyle/>
                    <a:p>
                      <a:pPr algn="ctr"/>
                      <a:r>
                        <a:rPr lang="en-US" sz="2000" dirty="0"/>
                        <a:t>New</a:t>
                      </a:r>
                    </a:p>
                  </a:txBody>
                  <a:tcPr/>
                </a:tc>
                <a:extLst>
                  <a:ext uri="{0D108BD9-81ED-4DB2-BD59-A6C34878D82A}">
                    <a16:rowId xmlns:a16="http://schemas.microsoft.com/office/drawing/2014/main" val="10000"/>
                  </a:ext>
                </a:extLst>
              </a:tr>
              <a:tr h="457200">
                <a:tc>
                  <a:txBody>
                    <a:bodyPr/>
                    <a:lstStyle/>
                    <a:p>
                      <a:r>
                        <a:rPr lang="en-US" sz="2000" dirty="0"/>
                        <a:t>Sovereign, Democratic,</a:t>
                      </a:r>
                      <a:r>
                        <a:rPr lang="en-US" sz="2000" baseline="0" dirty="0"/>
                        <a:t> Republic</a:t>
                      </a:r>
                      <a:endParaRPr lang="en-US" sz="2000" dirty="0"/>
                    </a:p>
                  </a:txBody>
                  <a:tcPr/>
                </a:tc>
                <a:tc>
                  <a:txBody>
                    <a:bodyPr/>
                    <a:lstStyle/>
                    <a:p>
                      <a:r>
                        <a:rPr lang="en-US" sz="2000" dirty="0"/>
                        <a:t>Sovereign , Socialist, Secular, Democratic,</a:t>
                      </a:r>
                      <a:r>
                        <a:rPr lang="en-US" sz="2000" baseline="0" dirty="0"/>
                        <a:t> Republic</a:t>
                      </a:r>
                      <a:endParaRPr lang="en-US" sz="2000" dirty="0"/>
                    </a:p>
                  </a:txBody>
                  <a:tcPr/>
                </a:tc>
                <a:extLst>
                  <a:ext uri="{0D108BD9-81ED-4DB2-BD59-A6C34878D82A}">
                    <a16:rowId xmlns:a16="http://schemas.microsoft.com/office/drawing/2014/main" val="10001"/>
                  </a:ext>
                </a:extLst>
              </a:tr>
              <a:tr h="457200">
                <a:tc>
                  <a:txBody>
                    <a:bodyPr/>
                    <a:lstStyle/>
                    <a:p>
                      <a:r>
                        <a:rPr lang="en-US" dirty="0"/>
                        <a:t>Unity </a:t>
                      </a:r>
                    </a:p>
                  </a:txBody>
                  <a:tcPr/>
                </a:tc>
                <a:tc>
                  <a:txBody>
                    <a:bodyPr/>
                    <a:lstStyle/>
                    <a:p>
                      <a:r>
                        <a:rPr lang="en-US" dirty="0"/>
                        <a:t>Unity Integrity </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Democracy </a:t>
            </a:r>
          </a:p>
        </p:txBody>
      </p:sp>
      <p:sp>
        <p:nvSpPr>
          <p:cNvPr id="3" name="Content Placeholder 2"/>
          <p:cNvSpPr>
            <a:spLocks noGrp="1"/>
          </p:cNvSpPr>
          <p:nvPr>
            <p:ph idx="1"/>
          </p:nvPr>
        </p:nvSpPr>
        <p:spPr/>
        <p:txBody>
          <a:bodyPr>
            <a:normAutofit lnSpcReduction="10000"/>
          </a:bodyPr>
          <a:lstStyle/>
          <a:p>
            <a:r>
              <a:rPr lang="en-US" dirty="0"/>
              <a:t>Rule of the people </a:t>
            </a:r>
          </a:p>
          <a:p>
            <a:r>
              <a:rPr lang="en-US" dirty="0"/>
              <a:t>Two types of Democracy </a:t>
            </a:r>
          </a:p>
          <a:p>
            <a:r>
              <a:rPr lang="en-US" sz="2000" dirty="0"/>
              <a:t>                                          1)Direct Democracy 2) Indirect democracy </a:t>
            </a:r>
            <a:endParaRPr lang="en-US" dirty="0"/>
          </a:p>
          <a:p>
            <a:endParaRPr lang="en-US" dirty="0"/>
          </a:p>
          <a:p>
            <a:pPr marL="514350" indent="-514350">
              <a:buFont typeface="+mj-lt"/>
              <a:buAutoNum type="arabicPeriod"/>
            </a:pPr>
            <a:r>
              <a:rPr lang="en-US" dirty="0"/>
              <a:t>Initiative</a:t>
            </a:r>
          </a:p>
          <a:p>
            <a:pPr marL="514350" indent="-514350">
              <a:buFont typeface="+mj-lt"/>
              <a:buAutoNum type="arabicPeriod"/>
            </a:pPr>
            <a:r>
              <a:rPr lang="en-US" dirty="0"/>
              <a:t>Referendum</a:t>
            </a:r>
          </a:p>
          <a:p>
            <a:pPr marL="514350" indent="-514350">
              <a:buFont typeface="+mj-lt"/>
              <a:buAutoNum type="arabicPeriod"/>
            </a:pPr>
            <a:r>
              <a:rPr lang="en-US" dirty="0"/>
              <a:t>Recall</a:t>
            </a:r>
          </a:p>
          <a:p>
            <a:pPr marL="514350" indent="-514350">
              <a:buFont typeface="+mj-lt"/>
              <a:buAutoNum type="arabicPeriod"/>
            </a:pPr>
            <a:r>
              <a:rPr lang="en-US" dirty="0"/>
              <a:t>Plebiscite </a:t>
            </a:r>
          </a:p>
          <a:p>
            <a:pPr>
              <a:buNone/>
            </a:pPr>
            <a:r>
              <a:rPr lang="en-US" sz="2400" dirty="0"/>
              <a:t>                            </a:t>
            </a:r>
          </a:p>
        </p:txBody>
      </p:sp>
      <p:graphicFrame>
        <p:nvGraphicFramePr>
          <p:cNvPr id="4" name="Table 3"/>
          <p:cNvGraphicFramePr>
            <a:graphicFrameLocks noGrp="1"/>
          </p:cNvGraphicFramePr>
          <p:nvPr/>
        </p:nvGraphicFramePr>
        <p:xfrm>
          <a:off x="838200" y="2971800"/>
          <a:ext cx="7391400" cy="533400"/>
        </p:xfrm>
        <a:graphic>
          <a:graphicData uri="http://schemas.openxmlformats.org/drawingml/2006/table">
            <a:tbl>
              <a:tblPr firstRow="1" bandRow="1">
                <a:tableStyleId>{5C22544A-7EE6-4342-B048-85BDC9FD1C3A}</a:tableStyleId>
              </a:tblPr>
              <a:tblGrid>
                <a:gridCol w="7391400">
                  <a:extLst>
                    <a:ext uri="{9D8B030D-6E8A-4147-A177-3AD203B41FA5}">
                      <a16:colId xmlns:a16="http://schemas.microsoft.com/office/drawing/2014/main" val="20000"/>
                    </a:ext>
                  </a:extLst>
                </a:gridCol>
              </a:tblGrid>
              <a:tr h="533400">
                <a:tc>
                  <a:txBody>
                    <a:bodyPr/>
                    <a:lstStyle/>
                    <a:p>
                      <a:pPr algn="ctr"/>
                      <a:r>
                        <a:rPr lang="en-US" sz="2400" dirty="0"/>
                        <a:t>Devices</a:t>
                      </a:r>
                      <a:r>
                        <a:rPr lang="en-US" sz="2400" baseline="0" dirty="0"/>
                        <a:t> Of Direct Democracy </a:t>
                      </a:r>
                      <a:endParaRPr lang="en-US" sz="2400" dirty="0"/>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Schedule of Indian Constitution </a:t>
            </a:r>
          </a:p>
        </p:txBody>
      </p:sp>
      <p:graphicFrame>
        <p:nvGraphicFramePr>
          <p:cNvPr id="4" name="Table 3"/>
          <p:cNvGraphicFramePr>
            <a:graphicFrameLocks noGrp="1"/>
          </p:cNvGraphicFramePr>
          <p:nvPr/>
        </p:nvGraphicFramePr>
        <p:xfrm>
          <a:off x="228600" y="1524000"/>
          <a:ext cx="8534400" cy="4572000"/>
        </p:xfrm>
        <a:graphic>
          <a:graphicData uri="http://schemas.openxmlformats.org/drawingml/2006/table">
            <a:tbl>
              <a:tblPr/>
              <a:tblGrid>
                <a:gridCol w="1420305">
                  <a:extLst>
                    <a:ext uri="{9D8B030D-6E8A-4147-A177-3AD203B41FA5}">
                      <a16:colId xmlns:a16="http://schemas.microsoft.com/office/drawing/2014/main" val="20000"/>
                    </a:ext>
                  </a:extLst>
                </a:gridCol>
                <a:gridCol w="7114095">
                  <a:extLst>
                    <a:ext uri="{9D8B030D-6E8A-4147-A177-3AD203B41FA5}">
                      <a16:colId xmlns:a16="http://schemas.microsoft.com/office/drawing/2014/main" val="20001"/>
                    </a:ext>
                  </a:extLst>
                </a:gridCol>
              </a:tblGrid>
              <a:tr h="774700">
                <a:tc>
                  <a:txBody>
                    <a:bodyPr/>
                    <a:lstStyle/>
                    <a:p>
                      <a:pPr algn="ctr" fontAlgn="b"/>
                      <a:r>
                        <a:rPr lang="en-US" sz="2000" b="0" i="0" u="none" strike="noStrike" dirty="0">
                          <a:solidFill>
                            <a:srgbClr val="000000"/>
                          </a:solidFill>
                          <a:latin typeface="Calibri"/>
                        </a:rPr>
                        <a:t>First Schedule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List of States &amp; Union Territories</a:t>
                      </a:r>
                    </a:p>
                  </a:txBody>
                  <a:tcPr marL="60601"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74700">
                <a:tc>
                  <a:txBody>
                    <a:bodyPr/>
                    <a:lstStyle/>
                    <a:p>
                      <a:pPr algn="ctr" fontAlgn="b"/>
                      <a:r>
                        <a:rPr lang="en-US" sz="2000" b="0" i="0" u="none" strike="noStrike">
                          <a:solidFill>
                            <a:srgbClr val="000000"/>
                          </a:solidFill>
                          <a:latin typeface="Calibri"/>
                        </a:rPr>
                        <a:t>Second Schedule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Salary of President, Governors, Chief Judges, Judges of High Court and Supreme court, Comptroller and Auditor General</a:t>
                      </a:r>
                    </a:p>
                  </a:txBody>
                  <a:tcPr marL="60601"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74700">
                <a:tc>
                  <a:txBody>
                    <a:bodyPr/>
                    <a:lstStyle/>
                    <a:p>
                      <a:pPr algn="ctr" fontAlgn="b"/>
                      <a:r>
                        <a:rPr lang="en-US" sz="2000" b="0" i="0" u="none" strike="noStrike">
                          <a:solidFill>
                            <a:srgbClr val="000000"/>
                          </a:solidFill>
                          <a:latin typeface="Calibri"/>
                        </a:rPr>
                        <a:t>Third Schedule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Forms of Oaths and affirmations</a:t>
                      </a:r>
                    </a:p>
                  </a:txBody>
                  <a:tcPr marL="60601"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74700">
                <a:tc>
                  <a:txBody>
                    <a:bodyPr/>
                    <a:lstStyle/>
                    <a:p>
                      <a:pPr algn="ctr" fontAlgn="b"/>
                      <a:r>
                        <a:rPr lang="en-US" sz="2000" b="0" i="0" u="none" strike="noStrike">
                          <a:solidFill>
                            <a:srgbClr val="000000"/>
                          </a:solidFill>
                          <a:latin typeface="Calibri"/>
                        </a:rPr>
                        <a:t>Fourth Schedule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Allocate seats for each state of India in Rajya Sabha</a:t>
                      </a:r>
                    </a:p>
                  </a:txBody>
                  <a:tcPr marL="60601"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74700">
                <a:tc>
                  <a:txBody>
                    <a:bodyPr/>
                    <a:lstStyle/>
                    <a:p>
                      <a:pPr algn="ctr" fontAlgn="b"/>
                      <a:r>
                        <a:rPr lang="en-US" sz="2000" b="0" i="0" u="none" strike="noStrike">
                          <a:solidFill>
                            <a:srgbClr val="000000"/>
                          </a:solidFill>
                          <a:latin typeface="Calibri"/>
                        </a:rPr>
                        <a:t>Fifth Schedule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Administration and control of scheduled areas and tribes</a:t>
                      </a:r>
                    </a:p>
                  </a:txBody>
                  <a:tcPr marL="60601"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98500">
                <a:tc>
                  <a:txBody>
                    <a:bodyPr/>
                    <a:lstStyle/>
                    <a:p>
                      <a:pPr algn="ctr" fontAlgn="b"/>
                      <a:r>
                        <a:rPr lang="en-US" sz="2000" b="0" i="0" u="none" strike="noStrike" dirty="0">
                          <a:solidFill>
                            <a:srgbClr val="000000"/>
                          </a:solidFill>
                          <a:latin typeface="Calibri"/>
                        </a:rPr>
                        <a:t>Sixth Schedule</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2000" b="0" i="0" u="none" strike="noStrike" dirty="0">
                          <a:solidFill>
                            <a:srgbClr val="000000"/>
                          </a:solidFill>
                          <a:latin typeface="Calibri"/>
                        </a:rPr>
                        <a:t>Provisions for administration of Tribal Area in </a:t>
                      </a:r>
                      <a:r>
                        <a:rPr lang="en-US" sz="2000" b="0" i="0" u="none" strike="noStrike" dirty="0" err="1">
                          <a:solidFill>
                            <a:srgbClr val="000000"/>
                          </a:solidFill>
                          <a:latin typeface="Calibri"/>
                        </a:rPr>
                        <a:t>Asom</a:t>
                      </a:r>
                      <a:r>
                        <a:rPr lang="en-US" sz="2000" b="0" i="0" u="none" strike="noStrike" dirty="0">
                          <a:solidFill>
                            <a:srgbClr val="000000"/>
                          </a:solidFill>
                          <a:latin typeface="Calibri"/>
                        </a:rPr>
                        <a:t>, Meghalaya, Tripura, Mizoram &amp; Arunachal Pradesh</a:t>
                      </a:r>
                    </a:p>
                  </a:txBody>
                  <a:tcPr marL="60601"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304800" y="381000"/>
          <a:ext cx="8610600" cy="1553817"/>
        </p:xfrm>
        <a:graphic>
          <a:graphicData uri="http://schemas.openxmlformats.org/drawingml/2006/table">
            <a:tbl>
              <a:tblPr/>
              <a:tblGrid>
                <a:gridCol w="10668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503583">
                <a:tc>
                  <a:txBody>
                    <a:bodyPr/>
                    <a:lstStyle/>
                    <a:p>
                      <a:pPr algn="l" fontAlgn="b"/>
                      <a:r>
                        <a:rPr lang="en-US" sz="2000" b="0" i="0" u="none" strike="noStrike">
                          <a:solidFill>
                            <a:srgbClr val="000000"/>
                          </a:solidFill>
                          <a:latin typeface="Calibri"/>
                        </a:rPr>
                        <a:t>Seventh Schedule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Gives allocation of powers and functions between Union &amp; States. It contains 3 lists</a:t>
                      </a:r>
                    </a:p>
                  </a:txBody>
                  <a:tcPr marL="60601"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4739">
                <a:tc>
                  <a:txBody>
                    <a:bodyPr/>
                    <a:lstStyle/>
                    <a:p>
                      <a:pPr algn="l" fontAlgn="b"/>
                      <a:r>
                        <a:rPr lang="en-US" sz="2000" b="0" i="0" u="none" strike="noStrike">
                          <a:solidFill>
                            <a:srgbClr val="000000"/>
                          </a:solidFill>
                          <a:latin typeface="Calibri"/>
                        </a:rPr>
                        <a:t> </a:t>
                      </a:r>
                    </a:p>
                  </a:txBody>
                  <a:tcPr marL="60601"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1. Union List (For central Govt) 97 Subjects.</a:t>
                      </a:r>
                    </a:p>
                  </a:txBody>
                  <a:tcPr marL="121202"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4739">
                <a:tc>
                  <a:txBody>
                    <a:bodyPr/>
                    <a:lstStyle/>
                    <a:p>
                      <a:pPr algn="l" fontAlgn="b"/>
                      <a:r>
                        <a:rPr lang="en-US" sz="2000" b="0" i="0" u="none" strike="noStrike">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2. States List (Powers of State Govt) 66 subjects</a:t>
                      </a:r>
                    </a:p>
                  </a:txBody>
                  <a:tcPr marL="121202"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4739">
                <a:tc>
                  <a:txBody>
                    <a:bodyPr/>
                    <a:lstStyle/>
                    <a:p>
                      <a:pPr algn="l" fontAlgn="b"/>
                      <a:r>
                        <a:rPr lang="en-US" sz="2000" b="0" i="0" u="none" strike="noStrike">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dirty="0">
                          <a:solidFill>
                            <a:srgbClr val="000000"/>
                          </a:solidFill>
                          <a:latin typeface="Calibri"/>
                        </a:rPr>
                        <a:t>3. Concurrent List (Both Union &amp; States) 47 subjects.</a:t>
                      </a:r>
                    </a:p>
                  </a:txBody>
                  <a:tcPr marL="121202"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8" name="Table 7"/>
          <p:cNvGraphicFramePr>
            <a:graphicFrameLocks noGrp="1"/>
          </p:cNvGraphicFramePr>
          <p:nvPr/>
        </p:nvGraphicFramePr>
        <p:xfrm>
          <a:off x="304800" y="1960419"/>
          <a:ext cx="8610599" cy="4897581"/>
        </p:xfrm>
        <a:graphic>
          <a:graphicData uri="http://schemas.openxmlformats.org/drawingml/2006/table">
            <a:tbl>
              <a:tblPr/>
              <a:tblGrid>
                <a:gridCol w="10668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2285999">
                  <a:extLst>
                    <a:ext uri="{9D8B030D-6E8A-4147-A177-3AD203B41FA5}">
                      <a16:colId xmlns:a16="http://schemas.microsoft.com/office/drawing/2014/main" val="20003"/>
                    </a:ext>
                  </a:extLst>
                </a:gridCol>
              </a:tblGrid>
              <a:tr h="457198">
                <a:tc>
                  <a:txBody>
                    <a:bodyPr/>
                    <a:lstStyle/>
                    <a:p>
                      <a:pPr algn="l" fontAlgn="b"/>
                      <a:r>
                        <a:rPr lang="en-US" sz="2000" b="0" i="0" u="none" strike="noStrike" dirty="0">
                          <a:solidFill>
                            <a:srgbClr val="000000"/>
                          </a:solidFill>
                          <a:latin typeface="Calibri"/>
                        </a:rPr>
                        <a:t>Eighth Schedule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l" fontAlgn="b"/>
                      <a:r>
                        <a:rPr lang="en-US" sz="2000" b="0" i="0" u="none" strike="noStrike">
                          <a:solidFill>
                            <a:srgbClr val="000000"/>
                          </a:solidFill>
                          <a:latin typeface="Calibri"/>
                        </a:rPr>
                        <a:t>List of 22 languages of India recognized by Constitution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08709">
                <a:tc>
                  <a:txBody>
                    <a:bodyPr/>
                    <a:lstStyle/>
                    <a:p>
                      <a:pPr algn="l" fontAlgn="b"/>
                      <a:r>
                        <a:rPr lang="en-US" sz="2000" b="0" i="0" u="none" strike="noStrike">
                          <a:solidFill>
                            <a:srgbClr val="000000"/>
                          </a:solidFill>
                          <a:latin typeface="Calibri"/>
                        </a:rPr>
                        <a:t> </a:t>
                      </a:r>
                    </a:p>
                  </a:txBody>
                  <a:tcPr marL="4613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1. Assamese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2. Bengali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3. Gujarati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08709">
                <a:tc>
                  <a:txBody>
                    <a:bodyPr/>
                    <a:lstStyle/>
                    <a:p>
                      <a:pPr algn="l" fontAlgn="b"/>
                      <a:r>
                        <a:rPr lang="en-US" sz="2000" b="0" i="0" u="none" strike="noStrike">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4. Hindi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5. Kannada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6. Kashmiri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8709">
                <a:tc>
                  <a:txBody>
                    <a:bodyPr/>
                    <a:lstStyle/>
                    <a:p>
                      <a:pPr algn="l" fontAlgn="b"/>
                      <a:r>
                        <a:rPr lang="en-US" sz="2000" b="0" i="0" u="none" strike="noStrike">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dirty="0">
                          <a:solidFill>
                            <a:srgbClr val="000000"/>
                          </a:solidFill>
                          <a:latin typeface="Calibri"/>
                        </a:rPr>
                        <a:t>7. Manipuri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8. Malayalam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9. Konkani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8709">
                <a:tc>
                  <a:txBody>
                    <a:bodyPr/>
                    <a:lstStyle/>
                    <a:p>
                      <a:pPr algn="l" fontAlgn="b"/>
                      <a:r>
                        <a:rPr lang="en-US" sz="2000" b="0" i="0" u="none" strike="noStrike">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10. Marathi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11. Nepali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12. Oriya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8709">
                <a:tc>
                  <a:txBody>
                    <a:bodyPr/>
                    <a:lstStyle/>
                    <a:p>
                      <a:pPr algn="l" fontAlgn="b"/>
                      <a:r>
                        <a:rPr lang="en-US" sz="2000" b="0" i="0" u="none" strike="noStrike">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13. Punjabi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14. Sanskrit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15. Sindhi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08709">
                <a:tc>
                  <a:txBody>
                    <a:bodyPr/>
                    <a:lstStyle/>
                    <a:p>
                      <a:pPr algn="l" fontAlgn="b"/>
                      <a:r>
                        <a:rPr lang="en-US" sz="2000" b="0" i="0" u="none" strike="noStrike" dirty="0">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16. Tamil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17. Telugu</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18. Urdu</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08709">
                <a:tc>
                  <a:txBody>
                    <a:bodyPr/>
                    <a:lstStyle/>
                    <a:p>
                      <a:pPr algn="l" fontAlgn="b"/>
                      <a:r>
                        <a:rPr lang="en-US" sz="2000" b="0" i="0" u="none" strike="noStrike">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19. Santhali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20. Bodo</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21. Maithili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08709">
                <a:tc>
                  <a:txBody>
                    <a:bodyPr/>
                    <a:lstStyle/>
                    <a:p>
                      <a:pPr algn="l" fontAlgn="b"/>
                      <a:r>
                        <a:rPr lang="en-US" sz="2000" b="0" i="0" u="none" strike="noStrike">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22. Dogri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dirty="0">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08709">
                <a:tc>
                  <a:txBody>
                    <a:bodyPr/>
                    <a:lstStyle/>
                    <a:p>
                      <a:pPr algn="l" fontAlgn="b"/>
                      <a:r>
                        <a:rPr lang="en-US" sz="2000" b="0" i="0" u="none" strike="noStrike">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l" fontAlgn="b"/>
                      <a:r>
                        <a:rPr lang="en-US" sz="2000" b="0" i="0" u="none" strike="noStrike">
                          <a:solidFill>
                            <a:srgbClr val="000000"/>
                          </a:solidFill>
                          <a:latin typeface="Calibri"/>
                        </a:rPr>
                        <a:t>Sindhi was added in 1967 by 21 Amendment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9"/>
                  </a:ext>
                </a:extLst>
              </a:tr>
              <a:tr h="408709">
                <a:tc>
                  <a:txBody>
                    <a:bodyPr/>
                    <a:lstStyle/>
                    <a:p>
                      <a:pPr algn="l" fontAlgn="b"/>
                      <a:r>
                        <a:rPr lang="en-US" sz="2000" b="0" i="0" u="none" strike="noStrike">
                          <a:solidFill>
                            <a:srgbClr val="000000"/>
                          </a:solidFill>
                          <a:latin typeface="Calibr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l" fontAlgn="b"/>
                      <a:r>
                        <a:rPr lang="en-US" sz="2000" b="0" i="0" u="none" strike="noStrike" dirty="0">
                          <a:solidFill>
                            <a:srgbClr val="000000"/>
                          </a:solidFill>
                          <a:latin typeface="Calibri"/>
                        </a:rPr>
                        <a:t>Konkani, Manipuri ad Nepali were added in 1992 by 71 amendment </a:t>
                      </a:r>
                      <a:r>
                        <a:rPr lang="en-US" sz="2000" b="0" i="0" u="none" strike="noStrike" dirty="0" err="1">
                          <a:solidFill>
                            <a:srgbClr val="000000"/>
                          </a:solidFill>
                          <a:latin typeface="Calibri"/>
                        </a:rPr>
                        <a:t>Santhali</a:t>
                      </a:r>
                      <a:r>
                        <a:rPr lang="en-US" sz="2000" b="0" i="0" u="none" strike="noStrike" dirty="0">
                          <a:solidFill>
                            <a:srgbClr val="000000"/>
                          </a:solidFill>
                          <a:latin typeface="Calibri"/>
                        </a:rPr>
                        <a:t>, Maithili, </a:t>
                      </a:r>
                      <a:r>
                        <a:rPr lang="en-US" sz="2000" b="0" i="0" u="none" strike="noStrike" dirty="0" err="1">
                          <a:solidFill>
                            <a:srgbClr val="000000"/>
                          </a:solidFill>
                          <a:latin typeface="Calibri"/>
                        </a:rPr>
                        <a:t>Bodo</a:t>
                      </a:r>
                      <a:r>
                        <a:rPr lang="en-US" sz="2000" b="0" i="0" u="none" strike="noStrike" dirty="0">
                          <a:solidFill>
                            <a:srgbClr val="000000"/>
                          </a:solidFill>
                          <a:latin typeface="Calibri"/>
                        </a:rPr>
                        <a:t> and </a:t>
                      </a:r>
                      <a:r>
                        <a:rPr lang="en-US" sz="2000" b="0" i="0" u="none" strike="noStrike" dirty="0" err="1">
                          <a:solidFill>
                            <a:srgbClr val="000000"/>
                          </a:solidFill>
                          <a:latin typeface="Calibri"/>
                        </a:rPr>
                        <a:t>Dogri</a:t>
                      </a:r>
                      <a:r>
                        <a:rPr lang="en-US" sz="2000" b="0" i="0" u="none" strike="noStrike" dirty="0">
                          <a:solidFill>
                            <a:srgbClr val="000000"/>
                          </a:solidFill>
                          <a:latin typeface="Calibri"/>
                        </a:rPr>
                        <a:t> were added in 2003 by 92 amendment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457200" y="1143000"/>
          <a:ext cx="8458200" cy="4419600"/>
        </p:xfrm>
        <a:graphic>
          <a:graphicData uri="http://schemas.openxmlformats.org/drawingml/2006/table">
            <a:tbl>
              <a:tblPr/>
              <a:tblGrid>
                <a:gridCol w="1295400">
                  <a:extLst>
                    <a:ext uri="{9D8B030D-6E8A-4147-A177-3AD203B41FA5}">
                      <a16:colId xmlns:a16="http://schemas.microsoft.com/office/drawing/2014/main" val="20000"/>
                    </a:ext>
                  </a:extLst>
                </a:gridCol>
                <a:gridCol w="7162800">
                  <a:extLst>
                    <a:ext uri="{9D8B030D-6E8A-4147-A177-3AD203B41FA5}">
                      <a16:colId xmlns:a16="http://schemas.microsoft.com/office/drawing/2014/main" val="20001"/>
                    </a:ext>
                  </a:extLst>
                </a:gridCol>
              </a:tblGrid>
              <a:tr h="1634136">
                <a:tc>
                  <a:txBody>
                    <a:bodyPr/>
                    <a:lstStyle/>
                    <a:p>
                      <a:pPr algn="l" fontAlgn="b"/>
                      <a:r>
                        <a:rPr lang="en-US" sz="2000" b="0" i="0" u="none" strike="noStrike">
                          <a:solidFill>
                            <a:srgbClr val="000000"/>
                          </a:solidFill>
                          <a:latin typeface="Calibri"/>
                        </a:rPr>
                        <a:t>Ninth Schedule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Added by Ist amendment in 1951. Contains acts &amp; orders related to land tenure, land tax, railways, industries.{Right of property not a fundamental right now}</a:t>
                      </a:r>
                    </a:p>
                  </a:txBody>
                  <a:tcPr marL="60601"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28488">
                <a:tc>
                  <a:txBody>
                    <a:bodyPr/>
                    <a:lstStyle/>
                    <a:p>
                      <a:pPr algn="l" fontAlgn="b"/>
                      <a:r>
                        <a:rPr lang="en-US" sz="2000" b="0" i="0" u="none" strike="noStrike">
                          <a:solidFill>
                            <a:srgbClr val="000000"/>
                          </a:solidFill>
                          <a:latin typeface="Calibri"/>
                        </a:rPr>
                        <a:t>Tenth Schedule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Added by 52nd amendment in 1985. Contains provisions of disqualification of grounds of defection</a:t>
                      </a:r>
                    </a:p>
                  </a:txBody>
                  <a:tcPr marL="60601"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28488">
                <a:tc>
                  <a:txBody>
                    <a:bodyPr/>
                    <a:lstStyle/>
                    <a:p>
                      <a:pPr algn="l" fontAlgn="b"/>
                      <a:r>
                        <a:rPr lang="en-US" sz="2000" b="0" i="0" u="none" strike="noStrike">
                          <a:solidFill>
                            <a:srgbClr val="000000"/>
                          </a:solidFill>
                          <a:latin typeface="Calibri"/>
                        </a:rPr>
                        <a:t>Eleventh Schedule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a:solidFill>
                            <a:srgbClr val="000000"/>
                          </a:solidFill>
                          <a:latin typeface="Calibri"/>
                        </a:rPr>
                        <a:t>By 73rd amendment in 1992. Contains provisions of Panchayati Raj.</a:t>
                      </a:r>
                    </a:p>
                  </a:txBody>
                  <a:tcPr marL="60601"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28488">
                <a:tc>
                  <a:txBody>
                    <a:bodyPr/>
                    <a:lstStyle/>
                    <a:p>
                      <a:pPr algn="l" fontAlgn="b"/>
                      <a:r>
                        <a:rPr lang="en-US" sz="2000" b="0" i="0" u="none" strike="noStrike">
                          <a:solidFill>
                            <a:srgbClr val="000000"/>
                          </a:solidFill>
                          <a:latin typeface="Calibri"/>
                        </a:rPr>
                        <a:t>Twelfth Schedule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dirty="0">
                          <a:solidFill>
                            <a:srgbClr val="000000"/>
                          </a:solidFill>
                          <a:latin typeface="Calibri"/>
                        </a:rPr>
                        <a:t>By 74thamendment in 1992. Contains provisions of Municipal Corporation.</a:t>
                      </a:r>
                    </a:p>
                  </a:txBody>
                  <a:tcPr marL="60601"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Union and Its Territory </a:t>
            </a:r>
          </a:p>
        </p:txBody>
      </p:sp>
      <p:sp>
        <p:nvSpPr>
          <p:cNvPr id="3" name="Content Placeholder 2"/>
          <p:cNvSpPr>
            <a:spLocks noGrp="1"/>
          </p:cNvSpPr>
          <p:nvPr>
            <p:ph idx="1"/>
          </p:nvPr>
        </p:nvSpPr>
        <p:spPr/>
        <p:txBody>
          <a:bodyPr>
            <a:normAutofit/>
          </a:bodyPr>
          <a:lstStyle/>
          <a:p>
            <a:r>
              <a:rPr lang="en-US" sz="2800" dirty="0"/>
              <a:t>Art-1 – India that is Bharat shall be union of states </a:t>
            </a:r>
          </a:p>
          <a:p>
            <a:pPr>
              <a:buFont typeface="Wingdings" pitchFamily="2" charset="2"/>
              <a:buChar char="q"/>
            </a:pPr>
            <a:r>
              <a:rPr lang="en-US" sz="2800" dirty="0"/>
              <a:t> State can’t secede</a:t>
            </a:r>
          </a:p>
          <a:p>
            <a:pPr>
              <a:buFont typeface="Wingdings" pitchFamily="2" charset="2"/>
              <a:buChar char="q"/>
            </a:pPr>
            <a:r>
              <a:rPr lang="en-US" sz="2800" dirty="0"/>
              <a:t> Union is indestructible </a:t>
            </a:r>
          </a:p>
          <a:p>
            <a:r>
              <a:rPr lang="en-US" sz="2800" dirty="0"/>
              <a:t>Art 2-  The Parliament may by law admit new states into Union of India or established new states on term and conditions it deems fit </a:t>
            </a:r>
          </a:p>
          <a:p>
            <a:r>
              <a:rPr lang="en-US" sz="2800" dirty="0"/>
              <a:t>Art 3- Formation of new states and Alteration of Areas boundary or name </a:t>
            </a:r>
          </a:p>
          <a:p>
            <a:r>
              <a:rPr lang="en-US" sz="2800" dirty="0"/>
              <a:t>Art 4- Art 3&amp; 2 is not CAA</a:t>
            </a:r>
          </a:p>
          <a:p>
            <a:pPr>
              <a:buNone/>
            </a:pP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Citizenship </a:t>
            </a:r>
          </a:p>
        </p:txBody>
      </p:sp>
      <p:sp>
        <p:nvSpPr>
          <p:cNvPr id="3" name="Content Placeholder 2"/>
          <p:cNvSpPr>
            <a:spLocks noGrp="1"/>
          </p:cNvSpPr>
          <p:nvPr>
            <p:ph idx="1"/>
          </p:nvPr>
        </p:nvSpPr>
        <p:spPr>
          <a:xfrm>
            <a:off x="304800" y="1371600"/>
            <a:ext cx="8610600" cy="5486400"/>
          </a:xfrm>
        </p:spPr>
        <p:txBody>
          <a:bodyPr>
            <a:normAutofit fontScale="62500" lnSpcReduction="20000"/>
          </a:bodyPr>
          <a:lstStyle/>
          <a:p>
            <a:r>
              <a:rPr lang="en-US" dirty="0"/>
              <a:t>Art 5 to 10 says only 2 things regarding Citizenship</a:t>
            </a:r>
          </a:p>
          <a:p>
            <a:pPr>
              <a:buFont typeface="Wingdings" pitchFamily="2" charset="2"/>
              <a:buChar char="q"/>
            </a:pPr>
            <a:r>
              <a:rPr lang="en-US" dirty="0"/>
              <a:t>No dual Citizenship</a:t>
            </a:r>
          </a:p>
          <a:p>
            <a:pPr>
              <a:buFont typeface="Wingdings" pitchFamily="2" charset="2"/>
              <a:buChar char="q"/>
            </a:pPr>
            <a:r>
              <a:rPr lang="en-US" dirty="0"/>
              <a:t>No Dual Nationality </a:t>
            </a:r>
          </a:p>
          <a:p>
            <a:pPr>
              <a:buFont typeface="Wingdings" pitchFamily="2" charset="2"/>
              <a:buChar char="q"/>
            </a:pPr>
            <a:endParaRPr lang="en-US" sz="2800" dirty="0"/>
          </a:p>
          <a:p>
            <a:pPr>
              <a:buNone/>
            </a:pPr>
            <a:endParaRPr lang="en-US" sz="2800" dirty="0"/>
          </a:p>
          <a:p>
            <a:r>
              <a:rPr lang="en-US" sz="4000" b="1" dirty="0"/>
              <a:t>Citizens </a:t>
            </a:r>
            <a:r>
              <a:rPr lang="en-US" sz="4000" dirty="0"/>
              <a:t>are full members of the Indian state, enjoy full political and civil rights and owe allegiance to it. </a:t>
            </a:r>
          </a:p>
          <a:p>
            <a:r>
              <a:rPr lang="en-US" sz="4000" b="1" dirty="0"/>
              <a:t>Aliens </a:t>
            </a:r>
            <a:r>
              <a:rPr lang="en-US" sz="4000" dirty="0"/>
              <a:t>on the other hand are citizens of some other states and do not enjoy it.</a:t>
            </a:r>
          </a:p>
          <a:p>
            <a:r>
              <a:rPr lang="en-US" sz="4000" b="1" dirty="0"/>
              <a:t>Aliens </a:t>
            </a:r>
            <a:r>
              <a:rPr lang="en-US" sz="4000" dirty="0"/>
              <a:t>are further classified into </a:t>
            </a:r>
            <a:r>
              <a:rPr lang="en-US" sz="4000" b="1" dirty="0"/>
              <a:t>friendly </a:t>
            </a:r>
            <a:r>
              <a:rPr lang="en-US" sz="4000" dirty="0"/>
              <a:t>aliens(people of country with which India has cordial relations) and</a:t>
            </a:r>
          </a:p>
          <a:p>
            <a:r>
              <a:rPr lang="en-US" sz="4000" b="1" dirty="0"/>
              <a:t>Enemy </a:t>
            </a:r>
            <a:r>
              <a:rPr lang="en-US" sz="4000" dirty="0"/>
              <a:t>aliens (people of the country with which </a:t>
            </a:r>
            <a:r>
              <a:rPr lang="en-US" sz="4000" dirty="0" err="1"/>
              <a:t>india</a:t>
            </a:r>
            <a:r>
              <a:rPr lang="en-US" sz="4000" dirty="0"/>
              <a:t> is at war).</a:t>
            </a:r>
          </a:p>
          <a:p>
            <a:r>
              <a:rPr lang="en-US" sz="4000" b="1" dirty="0"/>
              <a:t>Enemy aliens </a:t>
            </a:r>
            <a:r>
              <a:rPr lang="en-US" sz="4000" dirty="0"/>
              <a:t>do not enjoy protection against arrest and detention (</a:t>
            </a:r>
            <a:r>
              <a:rPr lang="en-US" sz="4000" b="1" dirty="0"/>
              <a:t>Article 22</a:t>
            </a:r>
            <a:r>
              <a:rPr lang="en-US" sz="4000" dirty="0"/>
              <a:t>)</a:t>
            </a:r>
          </a:p>
          <a:p>
            <a:pPr>
              <a:buNone/>
            </a:pPr>
            <a:r>
              <a:rPr lang="en-US" sz="2800"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Citizenship</a:t>
            </a:r>
          </a:p>
        </p:txBody>
      </p:sp>
      <p:sp>
        <p:nvSpPr>
          <p:cNvPr id="3" name="Content Placeholder 2"/>
          <p:cNvSpPr>
            <a:spLocks noGrp="1"/>
          </p:cNvSpPr>
          <p:nvPr>
            <p:ph idx="1"/>
          </p:nvPr>
        </p:nvSpPr>
        <p:spPr/>
        <p:txBody>
          <a:bodyPr/>
          <a:lstStyle/>
          <a:p>
            <a:pPr>
              <a:buFont typeface="Wingdings" pitchFamily="2" charset="2"/>
              <a:buChar char="q"/>
            </a:pPr>
            <a:r>
              <a:rPr lang="en-US" dirty="0"/>
              <a:t> Right to vote</a:t>
            </a:r>
          </a:p>
          <a:p>
            <a:pPr>
              <a:buFont typeface="Wingdings" pitchFamily="2" charset="2"/>
              <a:buChar char="q"/>
            </a:pPr>
            <a:r>
              <a:rPr lang="en-US" dirty="0"/>
              <a:t> Right to contest for contest for membership for parliament </a:t>
            </a:r>
          </a:p>
          <a:p>
            <a:pPr>
              <a:buFont typeface="Wingdings" pitchFamily="2" charset="2"/>
              <a:buChar char="q"/>
            </a:pPr>
            <a:r>
              <a:rPr lang="en-US" dirty="0"/>
              <a:t> Right to hold certain public offices that is President of India and Vice president </a:t>
            </a:r>
          </a:p>
          <a:p>
            <a:pPr>
              <a:buFont typeface="Wingdings" pitchFamily="2" charset="2"/>
              <a:buChar char="q"/>
            </a:pPr>
            <a:r>
              <a:rPr lang="en-US" dirty="0"/>
              <a:t> Article- 15,16,19,29,30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Citizenship</a:t>
            </a:r>
          </a:p>
        </p:txBody>
      </p:sp>
      <p:sp>
        <p:nvSpPr>
          <p:cNvPr id="3" name="Content Placeholder 2"/>
          <p:cNvSpPr>
            <a:spLocks noGrp="1"/>
          </p:cNvSpPr>
          <p:nvPr>
            <p:ph idx="1"/>
          </p:nvPr>
        </p:nvSpPr>
        <p:spPr/>
        <p:txBody>
          <a:bodyPr/>
          <a:lstStyle/>
          <a:p>
            <a:pPr marL="514350" indent="-514350">
              <a:buNone/>
            </a:pPr>
            <a:r>
              <a:rPr lang="en-US" dirty="0"/>
              <a:t>Acquisition of Citizenship</a:t>
            </a:r>
          </a:p>
          <a:p>
            <a:pPr marL="514350" indent="-514350">
              <a:buFont typeface="Wingdings" pitchFamily="2" charset="2"/>
              <a:buChar char="q"/>
            </a:pPr>
            <a:r>
              <a:rPr lang="en-US" dirty="0"/>
              <a:t>By Birth </a:t>
            </a:r>
          </a:p>
          <a:p>
            <a:pPr marL="514350" indent="-514350">
              <a:buFont typeface="Wingdings" pitchFamily="2" charset="2"/>
              <a:buChar char="q"/>
            </a:pPr>
            <a:r>
              <a:rPr lang="en-US" dirty="0"/>
              <a:t>By Decent</a:t>
            </a:r>
          </a:p>
          <a:p>
            <a:pPr marL="514350" indent="-514350">
              <a:buFont typeface="Wingdings" pitchFamily="2" charset="2"/>
              <a:buChar char="q"/>
            </a:pPr>
            <a:r>
              <a:rPr lang="en-US" dirty="0"/>
              <a:t>By Registration </a:t>
            </a:r>
          </a:p>
          <a:p>
            <a:pPr marL="514350" indent="-514350">
              <a:buNone/>
            </a:pPr>
            <a:r>
              <a:rPr lang="en-US" dirty="0"/>
              <a:t>1)PIO  2)Citizen of Common wealth states </a:t>
            </a:r>
          </a:p>
          <a:p>
            <a:pPr marL="514350" indent="-514350">
              <a:buNone/>
            </a:pPr>
            <a:r>
              <a:rPr lang="en-US" dirty="0"/>
              <a:t>3) Women married to Indian Men</a:t>
            </a:r>
          </a:p>
          <a:p>
            <a:pPr marL="514350" indent="-514350">
              <a:buNone/>
            </a:pPr>
            <a:r>
              <a:rPr lang="en-US" dirty="0"/>
              <a:t>4) Minor Children of Indian Parents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itchFamily="2" charset="2"/>
              <a:buChar char="q"/>
            </a:pPr>
            <a:r>
              <a:rPr lang="en-US" dirty="0"/>
              <a:t> By Naturalization </a:t>
            </a:r>
          </a:p>
          <a:p>
            <a:pPr>
              <a:buNone/>
            </a:pPr>
            <a:r>
              <a:rPr lang="en-US" dirty="0"/>
              <a:t>10 years – 90 days/Calendar year </a:t>
            </a:r>
            <a:r>
              <a:rPr lang="en-US" sz="2800" dirty="0"/>
              <a:t>(Mother Teresa)</a:t>
            </a:r>
          </a:p>
          <a:p>
            <a:pPr>
              <a:buNone/>
            </a:pPr>
            <a:endParaRPr lang="en-US" sz="2800" dirty="0"/>
          </a:p>
          <a:p>
            <a:pPr>
              <a:buFont typeface="Wingdings" pitchFamily="2" charset="2"/>
              <a:buChar char="q"/>
            </a:pPr>
            <a:r>
              <a:rPr lang="en-US" sz="2800" dirty="0"/>
              <a:t> By Incorporation of a new Territory </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Loss of Citizenship</a:t>
            </a:r>
          </a:p>
        </p:txBody>
      </p:sp>
      <p:sp>
        <p:nvSpPr>
          <p:cNvPr id="3" name="Content Placeholder 2"/>
          <p:cNvSpPr>
            <a:spLocks noGrp="1"/>
          </p:cNvSpPr>
          <p:nvPr>
            <p:ph idx="1"/>
          </p:nvPr>
        </p:nvSpPr>
        <p:spPr/>
        <p:txBody>
          <a:bodyPr/>
          <a:lstStyle/>
          <a:p>
            <a:pPr>
              <a:buFont typeface="Wingdings" pitchFamily="2" charset="2"/>
              <a:buChar char="q"/>
            </a:pPr>
            <a:r>
              <a:rPr lang="en-US" dirty="0"/>
              <a:t> By Renunciation- Surrendering the citizenship</a:t>
            </a:r>
          </a:p>
          <a:p>
            <a:pPr>
              <a:buFont typeface="Wingdings" pitchFamily="2" charset="2"/>
              <a:buChar char="q"/>
            </a:pPr>
            <a:r>
              <a:rPr lang="en-US" dirty="0"/>
              <a:t> By Termination – If a person on acquiring the citizenship of another country </a:t>
            </a:r>
          </a:p>
          <a:p>
            <a:pPr>
              <a:buFont typeface="Wingdings" pitchFamily="2" charset="2"/>
              <a:buChar char="q"/>
            </a:pPr>
            <a:r>
              <a:rPr lang="en-US" dirty="0"/>
              <a:t>By Deprivation  </a:t>
            </a:r>
          </a:p>
          <a:p>
            <a:pPr marL="514350" indent="-514350">
              <a:buFont typeface="+mj-lt"/>
              <a:buAutoNum type="alphaLcParenR"/>
            </a:pPr>
            <a:r>
              <a:rPr lang="en-US" dirty="0"/>
              <a:t> Fraud</a:t>
            </a:r>
          </a:p>
          <a:p>
            <a:pPr marL="514350" indent="-514350">
              <a:buFont typeface="+mj-lt"/>
              <a:buAutoNum type="alphaLcParenR"/>
            </a:pPr>
            <a:r>
              <a:rPr lang="en-US" dirty="0"/>
              <a:t>Disloyalty to Constitution </a:t>
            </a:r>
          </a:p>
          <a:p>
            <a:pPr marL="514350" indent="-514350">
              <a:buFont typeface="+mj-lt"/>
              <a:buAutoNum type="alphaLcParenR"/>
            </a:pPr>
            <a:r>
              <a:rPr lang="en-US" dirty="0"/>
              <a:t>Helped the enemy during War </a:t>
            </a:r>
          </a:p>
          <a:p>
            <a:pPr marL="514350" indent="-514350">
              <a:buFont typeface="+mj-lt"/>
              <a:buAutoNum type="alphaLcParenR"/>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Fundamental Rights (Art 12-35)</a:t>
            </a:r>
          </a:p>
        </p:txBody>
      </p:sp>
      <p:sp>
        <p:nvSpPr>
          <p:cNvPr id="3" name="Content Placeholder 2"/>
          <p:cNvSpPr>
            <a:spLocks noGrp="1"/>
          </p:cNvSpPr>
          <p:nvPr>
            <p:ph idx="1"/>
          </p:nvPr>
        </p:nvSpPr>
        <p:spPr/>
        <p:txBody>
          <a:bodyPr/>
          <a:lstStyle/>
          <a:p>
            <a:r>
              <a:rPr lang="en-US" dirty="0"/>
              <a:t>Justifiable &amp; Enforceable in the court of law</a:t>
            </a:r>
          </a:p>
          <a:p>
            <a:r>
              <a:rPr lang="en-US" dirty="0"/>
              <a:t>Guaranteed and protected by the constitution </a:t>
            </a:r>
          </a:p>
          <a:p>
            <a:r>
              <a:rPr lang="en-US" dirty="0"/>
              <a:t>UNDHR- Universal Declaration of Human  Rights</a:t>
            </a:r>
          </a:p>
          <a:p>
            <a:pPr>
              <a:buNone/>
            </a:pPr>
            <a:r>
              <a:rPr lang="en-US" dirty="0"/>
              <a:t>Declaration adopted by UN General Assembly of 10 Dec -1948</a:t>
            </a:r>
          </a:p>
          <a:p>
            <a:pPr>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782762"/>
          </a:xfrm>
        </p:spPr>
        <p:txBody>
          <a:bodyPr>
            <a:normAutofit fontScale="90000"/>
          </a:bodyPr>
          <a:lstStyle/>
          <a:p>
            <a:pPr algn="l"/>
            <a:r>
              <a:rPr lang="en-US" sz="2700" b="1" dirty="0"/>
              <a:t>Absolute Rights- </a:t>
            </a:r>
            <a:r>
              <a:rPr lang="en-US" sz="2700" dirty="0"/>
              <a:t>Absolute right is a right which has no exceptions in it applicability while qualified right is available subject to certain conditions</a:t>
            </a:r>
            <a:r>
              <a:rPr lang="en-US" sz="4900" dirty="0"/>
              <a:t>.</a:t>
            </a:r>
            <a:br>
              <a:rPr lang="en-US" sz="4900" dirty="0"/>
            </a:br>
            <a:r>
              <a:rPr lang="en-US" sz="3100" dirty="0"/>
              <a:t>Article- 17,24,25, 25(1)</a:t>
            </a:r>
            <a:endParaRPr lang="en-US" dirty="0"/>
          </a:p>
        </p:txBody>
      </p:sp>
      <p:sp>
        <p:nvSpPr>
          <p:cNvPr id="3" name="Content Placeholder 2"/>
          <p:cNvSpPr>
            <a:spLocks noGrp="1"/>
          </p:cNvSpPr>
          <p:nvPr>
            <p:ph idx="1"/>
          </p:nvPr>
        </p:nvSpPr>
        <p:spPr>
          <a:xfrm>
            <a:off x="457200" y="2438400"/>
            <a:ext cx="8229600" cy="3687763"/>
          </a:xfrm>
        </p:spPr>
        <p:txBody>
          <a:bodyPr/>
          <a:lstStyle/>
          <a:p>
            <a:r>
              <a:rPr lang="en-US" dirty="0"/>
              <a:t>Amenability of Fundamental rights</a:t>
            </a:r>
          </a:p>
          <a:p>
            <a:pPr>
              <a:buNone/>
            </a:pPr>
            <a:endParaRPr lang="en-US" dirty="0"/>
          </a:p>
          <a:p>
            <a:pPr>
              <a:buFont typeface="Wingdings" pitchFamily="2" charset="2"/>
              <a:buChar char="q"/>
            </a:pPr>
            <a:r>
              <a:rPr lang="en-US" dirty="0"/>
              <a:t> </a:t>
            </a:r>
            <a:r>
              <a:rPr lang="en-US" dirty="0" err="1"/>
              <a:t>Golakhnath</a:t>
            </a:r>
            <a:r>
              <a:rPr lang="en-US" dirty="0"/>
              <a:t> v/s State of Punjab (1967)</a:t>
            </a:r>
          </a:p>
          <a:p>
            <a:pPr>
              <a:buFont typeface="Wingdings" pitchFamily="2" charset="2"/>
              <a:buChar char="q"/>
            </a:pPr>
            <a:r>
              <a:rPr lang="en-US" dirty="0"/>
              <a:t> </a:t>
            </a:r>
            <a:r>
              <a:rPr lang="en-US" dirty="0" err="1"/>
              <a:t>Keshvanand</a:t>
            </a:r>
            <a:r>
              <a:rPr lang="en-US" dirty="0"/>
              <a:t> </a:t>
            </a:r>
            <a:r>
              <a:rPr lang="en-US" dirty="0" err="1"/>
              <a:t>Bharti</a:t>
            </a:r>
            <a:r>
              <a:rPr lang="en-US" dirty="0"/>
              <a:t> v/s State of Kerala (1973) </a:t>
            </a:r>
          </a:p>
          <a:p>
            <a:pPr>
              <a:buNone/>
            </a:pPr>
            <a:r>
              <a:rPr lang="en-US"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Emergency</a:t>
            </a:r>
          </a:p>
        </p:txBody>
      </p:sp>
      <p:sp>
        <p:nvSpPr>
          <p:cNvPr id="3" name="Content Placeholder 2"/>
          <p:cNvSpPr>
            <a:spLocks noGrp="1"/>
          </p:cNvSpPr>
          <p:nvPr>
            <p:ph idx="1"/>
          </p:nvPr>
        </p:nvSpPr>
        <p:spPr>
          <a:xfrm>
            <a:off x="0" y="1295400"/>
            <a:ext cx="8915400" cy="5257800"/>
          </a:xfrm>
        </p:spPr>
        <p:txBody>
          <a:bodyPr>
            <a:normAutofit/>
          </a:bodyPr>
          <a:lstStyle/>
          <a:p>
            <a:r>
              <a:rPr lang="en-US" u="sng" dirty="0"/>
              <a:t>National emergency under article 352</a:t>
            </a:r>
          </a:p>
          <a:p>
            <a:pPr>
              <a:buNone/>
            </a:pPr>
            <a:r>
              <a:rPr lang="en-US" sz="2800" dirty="0"/>
              <a:t>It can be declared on the basis of external aggression or armed rebellion in the whole of India or a part of its territory</a:t>
            </a:r>
            <a:endParaRPr lang="en-US" sz="4000" dirty="0"/>
          </a:p>
          <a:p>
            <a:pPr lvl="1"/>
            <a:r>
              <a:rPr lang="en-US" sz="2400" dirty="0"/>
              <a:t>During emergency, President can suspend all other fundamental rights also except Article 20 (protection in respect of conviction for offences) and Article 21 (Protection of life and personal liberty). Such suspension needs parliamentary approval</a:t>
            </a:r>
            <a:r>
              <a:rPr lang="en-US" sz="4400" dirty="0"/>
              <a:t>. </a:t>
            </a:r>
          </a:p>
          <a:p>
            <a:pPr lvl="1"/>
            <a:r>
              <a:rPr lang="en-US" sz="2400" dirty="0"/>
              <a:t>Art 19 can be suspended</a:t>
            </a:r>
          </a:p>
          <a:p>
            <a:pPr>
              <a:buNone/>
            </a:pPr>
            <a:r>
              <a:rPr lang="en-US" dirty="0"/>
              <a:t> </a:t>
            </a:r>
          </a:p>
          <a:p>
            <a:pPr>
              <a:buNone/>
            </a:pPr>
            <a:endParaRPr lang="en-US" dirty="0"/>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33400"/>
            <a:ext cx="9144000" cy="5592763"/>
          </a:xfrm>
        </p:spPr>
        <p:txBody>
          <a:bodyPr/>
          <a:lstStyle/>
          <a:p>
            <a:r>
              <a:rPr lang="en-US" sz="3600" dirty="0"/>
              <a:t> </a:t>
            </a:r>
            <a:r>
              <a:rPr lang="en-US" sz="3600" u="sng" dirty="0"/>
              <a:t>State Emergency under Article 356</a:t>
            </a:r>
          </a:p>
          <a:p>
            <a:pPr lvl="1">
              <a:buNone/>
            </a:pPr>
            <a:r>
              <a:rPr lang="en-US" sz="2400" dirty="0"/>
              <a:t>If the President is satisfied, based on the report of the Governor of the concerned state or from other sources, that the governance in a state cannot be carried out according to the provisions in the Constitution, he may declare an emergency in the state </a:t>
            </a:r>
          </a:p>
          <a:p>
            <a:pPr lvl="1">
              <a:buNone/>
            </a:pPr>
            <a:endParaRPr lang="en-US" sz="1400" dirty="0"/>
          </a:p>
          <a:p>
            <a:pPr lvl="1">
              <a:buNone/>
            </a:pPr>
            <a:endParaRPr lang="en-US" sz="1400" dirty="0"/>
          </a:p>
          <a:p>
            <a:pPr lvl="1">
              <a:buNone/>
            </a:pPr>
            <a:endParaRPr lang="en-US" sz="1400" dirty="0"/>
          </a:p>
          <a:p>
            <a:r>
              <a:rPr lang="en-US" u="sng" dirty="0"/>
              <a:t>Financial Emergency Under Article 360</a:t>
            </a:r>
          </a:p>
          <a:p>
            <a:pPr>
              <a:buNone/>
            </a:pPr>
            <a:r>
              <a:rPr lang="en-US" sz="2800" dirty="0"/>
              <a:t>If the President is satisfied that there is an economic situation in which the financial stability or credit of India is threatened, he or she can declare financial emergency </a:t>
            </a:r>
          </a:p>
          <a:p>
            <a:endParaRPr lang="en-US" dirty="0"/>
          </a:p>
        </p:txBody>
      </p:sp>
      <mc:AlternateContent xmlns:mc="http://schemas.openxmlformats.org/markup-compatibility/2006" xmlns:p14="http://schemas.microsoft.com/office/powerpoint/2010/main">
        <mc:Choice Requires="p14">
          <p:contentPart p14:bwMode="auto" r:id="rId2">
            <p14:nvContentPartPr>
              <p14:cNvPr id="1026" name="Ink 2"/>
              <p14:cNvContentPartPr>
                <a14:cpLocks xmlns:a14="http://schemas.microsoft.com/office/drawing/2010/main" noRot="1" noChangeAspect="1" noEditPoints="1" noChangeArrowheads="1" noChangeShapeType="1"/>
              </p14:cNvContentPartPr>
              <p14:nvPr/>
            </p14:nvContentPartPr>
            <p14:xfrm>
              <a:off x="598488" y="1928813"/>
              <a:ext cx="768350" cy="357187"/>
            </p14:xfrm>
          </p:contentPart>
        </mc:Choice>
        <mc:Fallback xmlns="">
          <p:pic>
            <p:nvPicPr>
              <p:cNvPr id="1026" name="Ink 2"/>
              <p:cNvPicPr>
                <a:picLocks noRot="1" noChangeAspect="1" noEditPoints="1" noChangeArrowheads="1" noChangeShapeType="1"/>
              </p:cNvPicPr>
              <p:nvPr/>
            </p:nvPicPr>
            <p:blipFill>
              <a:blip r:embed="rId3"/>
              <a:stretch>
                <a:fillRect/>
              </a:stretch>
            </p:blipFill>
            <p:spPr>
              <a:xfrm>
                <a:off x="589127" y="1919717"/>
                <a:ext cx="787073" cy="375379"/>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27" name="Ink 3"/>
              <p14:cNvContentPartPr>
                <a14:cpLocks xmlns:a14="http://schemas.microsoft.com/office/drawing/2010/main" noRot="1" noChangeAspect="1" noEditPoints="1" noChangeArrowheads="1" noChangeShapeType="1"/>
              </p14:cNvContentPartPr>
              <p14:nvPr/>
            </p14:nvContentPartPr>
            <p14:xfrm>
              <a:off x="7062788" y="2214563"/>
              <a:ext cx="1019175" cy="839787"/>
            </p14:xfrm>
          </p:contentPart>
        </mc:Choice>
        <mc:Fallback xmlns="">
          <p:pic>
            <p:nvPicPr>
              <p:cNvPr id="1027" name="Ink 3"/>
              <p:cNvPicPr>
                <a:picLocks noRot="1" noChangeAspect="1" noEditPoints="1" noChangeArrowheads="1" noChangeShapeType="1"/>
              </p:cNvPicPr>
              <p:nvPr/>
            </p:nvPicPr>
            <p:blipFill>
              <a:blip r:embed="rId5"/>
              <a:stretch>
                <a:fillRect/>
              </a:stretch>
            </p:blipFill>
            <p:spPr>
              <a:xfrm>
                <a:off x="7053438" y="2205272"/>
                <a:ext cx="1037875" cy="85837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28" name="Ink 4"/>
              <p14:cNvContentPartPr>
                <a14:cpLocks xmlns:a14="http://schemas.microsoft.com/office/drawing/2010/main" noRot="1" noChangeAspect="1" noEditPoints="1" noChangeArrowheads="1" noChangeShapeType="1"/>
              </p14:cNvContentPartPr>
              <p14:nvPr/>
            </p14:nvContentPartPr>
            <p14:xfrm>
              <a:off x="4697413" y="4518025"/>
              <a:ext cx="4027487" cy="80963"/>
            </p14:xfrm>
          </p:contentPart>
        </mc:Choice>
        <mc:Fallback xmlns="">
          <p:pic>
            <p:nvPicPr>
              <p:cNvPr id="1028" name="Ink 4"/>
              <p:cNvPicPr>
                <a:picLocks noRot="1" noChangeAspect="1" noEditPoints="1" noChangeArrowheads="1" noChangeShapeType="1"/>
              </p:cNvPicPr>
              <p:nvPr/>
            </p:nvPicPr>
            <p:blipFill>
              <a:blip r:embed="rId7"/>
              <a:stretch>
                <a:fillRect/>
              </a:stretch>
            </p:blipFill>
            <p:spPr>
              <a:xfrm>
                <a:off x="4688053" y="4508628"/>
                <a:ext cx="4046206" cy="99758"/>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29" name="Ink 5"/>
              <p14:cNvContentPartPr>
                <a14:cpLocks xmlns:a14="http://schemas.microsoft.com/office/drawing/2010/main" noRot="1" noChangeAspect="1" noEditPoints="1" noChangeArrowheads="1" noChangeShapeType="1"/>
              </p14:cNvContentPartPr>
              <p14:nvPr/>
            </p14:nvContentPartPr>
            <p14:xfrm>
              <a:off x="660400" y="4911725"/>
              <a:ext cx="7170738" cy="231775"/>
            </p14:xfrm>
          </p:contentPart>
        </mc:Choice>
        <mc:Fallback xmlns="">
          <p:pic>
            <p:nvPicPr>
              <p:cNvPr id="1029" name="Ink 5"/>
              <p:cNvPicPr>
                <a:picLocks noRot="1" noChangeAspect="1" noEditPoints="1" noChangeArrowheads="1" noChangeShapeType="1"/>
              </p:cNvPicPr>
              <p:nvPr/>
            </p:nvPicPr>
            <p:blipFill>
              <a:blip r:embed="rId9"/>
              <a:stretch>
                <a:fillRect/>
              </a:stretch>
            </p:blipFill>
            <p:spPr>
              <a:xfrm>
                <a:off x="651040" y="4902511"/>
                <a:ext cx="7189458" cy="2502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30" name="Ink 6"/>
              <p14:cNvContentPartPr>
                <a14:cpLocks xmlns:a14="http://schemas.microsoft.com/office/drawing/2010/main" noRot="1" noChangeAspect="1" noEditPoints="1" noChangeArrowheads="1" noChangeShapeType="1"/>
              </p14:cNvContentPartPr>
              <p14:nvPr/>
            </p14:nvContentPartPr>
            <p14:xfrm>
              <a:off x="482600" y="5322888"/>
              <a:ext cx="7885113" cy="150812"/>
            </p14:xfrm>
          </p:contentPart>
        </mc:Choice>
        <mc:Fallback xmlns="">
          <p:pic>
            <p:nvPicPr>
              <p:cNvPr id="1030" name="Ink 6"/>
              <p:cNvPicPr>
                <a:picLocks noRot="1" noChangeAspect="1" noEditPoints="1" noChangeArrowheads="1" noChangeShapeType="1"/>
              </p:cNvPicPr>
              <p:nvPr/>
            </p:nvPicPr>
            <p:blipFill>
              <a:blip r:embed="rId11"/>
              <a:stretch>
                <a:fillRect/>
              </a:stretch>
            </p:blipFill>
            <p:spPr>
              <a:xfrm>
                <a:off x="473240" y="5313976"/>
                <a:ext cx="7903832" cy="168635"/>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Fundamental rights (Art 12-35)</a:t>
            </a:r>
          </a:p>
        </p:txBody>
      </p:sp>
      <p:sp>
        <p:nvSpPr>
          <p:cNvPr id="3" name="Content Placeholder 2"/>
          <p:cNvSpPr>
            <a:spLocks noGrp="1"/>
          </p:cNvSpPr>
          <p:nvPr>
            <p:ph idx="1"/>
          </p:nvPr>
        </p:nvSpPr>
        <p:spPr/>
        <p:txBody>
          <a:bodyPr/>
          <a:lstStyle/>
          <a:p>
            <a:pPr>
              <a:buFont typeface="Wingdings" pitchFamily="2" charset="2"/>
              <a:buChar char="q"/>
            </a:pPr>
            <a:r>
              <a:rPr lang="en-US" dirty="0"/>
              <a:t>Right to equality (14-18)</a:t>
            </a:r>
          </a:p>
          <a:p>
            <a:pPr>
              <a:buFont typeface="Wingdings" pitchFamily="2" charset="2"/>
              <a:buChar char="q"/>
            </a:pPr>
            <a:r>
              <a:rPr lang="en-US" dirty="0"/>
              <a:t>Right to Freedom (19-21,21A,22)</a:t>
            </a:r>
          </a:p>
          <a:p>
            <a:pPr>
              <a:buFont typeface="Wingdings" pitchFamily="2" charset="2"/>
              <a:buChar char="q"/>
            </a:pPr>
            <a:r>
              <a:rPr lang="en-US" dirty="0"/>
              <a:t>Right Against Exploitation (23-24)</a:t>
            </a:r>
          </a:p>
          <a:p>
            <a:pPr>
              <a:buFont typeface="Wingdings" pitchFamily="2" charset="2"/>
              <a:buChar char="q"/>
            </a:pPr>
            <a:r>
              <a:rPr lang="en-US" dirty="0"/>
              <a:t>Right to Religion (25-28)</a:t>
            </a:r>
          </a:p>
          <a:p>
            <a:pPr>
              <a:buFont typeface="Wingdings" pitchFamily="2" charset="2"/>
              <a:buChar char="q"/>
            </a:pPr>
            <a:r>
              <a:rPr lang="en-US" dirty="0"/>
              <a:t>Cultural &amp; Educational Right (29-30)</a:t>
            </a:r>
          </a:p>
          <a:p>
            <a:pPr>
              <a:buFont typeface="Wingdings" pitchFamily="2" charset="2"/>
              <a:buChar char="q"/>
            </a:pPr>
            <a:r>
              <a:rPr lang="en-US" dirty="0"/>
              <a:t>Right to constitutional remedy (AA 32)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 to Equality</a:t>
            </a:r>
          </a:p>
        </p:txBody>
      </p:sp>
      <p:sp>
        <p:nvSpPr>
          <p:cNvPr id="3" name="Content Placeholder 2"/>
          <p:cNvSpPr>
            <a:spLocks noGrp="1"/>
          </p:cNvSpPr>
          <p:nvPr>
            <p:ph idx="1"/>
          </p:nvPr>
        </p:nvSpPr>
        <p:spPr>
          <a:xfrm>
            <a:off x="457200" y="1600200"/>
            <a:ext cx="8229600" cy="4876800"/>
          </a:xfrm>
        </p:spPr>
        <p:txBody>
          <a:bodyPr>
            <a:normAutofit lnSpcReduction="10000"/>
          </a:bodyPr>
          <a:lstStyle/>
          <a:p>
            <a:pPr>
              <a:buFont typeface="Wingdings" pitchFamily="2" charset="2"/>
              <a:buChar char="q"/>
            </a:pPr>
            <a:r>
              <a:rPr lang="en-US" dirty="0"/>
              <a:t> Art -14- Equality before law &amp; Equal protection of Law</a:t>
            </a:r>
          </a:p>
          <a:p>
            <a:pPr>
              <a:buFont typeface="Wingdings" pitchFamily="2" charset="2"/>
              <a:buChar char="q"/>
            </a:pPr>
            <a:r>
              <a:rPr lang="en-US" dirty="0"/>
              <a:t> Art 15 – Right against Discrimination</a:t>
            </a:r>
          </a:p>
          <a:p>
            <a:pPr marL="342900" lvl="1" indent="-342900">
              <a:buNone/>
            </a:pPr>
            <a:r>
              <a:rPr lang="en-US" sz="1800" dirty="0"/>
              <a:t>       -</a:t>
            </a:r>
            <a:r>
              <a:rPr lang="en-US" sz="2400" dirty="0"/>
              <a:t>No discrimination on the basis of caste, race, religion, sex, or place of birth </a:t>
            </a:r>
            <a:endParaRPr lang="en-US" sz="1800" dirty="0"/>
          </a:p>
          <a:p>
            <a:pPr>
              <a:buFont typeface="Wingdings" pitchFamily="2" charset="2"/>
              <a:buChar char="q"/>
            </a:pPr>
            <a:r>
              <a:rPr lang="en-US" dirty="0"/>
              <a:t> Art 16 – Equality of Opportunity </a:t>
            </a:r>
          </a:p>
          <a:p>
            <a:pPr>
              <a:buFont typeface="Wingdings" pitchFamily="2" charset="2"/>
              <a:buChar char="q"/>
            </a:pPr>
            <a:r>
              <a:rPr lang="en-US" dirty="0"/>
              <a:t> Art 17 – Abolition of Untouchability </a:t>
            </a:r>
          </a:p>
          <a:p>
            <a:pPr>
              <a:buFont typeface="Wingdings" pitchFamily="2" charset="2"/>
              <a:buChar char="q"/>
            </a:pPr>
            <a:r>
              <a:rPr lang="en-US" dirty="0"/>
              <a:t>Art 18 – Abolition of Titles</a:t>
            </a:r>
          </a:p>
          <a:p>
            <a:pPr>
              <a:buNone/>
            </a:pPr>
            <a:r>
              <a:rPr lang="en-US" sz="1600" dirty="0"/>
              <a:t>      -</a:t>
            </a:r>
            <a:r>
              <a:rPr lang="en-US" sz="2000" dirty="0"/>
              <a:t>Prohibits the state to confer titles to anyone citizen or non citizen, exception Military &amp; Academic Distinction </a:t>
            </a:r>
            <a:endParaRPr lang="en-US" sz="1600" dirty="0"/>
          </a:p>
          <a:p>
            <a:pPr>
              <a:buFont typeface="Wingdings" pitchFamily="2" charset="2"/>
              <a:buChar char="q"/>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 to freedom</a:t>
            </a:r>
          </a:p>
        </p:txBody>
      </p:sp>
      <p:sp>
        <p:nvSpPr>
          <p:cNvPr id="3" name="Content Placeholder 2"/>
          <p:cNvSpPr>
            <a:spLocks noGrp="1"/>
          </p:cNvSpPr>
          <p:nvPr>
            <p:ph idx="1"/>
          </p:nvPr>
        </p:nvSpPr>
        <p:spPr/>
        <p:txBody>
          <a:bodyPr>
            <a:normAutofit fontScale="92500" lnSpcReduction="20000"/>
          </a:bodyPr>
          <a:lstStyle/>
          <a:p>
            <a:r>
              <a:rPr lang="en-US" sz="3500" dirty="0"/>
              <a:t>19.1.A- Freedom of Speech &amp; expression with no geographical limitation </a:t>
            </a:r>
          </a:p>
          <a:p>
            <a:pPr>
              <a:buNone/>
            </a:pPr>
            <a:r>
              <a:rPr lang="en-US" sz="1700" dirty="0"/>
              <a:t>         -   (</a:t>
            </a:r>
            <a:r>
              <a:rPr lang="en-US" sz="2200" i="1" dirty="0"/>
              <a:t>Right to Information) (Freedom of Press) (Right to privacy) (Right to silence) (Right to demonstrate or hoist  national Flag)</a:t>
            </a:r>
            <a:endParaRPr lang="en-US" sz="3500" i="1" dirty="0"/>
          </a:p>
          <a:p>
            <a:r>
              <a:rPr lang="en-US" sz="3500" dirty="0"/>
              <a:t>19.1.B- Freedom of Assembly</a:t>
            </a:r>
          </a:p>
          <a:p>
            <a:r>
              <a:rPr lang="en-US" sz="3500" dirty="0"/>
              <a:t> 19.1.C- Freedom to form Association  </a:t>
            </a:r>
          </a:p>
          <a:p>
            <a:pPr>
              <a:buNone/>
            </a:pPr>
            <a:r>
              <a:rPr lang="en-US" sz="2200" dirty="0"/>
              <a:t>        - (Except Armed force, Police Force, Military etc)</a:t>
            </a:r>
          </a:p>
          <a:p>
            <a:r>
              <a:rPr lang="en-US" sz="3500" dirty="0"/>
              <a:t>19.1.D- Freedom of Movement</a:t>
            </a:r>
          </a:p>
          <a:p>
            <a:r>
              <a:rPr lang="en-US" sz="3500" dirty="0"/>
              <a:t>19.1.E- Freedom of Residence</a:t>
            </a:r>
          </a:p>
          <a:p>
            <a:r>
              <a:rPr lang="en-US" sz="3500" dirty="0"/>
              <a:t>19.1.G- Right to Trade &amp; Occupation </a:t>
            </a:r>
          </a:p>
          <a:p>
            <a:pPr>
              <a:buFontTx/>
              <a:buChar char="-"/>
            </a:pPr>
            <a:r>
              <a:rPr lang="en-US" sz="2000" dirty="0"/>
              <a:t>  </a:t>
            </a:r>
          </a:p>
          <a:p>
            <a:pPr>
              <a:buNone/>
            </a:pP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Art 20 – Protection in respect of conviction for offense </a:t>
            </a:r>
          </a:p>
          <a:p>
            <a:pPr marL="514350" indent="-514350">
              <a:buAutoNum type="arabicParenBoth"/>
            </a:pPr>
            <a:r>
              <a:rPr lang="en-US" dirty="0"/>
              <a:t>- No ex-post facto law – Punishment should be proportionate </a:t>
            </a:r>
          </a:p>
          <a:p>
            <a:pPr marL="514350" indent="-514350">
              <a:buAutoNum type="arabicParenBoth"/>
            </a:pPr>
            <a:r>
              <a:rPr lang="en-US" dirty="0"/>
              <a:t>- No double jeopardy – Punishment for the same offence </a:t>
            </a:r>
          </a:p>
          <a:p>
            <a:pPr marL="514350" indent="-514350">
              <a:buAutoNum type="arabicParenBoth"/>
            </a:pPr>
            <a:r>
              <a:rPr lang="en-US" dirty="0"/>
              <a:t>- No self incrimination – No self witness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57200"/>
            <a:ext cx="9144000" cy="6096000"/>
          </a:xfrm>
        </p:spPr>
        <p:txBody>
          <a:bodyPr>
            <a:normAutofit/>
          </a:bodyPr>
          <a:lstStyle/>
          <a:p>
            <a:r>
              <a:rPr lang="en-US" dirty="0"/>
              <a:t>Art 21- Protection of Life </a:t>
            </a:r>
          </a:p>
          <a:p>
            <a:r>
              <a:rPr lang="en-US" dirty="0"/>
              <a:t>Art 21(A) – Right to education </a:t>
            </a:r>
          </a:p>
          <a:p>
            <a:pPr>
              <a:buNone/>
            </a:pPr>
            <a:r>
              <a:rPr lang="en-US" sz="2800" dirty="0"/>
              <a:t>          - Added by 86</a:t>
            </a:r>
            <a:r>
              <a:rPr lang="en-US" sz="2800" baseline="30000" dirty="0"/>
              <a:t>th</a:t>
            </a:r>
            <a:r>
              <a:rPr lang="en-US" sz="2800" dirty="0"/>
              <a:t> Amend Act </a:t>
            </a:r>
          </a:p>
          <a:p>
            <a:pPr>
              <a:buNone/>
            </a:pPr>
            <a:r>
              <a:rPr lang="en-US" sz="2400" dirty="0"/>
              <a:t>           - Free &amp; Compulsory education to all children of age 6 to 14 years</a:t>
            </a:r>
          </a:p>
          <a:p>
            <a:pPr>
              <a:buNone/>
            </a:pPr>
            <a:r>
              <a:rPr lang="en-US" sz="2400" dirty="0"/>
              <a:t>           -Only Elementary education not higher education </a:t>
            </a:r>
          </a:p>
          <a:p>
            <a:pPr>
              <a:buNone/>
            </a:pPr>
            <a:endParaRPr lang="en-US" sz="2400" dirty="0"/>
          </a:p>
          <a:p>
            <a:r>
              <a:rPr lang="en-US" dirty="0"/>
              <a:t>Art 22  - Protection against arrest &amp; detention </a:t>
            </a:r>
          </a:p>
          <a:p>
            <a:pPr>
              <a:buNone/>
            </a:pPr>
            <a:r>
              <a:rPr lang="en-US" dirty="0"/>
              <a:t>        - </a:t>
            </a:r>
            <a:r>
              <a:rPr lang="en-US" sz="2400" dirty="0"/>
              <a:t>To be brought before magistrate within 24 hrs . Exception Alien – Enemy</a:t>
            </a:r>
          </a:p>
          <a:p>
            <a:pPr>
              <a:buNone/>
            </a:pPr>
            <a:r>
              <a:rPr lang="en-US" sz="2400" dirty="0"/>
              <a:t>        -  Preventive detention- Prevent him from doing Max-3month for more than 3 months it must obtain a report from advisory </a:t>
            </a:r>
            <a:endParaRPr lang="en-US" sz="3600" dirty="0"/>
          </a:p>
          <a:p>
            <a:pPr lvl="1">
              <a:buNone/>
            </a:pPr>
            <a:r>
              <a:rPr lang="en-US" sz="2000" dirty="0"/>
              <a:t>                          </a:t>
            </a:r>
          </a:p>
          <a:p>
            <a:pPr lvl="1">
              <a:buNone/>
            </a:pP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 against exploitation</a:t>
            </a:r>
          </a:p>
        </p:txBody>
      </p:sp>
      <p:sp>
        <p:nvSpPr>
          <p:cNvPr id="3" name="Content Placeholder 2"/>
          <p:cNvSpPr>
            <a:spLocks noGrp="1"/>
          </p:cNvSpPr>
          <p:nvPr>
            <p:ph idx="1"/>
          </p:nvPr>
        </p:nvSpPr>
        <p:spPr/>
        <p:txBody>
          <a:bodyPr/>
          <a:lstStyle/>
          <a:p>
            <a:r>
              <a:rPr lang="en-US" dirty="0"/>
              <a:t>Art 23- Prohibition of Human traffic &amp; forced </a:t>
            </a:r>
            <a:r>
              <a:rPr lang="en-US" dirty="0" err="1"/>
              <a:t>Labour</a:t>
            </a:r>
            <a:r>
              <a:rPr lang="en-US" dirty="0"/>
              <a:t> </a:t>
            </a:r>
          </a:p>
          <a:p>
            <a:r>
              <a:rPr lang="en-US" dirty="0"/>
              <a:t> Art 24- Prohibition of employments of children factories, mines, or any other hazardous environment under 14 years of age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 to freedom of Religion</a:t>
            </a:r>
          </a:p>
        </p:txBody>
      </p:sp>
      <p:sp>
        <p:nvSpPr>
          <p:cNvPr id="3" name="Content Placeholder 2"/>
          <p:cNvSpPr>
            <a:spLocks noGrp="1"/>
          </p:cNvSpPr>
          <p:nvPr>
            <p:ph idx="1"/>
          </p:nvPr>
        </p:nvSpPr>
        <p:spPr/>
        <p:txBody>
          <a:bodyPr/>
          <a:lstStyle/>
          <a:p>
            <a:r>
              <a:rPr lang="en-US" dirty="0"/>
              <a:t>Art 25- Freedom of conscience &amp; free propagation, practice &amp; Projection of Religion</a:t>
            </a:r>
          </a:p>
          <a:p>
            <a:pPr algn="ctr">
              <a:buNone/>
            </a:pPr>
            <a:r>
              <a:rPr lang="en-US" u="sng" dirty="0"/>
              <a:t>Exceptions </a:t>
            </a:r>
          </a:p>
          <a:p>
            <a:pPr>
              <a:buNone/>
            </a:pPr>
            <a:r>
              <a:rPr lang="en-US" dirty="0"/>
              <a:t>1)- Public Order</a:t>
            </a:r>
          </a:p>
          <a:p>
            <a:pPr>
              <a:buNone/>
            </a:pPr>
            <a:r>
              <a:rPr lang="en-US" dirty="0"/>
              <a:t>2) – Morality</a:t>
            </a:r>
          </a:p>
          <a:p>
            <a:pPr>
              <a:buNone/>
            </a:pPr>
            <a:r>
              <a:rPr lang="en-US" dirty="0"/>
              <a:t>3)- Health</a:t>
            </a:r>
          </a:p>
          <a:p>
            <a:pPr>
              <a:buNone/>
            </a:pPr>
            <a:r>
              <a:rPr lang="en-US" dirty="0"/>
              <a:t>4) – Other Provision of constitution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686800" cy="5287963"/>
          </a:xfrm>
        </p:spPr>
        <p:txBody>
          <a:bodyPr>
            <a:normAutofit/>
          </a:bodyPr>
          <a:lstStyle/>
          <a:p>
            <a:r>
              <a:rPr lang="en-US" sz="2400" dirty="0"/>
              <a:t>Art-26 - Freedom to manage religious Affairs</a:t>
            </a:r>
          </a:p>
          <a:p>
            <a:r>
              <a:rPr lang="en-US" sz="2400" dirty="0"/>
              <a:t>Art 27 –  Freedom as to payment of taxes for promotion of any particular religion</a:t>
            </a:r>
          </a:p>
          <a:p>
            <a:r>
              <a:rPr lang="en-US" sz="2400" dirty="0"/>
              <a:t>Art 28 – Freedom to attain religious instruction/</a:t>
            </a:r>
            <a:r>
              <a:rPr lang="en-US" sz="2400" dirty="0" err="1"/>
              <a:t>Programe</a:t>
            </a:r>
            <a:r>
              <a:rPr lang="en-US" sz="2400" dirty="0"/>
              <a:t> in schools</a:t>
            </a:r>
          </a:p>
          <a:p>
            <a:pPr>
              <a:buNone/>
            </a:pPr>
            <a:endParaRPr lang="en-US" sz="2400" dirty="0"/>
          </a:p>
        </p:txBody>
      </p:sp>
      <p:graphicFrame>
        <p:nvGraphicFramePr>
          <p:cNvPr id="4" name="Table 3"/>
          <p:cNvGraphicFramePr>
            <a:graphicFrameLocks noGrp="1"/>
          </p:cNvGraphicFramePr>
          <p:nvPr/>
        </p:nvGraphicFramePr>
        <p:xfrm>
          <a:off x="838200" y="3352800"/>
          <a:ext cx="7924800" cy="330708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563880">
                <a:tc>
                  <a:txBody>
                    <a:bodyPr/>
                    <a:lstStyle/>
                    <a:p>
                      <a:r>
                        <a:rPr lang="en-US" dirty="0"/>
                        <a:t>Types of Institution </a:t>
                      </a:r>
                    </a:p>
                  </a:txBody>
                  <a:tcPr/>
                </a:tc>
                <a:tc>
                  <a:txBody>
                    <a:bodyPr/>
                    <a:lstStyle/>
                    <a:p>
                      <a:r>
                        <a:rPr lang="en-US" dirty="0"/>
                        <a:t>Religious</a:t>
                      </a:r>
                      <a:r>
                        <a:rPr lang="en-US" baseline="0" dirty="0"/>
                        <a:t> teachings </a:t>
                      </a:r>
                      <a:r>
                        <a:rPr lang="en-US" baseline="0" dirty="0" err="1"/>
                        <a:t>Aplications</a:t>
                      </a:r>
                      <a:endParaRPr lang="en-US" dirty="0"/>
                    </a:p>
                  </a:txBody>
                  <a:tcPr/>
                </a:tc>
                <a:extLst>
                  <a:ext uri="{0D108BD9-81ED-4DB2-BD59-A6C34878D82A}">
                    <a16:rowId xmlns:a16="http://schemas.microsoft.com/office/drawing/2014/main" val="10000"/>
                  </a:ext>
                </a:extLst>
              </a:tr>
              <a:tr h="563880">
                <a:tc>
                  <a:txBody>
                    <a:bodyPr/>
                    <a:lstStyle/>
                    <a:p>
                      <a:r>
                        <a:rPr lang="en-US" sz="2000" b="1" dirty="0"/>
                        <a:t>“Wholly” maintained</a:t>
                      </a:r>
                      <a:r>
                        <a:rPr lang="en-US" sz="2000" b="1" baseline="0" dirty="0"/>
                        <a:t> by State </a:t>
                      </a:r>
                      <a:endParaRPr lang="en-US" sz="2000" b="1" dirty="0"/>
                    </a:p>
                  </a:txBody>
                  <a:tcPr/>
                </a:tc>
                <a:tc>
                  <a:txBody>
                    <a:bodyPr/>
                    <a:lstStyle/>
                    <a:p>
                      <a:r>
                        <a:rPr lang="en-US" sz="2000" b="1" dirty="0"/>
                        <a:t>No</a:t>
                      </a:r>
                    </a:p>
                  </a:txBody>
                  <a:tcPr/>
                </a:tc>
                <a:extLst>
                  <a:ext uri="{0D108BD9-81ED-4DB2-BD59-A6C34878D82A}">
                    <a16:rowId xmlns:a16="http://schemas.microsoft.com/office/drawing/2014/main" val="10001"/>
                  </a:ext>
                </a:extLst>
              </a:tr>
              <a:tr h="563880">
                <a:tc>
                  <a:txBody>
                    <a:bodyPr/>
                    <a:lstStyle/>
                    <a:p>
                      <a:r>
                        <a:rPr lang="en-US" sz="2000" b="1" dirty="0"/>
                        <a:t>Administered</a:t>
                      </a:r>
                      <a:r>
                        <a:rPr lang="en-US" sz="2000" b="1" baseline="0" dirty="0"/>
                        <a:t> by state but established by trust/Religion</a:t>
                      </a:r>
                      <a:endParaRPr lang="en-US" sz="2000" b="1" dirty="0"/>
                    </a:p>
                  </a:txBody>
                  <a:tcPr/>
                </a:tc>
                <a:tc>
                  <a:txBody>
                    <a:bodyPr/>
                    <a:lstStyle/>
                    <a:p>
                      <a:r>
                        <a:rPr lang="en-US" sz="2000" b="1" dirty="0"/>
                        <a:t>Yes</a:t>
                      </a:r>
                    </a:p>
                  </a:txBody>
                  <a:tcPr/>
                </a:tc>
                <a:extLst>
                  <a:ext uri="{0D108BD9-81ED-4DB2-BD59-A6C34878D82A}">
                    <a16:rowId xmlns:a16="http://schemas.microsoft.com/office/drawing/2014/main" val="10002"/>
                  </a:ext>
                </a:extLst>
              </a:tr>
              <a:tr h="563880">
                <a:tc>
                  <a:txBody>
                    <a:bodyPr/>
                    <a:lstStyle/>
                    <a:p>
                      <a:r>
                        <a:rPr lang="en-US" sz="2000" b="1" dirty="0"/>
                        <a:t>Aided by state (Private )</a:t>
                      </a:r>
                    </a:p>
                  </a:txBody>
                  <a:tcPr/>
                </a:tc>
                <a:tc>
                  <a:txBody>
                    <a:bodyPr/>
                    <a:lstStyle/>
                    <a:p>
                      <a:r>
                        <a:rPr lang="en-US" sz="2000" b="1" dirty="0"/>
                        <a:t>Yes, But with Govt.</a:t>
                      </a:r>
                      <a:r>
                        <a:rPr lang="en-US" sz="2000" b="1" baseline="0" dirty="0"/>
                        <a:t> Consent</a:t>
                      </a:r>
                      <a:endParaRPr lang="en-US" sz="2000" b="1" dirty="0"/>
                    </a:p>
                  </a:txBody>
                  <a:tcPr/>
                </a:tc>
                <a:extLst>
                  <a:ext uri="{0D108BD9-81ED-4DB2-BD59-A6C34878D82A}">
                    <a16:rowId xmlns:a16="http://schemas.microsoft.com/office/drawing/2014/main" val="10003"/>
                  </a:ext>
                </a:extLst>
              </a:tr>
              <a:tr h="563880">
                <a:tc>
                  <a:txBody>
                    <a:bodyPr/>
                    <a:lstStyle/>
                    <a:p>
                      <a:r>
                        <a:rPr lang="en-US" sz="2000" b="1" dirty="0"/>
                        <a:t>Controlled by State (Private)</a:t>
                      </a:r>
                    </a:p>
                  </a:txBody>
                  <a:tcPr/>
                </a:tc>
                <a:tc>
                  <a:txBody>
                    <a:bodyPr/>
                    <a:lstStyle/>
                    <a:p>
                      <a:r>
                        <a:rPr lang="en-US" sz="2000" b="1" dirty="0"/>
                        <a:t>Yes, But with Govt. Consent</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Cultural and Educational Rights </a:t>
            </a:r>
          </a:p>
        </p:txBody>
      </p:sp>
      <p:sp>
        <p:nvSpPr>
          <p:cNvPr id="3" name="Content Placeholder 2"/>
          <p:cNvSpPr>
            <a:spLocks noGrp="1"/>
          </p:cNvSpPr>
          <p:nvPr>
            <p:ph idx="1"/>
          </p:nvPr>
        </p:nvSpPr>
        <p:spPr/>
        <p:txBody>
          <a:bodyPr/>
          <a:lstStyle/>
          <a:p>
            <a:r>
              <a:rPr lang="en-US" dirty="0"/>
              <a:t> Art 29- Right to preserve, Language, script &amp; Culture.</a:t>
            </a:r>
          </a:p>
          <a:p>
            <a:r>
              <a:rPr lang="en-US" dirty="0"/>
              <a:t>Art 30- Minorities will </a:t>
            </a:r>
            <a:r>
              <a:rPr lang="en-US"/>
              <a:t>have the </a:t>
            </a:r>
            <a:r>
              <a:rPr lang="en-US" dirty="0"/>
              <a:t>right to establish and administer, educational institute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Rights to constitutional remedies </a:t>
            </a:r>
          </a:p>
        </p:txBody>
      </p:sp>
      <p:sp>
        <p:nvSpPr>
          <p:cNvPr id="3" name="Content Placeholder 2"/>
          <p:cNvSpPr>
            <a:spLocks noGrp="1"/>
          </p:cNvSpPr>
          <p:nvPr>
            <p:ph idx="1"/>
          </p:nvPr>
        </p:nvSpPr>
        <p:spPr/>
        <p:txBody>
          <a:bodyPr>
            <a:normAutofit/>
          </a:bodyPr>
          <a:lstStyle/>
          <a:p>
            <a:r>
              <a:rPr lang="en-US" dirty="0"/>
              <a:t>Art 32(1)- Empower an individual to approach the supreme court if the FR are </a:t>
            </a:r>
            <a:r>
              <a:rPr lang="en-US" dirty="0" err="1"/>
              <a:t>voilated</a:t>
            </a:r>
            <a:r>
              <a:rPr lang="en-US" dirty="0"/>
              <a:t> </a:t>
            </a:r>
          </a:p>
          <a:p>
            <a:pPr>
              <a:buFont typeface="Wingdings" pitchFamily="2" charset="2"/>
              <a:buChar char="q"/>
            </a:pPr>
            <a:r>
              <a:rPr lang="en-US" sz="2400" dirty="0"/>
              <a:t>SC will release 5 writs to enforce to enforce fundamental rights </a:t>
            </a:r>
          </a:p>
          <a:p>
            <a:pPr>
              <a:buFont typeface="Wingdings" pitchFamily="2" charset="2"/>
              <a:buChar char="q"/>
            </a:pPr>
            <a:r>
              <a:rPr lang="en-US" sz="2400" dirty="0"/>
              <a:t>Parliament has power to empower any court power to issue writs (Subordinate Courts) </a:t>
            </a:r>
          </a:p>
          <a:p>
            <a:pPr>
              <a:buFont typeface="Wingdings" pitchFamily="2" charset="2"/>
              <a:buChar char="q"/>
            </a:pPr>
            <a:r>
              <a:rPr lang="en-US" sz="2400" dirty="0"/>
              <a:t>High Court has the power to issue writs</a:t>
            </a:r>
          </a:p>
          <a:p>
            <a:pPr>
              <a:buFont typeface="Wingdings" pitchFamily="2" charset="2"/>
              <a:buChar char="q"/>
            </a:pPr>
            <a:r>
              <a:rPr lang="en-US" sz="2400" dirty="0"/>
              <a:t>Art 32 will not be suspended will not be suspended except National emergency </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Art 32(2) Writs</a:t>
            </a:r>
          </a:p>
        </p:txBody>
      </p:sp>
      <p:graphicFrame>
        <p:nvGraphicFramePr>
          <p:cNvPr id="5" name="Table 4"/>
          <p:cNvGraphicFramePr>
            <a:graphicFrameLocks noGrp="1"/>
          </p:cNvGraphicFramePr>
          <p:nvPr/>
        </p:nvGraphicFramePr>
        <p:xfrm>
          <a:off x="152400" y="1219200"/>
          <a:ext cx="8763000" cy="5429345"/>
        </p:xfrm>
        <a:graphic>
          <a:graphicData uri="http://schemas.openxmlformats.org/drawingml/2006/table">
            <a:tbl>
              <a:tblPr/>
              <a:tblGrid>
                <a:gridCol w="1295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552577">
                  <a:extLst>
                    <a:ext uri="{9D8B030D-6E8A-4147-A177-3AD203B41FA5}">
                      <a16:colId xmlns:a16="http://schemas.microsoft.com/office/drawing/2014/main" val="20002"/>
                    </a:ext>
                  </a:extLst>
                </a:gridCol>
                <a:gridCol w="4162423">
                  <a:extLst>
                    <a:ext uri="{9D8B030D-6E8A-4147-A177-3AD203B41FA5}">
                      <a16:colId xmlns:a16="http://schemas.microsoft.com/office/drawing/2014/main" val="20003"/>
                    </a:ext>
                  </a:extLst>
                </a:gridCol>
              </a:tblGrid>
              <a:tr h="429305">
                <a:tc>
                  <a:txBody>
                    <a:bodyPr/>
                    <a:lstStyle/>
                    <a:p>
                      <a:pPr algn="ctr" fontAlgn="ctr"/>
                      <a:r>
                        <a:rPr lang="en-US" sz="1400" b="1" i="0" u="none" strike="noStrike" dirty="0">
                          <a:solidFill>
                            <a:srgbClr val="FFFFFF"/>
                          </a:solidFill>
                          <a:latin typeface="Arial"/>
                        </a:rPr>
                        <a:t>Type of Writ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4495E"/>
                    </a:solidFill>
                  </a:tcPr>
                </a:tc>
                <a:tc>
                  <a:txBody>
                    <a:bodyPr/>
                    <a:lstStyle/>
                    <a:p>
                      <a:pPr algn="ctr" fontAlgn="ctr"/>
                      <a:r>
                        <a:rPr lang="en-US" sz="1400" b="1" i="0" u="none" strike="noStrike">
                          <a:solidFill>
                            <a:srgbClr val="FFFFFF"/>
                          </a:solidFill>
                          <a:latin typeface="Arial"/>
                        </a:rPr>
                        <a:t>Authority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4495E"/>
                    </a:solidFill>
                  </a:tcPr>
                </a:tc>
                <a:tc>
                  <a:txBody>
                    <a:bodyPr/>
                    <a:lstStyle/>
                    <a:p>
                      <a:pPr algn="ctr" fontAlgn="ctr"/>
                      <a:r>
                        <a:rPr lang="en-US" sz="1400" b="1" i="0" u="none" strike="noStrike">
                          <a:solidFill>
                            <a:srgbClr val="FFFFFF"/>
                          </a:solidFill>
                          <a:latin typeface="Arial"/>
                        </a:rPr>
                        <a:t>Meaning of the word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4495E"/>
                    </a:solidFill>
                  </a:tcPr>
                </a:tc>
                <a:tc>
                  <a:txBody>
                    <a:bodyPr/>
                    <a:lstStyle/>
                    <a:p>
                      <a:pPr algn="ctr" fontAlgn="ctr"/>
                      <a:r>
                        <a:rPr lang="en-US" sz="1400" b="1" i="0" u="none" strike="noStrike" dirty="0">
                          <a:solidFill>
                            <a:srgbClr val="FFFFFF"/>
                          </a:solidFill>
                          <a:latin typeface="Arial"/>
                        </a:rPr>
                        <a:t>Purpose of issue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4495E"/>
                    </a:solidFill>
                  </a:tcPr>
                </a:tc>
                <a:extLst>
                  <a:ext uri="{0D108BD9-81ED-4DB2-BD59-A6C34878D82A}">
                    <a16:rowId xmlns:a16="http://schemas.microsoft.com/office/drawing/2014/main" val="10000"/>
                  </a:ext>
                </a:extLst>
              </a:tr>
              <a:tr h="925981">
                <a:tc>
                  <a:txBody>
                    <a:bodyPr/>
                    <a:lstStyle/>
                    <a:p>
                      <a:pPr algn="ctr" fontAlgn="b"/>
                      <a:r>
                        <a:rPr lang="en-US" sz="2000" b="0" i="0" u="none" strike="noStrike">
                          <a:solidFill>
                            <a:srgbClr val="333333"/>
                          </a:solidFill>
                          <a:latin typeface="Arial"/>
                        </a:rPr>
                        <a:t>Habeas Corpus</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ctr" fontAlgn="b"/>
                      <a:r>
                        <a:rPr lang="en-US" sz="2000" b="0" i="0" u="none" strike="noStrike">
                          <a:solidFill>
                            <a:srgbClr val="333333"/>
                          </a:solidFill>
                          <a:latin typeface="Arial"/>
                        </a:rPr>
                        <a:t>Judiciary/Legal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ctr" fontAlgn="b"/>
                      <a:r>
                        <a:rPr lang="en-US" sz="2000" b="0" i="1" u="none" strike="noStrike">
                          <a:solidFill>
                            <a:srgbClr val="333333"/>
                          </a:solidFill>
                          <a:latin typeface="Arial"/>
                        </a:rPr>
                        <a:t>You may have the body</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l" fontAlgn="b"/>
                      <a:r>
                        <a:rPr lang="en-US" sz="1800" b="0" i="0" u="none" strike="noStrike" dirty="0">
                          <a:solidFill>
                            <a:srgbClr val="333333"/>
                          </a:solidFill>
                          <a:latin typeface="Arial"/>
                        </a:rPr>
                        <a:t>To release a person who has been detained unlawfully whether in prison or in private custody.</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extLst>
                  <a:ext uri="{0D108BD9-81ED-4DB2-BD59-A6C34878D82A}">
                    <a16:rowId xmlns:a16="http://schemas.microsoft.com/office/drawing/2014/main" val="10001"/>
                  </a:ext>
                </a:extLst>
              </a:tr>
              <a:tr h="925981">
                <a:tc>
                  <a:txBody>
                    <a:bodyPr/>
                    <a:lstStyle/>
                    <a:p>
                      <a:pPr algn="ctr" fontAlgn="b"/>
                      <a:r>
                        <a:rPr lang="en-US" sz="2000" b="0" i="0" u="none" strike="noStrike">
                          <a:solidFill>
                            <a:srgbClr val="333333"/>
                          </a:solidFill>
                          <a:latin typeface="Arial"/>
                        </a:rPr>
                        <a:t>Mandamus</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ctr" fontAlgn="b"/>
                      <a:r>
                        <a:rPr lang="en-US" sz="2000" b="0" i="0" u="none" strike="noStrike">
                          <a:solidFill>
                            <a:srgbClr val="333333"/>
                          </a:solidFill>
                          <a:latin typeface="Arial"/>
                        </a:rPr>
                        <a:t>Any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ctr" fontAlgn="b"/>
                      <a:r>
                        <a:rPr lang="en-US" sz="2000" b="0" i="1" u="none" strike="noStrike">
                          <a:solidFill>
                            <a:srgbClr val="333333"/>
                          </a:solidFill>
                          <a:latin typeface="Arial"/>
                        </a:rPr>
                        <a:t>We Command</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l" fontAlgn="b"/>
                      <a:r>
                        <a:rPr lang="en-US" sz="1800" b="0" i="0" u="none" strike="noStrike">
                          <a:solidFill>
                            <a:srgbClr val="333333"/>
                          </a:solidFill>
                          <a:latin typeface="Arial"/>
                        </a:rPr>
                        <a:t>To secure the performance of public duties by lower court, tribunal or public authority.</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extLst>
                  <a:ext uri="{0D108BD9-81ED-4DB2-BD59-A6C34878D82A}">
                    <a16:rowId xmlns:a16="http://schemas.microsoft.com/office/drawing/2014/main" val="10002"/>
                  </a:ext>
                </a:extLst>
              </a:tr>
              <a:tr h="925981">
                <a:tc>
                  <a:txBody>
                    <a:bodyPr/>
                    <a:lstStyle/>
                    <a:p>
                      <a:pPr algn="ctr" fontAlgn="b"/>
                      <a:r>
                        <a:rPr lang="en-US" sz="2000" b="0" i="0" u="none" strike="noStrike">
                          <a:solidFill>
                            <a:srgbClr val="333333"/>
                          </a:solidFill>
                          <a:latin typeface="Arial"/>
                        </a:rPr>
                        <a:t>Certiorari</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ctr" fontAlgn="b"/>
                      <a:r>
                        <a:rPr lang="en-US" sz="2000" b="0" i="0" u="none" strike="noStrike">
                          <a:solidFill>
                            <a:srgbClr val="333333"/>
                          </a:solidFill>
                          <a:latin typeface="Arial"/>
                        </a:rPr>
                        <a:t>Any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ctr" fontAlgn="b"/>
                      <a:r>
                        <a:rPr lang="en-US" sz="2000" b="0" i="1" u="none" strike="noStrike">
                          <a:solidFill>
                            <a:srgbClr val="333333"/>
                          </a:solidFill>
                          <a:latin typeface="Arial"/>
                        </a:rPr>
                        <a:t>To be certified</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l" fontAlgn="b"/>
                      <a:r>
                        <a:rPr lang="en-US" sz="1800" b="0" i="0" u="none" strike="noStrike">
                          <a:solidFill>
                            <a:srgbClr val="333333"/>
                          </a:solidFill>
                          <a:latin typeface="Arial"/>
                        </a:rPr>
                        <a:t>To quash the order already passed by an inferior court, tribunal or quasi judicial authority.</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extLst>
                  <a:ext uri="{0D108BD9-81ED-4DB2-BD59-A6C34878D82A}">
                    <a16:rowId xmlns:a16="http://schemas.microsoft.com/office/drawing/2014/main" val="10003"/>
                  </a:ext>
                </a:extLst>
              </a:tr>
              <a:tr h="1289555">
                <a:tc>
                  <a:txBody>
                    <a:bodyPr/>
                    <a:lstStyle/>
                    <a:p>
                      <a:pPr algn="ctr" fontAlgn="b"/>
                      <a:r>
                        <a:rPr lang="en-US" sz="2000" b="0" i="0" u="none" strike="noStrike">
                          <a:solidFill>
                            <a:srgbClr val="333333"/>
                          </a:solidFill>
                          <a:latin typeface="Arial"/>
                        </a:rPr>
                        <a:t>Prohibition</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ctr" fontAlgn="b"/>
                      <a:r>
                        <a:rPr lang="en-US" sz="2000" b="0" i="0" u="none" strike="noStrike">
                          <a:solidFill>
                            <a:srgbClr val="333333"/>
                          </a:solidFill>
                          <a:latin typeface="Arial"/>
                        </a:rPr>
                        <a:t>Judiciary/Legal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ctr" fontAlgn="b"/>
                      <a:r>
                        <a:rPr lang="en-US" sz="2000" b="0" i="1" u="none" strike="noStrike" dirty="0">
                          <a:solidFill>
                            <a:srgbClr val="333333"/>
                          </a:solidFill>
                          <a:latin typeface="Arial"/>
                        </a:rPr>
                        <a:t>-</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l" fontAlgn="b"/>
                      <a:r>
                        <a:rPr lang="en-US" sz="1800" b="0" i="0" u="none" strike="noStrike" dirty="0">
                          <a:solidFill>
                            <a:srgbClr val="333333"/>
                          </a:solidFill>
                          <a:latin typeface="Arial"/>
                        </a:rPr>
                        <a:t>To prohibit an inferior court from continuing the proceedings in a particular case where it has no jurisdiction to try.</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extLst>
                  <a:ext uri="{0D108BD9-81ED-4DB2-BD59-A6C34878D82A}">
                    <a16:rowId xmlns:a16="http://schemas.microsoft.com/office/drawing/2014/main" val="10004"/>
                  </a:ext>
                </a:extLst>
              </a:tr>
              <a:tr h="913398">
                <a:tc>
                  <a:txBody>
                    <a:bodyPr/>
                    <a:lstStyle/>
                    <a:p>
                      <a:pPr algn="ctr" fontAlgn="b"/>
                      <a:r>
                        <a:rPr lang="en-US" sz="2000" b="0" i="0" u="none" strike="noStrike" dirty="0">
                          <a:solidFill>
                            <a:srgbClr val="333333"/>
                          </a:solidFill>
                          <a:latin typeface="Arial"/>
                        </a:rPr>
                        <a:t>Quo </a:t>
                      </a:r>
                      <a:r>
                        <a:rPr lang="en-US" sz="2000" b="0" i="0" u="none" strike="noStrike" dirty="0" err="1">
                          <a:solidFill>
                            <a:srgbClr val="333333"/>
                          </a:solidFill>
                          <a:latin typeface="Arial"/>
                        </a:rPr>
                        <a:t>Warranto</a:t>
                      </a:r>
                      <a:endParaRPr lang="en-US" sz="2000" b="0" i="0" u="none" strike="noStrike" dirty="0">
                        <a:solidFill>
                          <a:srgbClr val="333333"/>
                        </a:solidFill>
                        <a:latin typeface="Arial"/>
                      </a:endParaRP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ctr" fontAlgn="b"/>
                      <a:r>
                        <a:rPr lang="en-US" sz="2000" b="0" i="0" u="none" strike="noStrike" dirty="0">
                          <a:solidFill>
                            <a:srgbClr val="333333"/>
                          </a:solidFill>
                          <a:latin typeface="Arial"/>
                        </a:rPr>
                        <a:t>Any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ctr" fontAlgn="b"/>
                      <a:r>
                        <a:rPr lang="en-US" sz="2000" b="0" i="1" u="none" strike="noStrike" dirty="0">
                          <a:solidFill>
                            <a:srgbClr val="333333"/>
                          </a:solidFill>
                          <a:latin typeface="Arial"/>
                        </a:rPr>
                        <a:t>What is your authority?</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tc>
                  <a:txBody>
                    <a:bodyPr/>
                    <a:lstStyle/>
                    <a:p>
                      <a:pPr algn="l" fontAlgn="b"/>
                      <a:r>
                        <a:rPr lang="en-US" sz="1800" b="0" i="0" u="none" strike="noStrike" dirty="0">
                          <a:solidFill>
                            <a:srgbClr val="333333"/>
                          </a:solidFill>
                          <a:latin typeface="Arial"/>
                        </a:rPr>
                        <a:t>To restrain a person from holding a public office which he is not entitled.</a:t>
                      </a:r>
                    </a:p>
                  </a:txBody>
                  <a:tcPr marL="0" marR="0" marT="18435" marB="12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CE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33400"/>
            <a:ext cx="8686800" cy="6019800"/>
          </a:xfrm>
        </p:spPr>
        <p:txBody>
          <a:bodyPr>
            <a:normAutofit fontScale="77500" lnSpcReduction="20000"/>
          </a:bodyPr>
          <a:lstStyle/>
          <a:p>
            <a:r>
              <a:rPr lang="en-US" b="1" dirty="0"/>
              <a:t>Art -33. </a:t>
            </a:r>
            <a:r>
              <a:rPr lang="en-US" dirty="0"/>
              <a:t>Power of Parliament to modify the rights conferred by this Part in their application etc Parliament may, by law, determine to what extent any of the rights conferred by this Part shall, in their application to,</a:t>
            </a:r>
          </a:p>
          <a:p>
            <a:pPr>
              <a:buNone/>
            </a:pPr>
            <a:endParaRPr lang="en-US" dirty="0"/>
          </a:p>
          <a:p>
            <a:pPr lvl="1"/>
            <a:r>
              <a:rPr lang="en-US" sz="2900" i="1" dirty="0" err="1"/>
              <a:t>a.the</a:t>
            </a:r>
            <a:r>
              <a:rPr lang="en-US" sz="2900" i="1" dirty="0"/>
              <a:t> members of the Armed Forces; or</a:t>
            </a:r>
          </a:p>
          <a:p>
            <a:pPr lvl="1"/>
            <a:r>
              <a:rPr lang="en-US" sz="2900" i="1" dirty="0" err="1"/>
              <a:t>b.the</a:t>
            </a:r>
            <a:r>
              <a:rPr lang="en-US" sz="2900" i="1" dirty="0"/>
              <a:t> members of the Forces charged with the maintenance of public order; or</a:t>
            </a:r>
          </a:p>
          <a:p>
            <a:pPr lvl="1"/>
            <a:r>
              <a:rPr lang="en-US" sz="2900" i="1" dirty="0" err="1"/>
              <a:t>c.persons</a:t>
            </a:r>
            <a:r>
              <a:rPr lang="en-US" sz="2900" i="1" dirty="0"/>
              <a:t> employed in any bureau or other </a:t>
            </a:r>
            <a:r>
              <a:rPr lang="en-US" sz="2900" i="1" dirty="0" err="1"/>
              <a:t>organisation</a:t>
            </a:r>
            <a:r>
              <a:rPr lang="en-US" sz="2900" i="1" dirty="0"/>
              <a:t> established by the State for purposes of intelligence or counter intelligence</a:t>
            </a:r>
          </a:p>
          <a:p>
            <a:pPr lvl="1"/>
            <a:endParaRPr lang="en-US" sz="2600" i="1" dirty="0"/>
          </a:p>
          <a:p>
            <a:r>
              <a:rPr lang="en-US" dirty="0"/>
              <a:t>persons employed in, or in connection with, the telecommunication systems set up for the purposes of any Force, bureau or </a:t>
            </a:r>
            <a:r>
              <a:rPr lang="en-US" dirty="0" err="1"/>
              <a:t>organisation</a:t>
            </a:r>
            <a:r>
              <a:rPr lang="en-US" dirty="0"/>
              <a:t> referred to in clauses (a) to (c), be restricted or abrogated so as to ensure the proper discharge of their duties and the maintenance of discipline among them</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33400"/>
            <a:ext cx="9144000" cy="5943600"/>
          </a:xfrm>
        </p:spPr>
        <p:txBody>
          <a:bodyPr>
            <a:normAutofit fontScale="77500" lnSpcReduction="20000"/>
          </a:bodyPr>
          <a:lstStyle/>
          <a:p>
            <a:r>
              <a:rPr lang="en-US" b="1" dirty="0"/>
              <a:t>Article 34-</a:t>
            </a:r>
            <a:r>
              <a:rPr lang="en-US" dirty="0"/>
              <a:t>, </a:t>
            </a:r>
            <a:r>
              <a:rPr lang="en-US" sz="2800" dirty="0">
                <a:latin typeface="+mj-lt"/>
              </a:rPr>
              <a:t>During the operation of Martial law in any area, the Parliament may indemnify any person in the service of the central or a state government for acts for the maintenance or restoration of law and order</a:t>
            </a:r>
            <a:r>
              <a:rPr lang="en-US" dirty="0"/>
              <a:t>.</a:t>
            </a:r>
          </a:p>
          <a:p>
            <a:pPr>
              <a:buNone/>
            </a:pPr>
            <a:endParaRPr lang="en-US" dirty="0"/>
          </a:p>
          <a:p>
            <a:r>
              <a:rPr lang="en-US" b="1" dirty="0"/>
              <a:t>Article 35</a:t>
            </a:r>
            <a:r>
              <a:rPr lang="en-US" dirty="0"/>
              <a:t> – Legislation to give effect to the provisions of this Part Notwithstanding anything in this Constitution,</a:t>
            </a:r>
          </a:p>
          <a:p>
            <a:endParaRPr lang="en-US" dirty="0"/>
          </a:p>
          <a:p>
            <a:r>
              <a:rPr lang="en-US" dirty="0"/>
              <a:t>(a) Parliament shall have, and the Legislature of a State shall not have, power to make laws</a:t>
            </a:r>
          </a:p>
          <a:p>
            <a:pPr lvl="1"/>
            <a:r>
              <a:rPr lang="en-US" dirty="0"/>
              <a:t>(</a:t>
            </a:r>
            <a:r>
              <a:rPr lang="en-US" dirty="0" err="1"/>
              <a:t>i</a:t>
            </a:r>
            <a:r>
              <a:rPr lang="en-US" dirty="0"/>
              <a:t>) with respect to any of the matters which under clause ( 3 ) of Article 16, clause ( 3 ) of Article 32, Article 33 and Article 34 may be provided for by law made by Parliament; and</a:t>
            </a:r>
          </a:p>
          <a:p>
            <a:pPr lvl="1"/>
            <a:r>
              <a:rPr lang="en-US" dirty="0"/>
              <a:t>(ii) for prescribing punishment for those acts which are declared to be offences under this Part; and Parliament shall, as soon as may be after the commencement of this Constitution, make laws for prescribing punishment for the acts referred to in sub clause (ii);</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US" dirty="0"/>
              <a:t>Article 35(A)**</a:t>
            </a:r>
          </a:p>
        </p:txBody>
      </p:sp>
      <p:sp>
        <p:nvSpPr>
          <p:cNvPr id="3" name="Content Placeholder 2"/>
          <p:cNvSpPr>
            <a:spLocks noGrp="1"/>
          </p:cNvSpPr>
          <p:nvPr>
            <p:ph idx="1"/>
          </p:nvPr>
        </p:nvSpPr>
        <p:spPr>
          <a:xfrm>
            <a:off x="457200" y="762000"/>
            <a:ext cx="8229600" cy="5715000"/>
          </a:xfrm>
        </p:spPr>
        <p:txBody>
          <a:bodyPr>
            <a:noAutofit/>
          </a:bodyPr>
          <a:lstStyle/>
          <a:p>
            <a:pPr fontAlgn="base"/>
            <a:r>
              <a:rPr lang="en-US" sz="2800" dirty="0"/>
              <a:t>Article 35A which does not allow people from outside the state of Jammu &amp; Kashmir to work, settle or own property in the state. The text of Article 35A is given below.</a:t>
            </a:r>
          </a:p>
          <a:p>
            <a:pPr fontAlgn="base"/>
            <a:r>
              <a:rPr lang="en-US" sz="2800" dirty="0"/>
              <a:t>“Saving of laws with respect to permanent residents and their rights. — Notwithstanding anything contained in this Constitution, no existing law in force in the State of Jammu and Kashmir, and no law hereafter enacted by the Legislature of the State:</a:t>
            </a:r>
          </a:p>
          <a:p>
            <a:pPr fontAlgn="base"/>
            <a:r>
              <a:rPr lang="en-US" sz="2800" dirty="0"/>
              <a:t>(a) defining the classes of persons who are, or shall be, permanent residents of the State of Jammu and Kashmir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ART- 35 A</a:t>
            </a:r>
          </a:p>
        </p:txBody>
      </p:sp>
      <p:sp>
        <p:nvSpPr>
          <p:cNvPr id="3" name="Content Placeholder 2"/>
          <p:cNvSpPr>
            <a:spLocks noGrp="1"/>
          </p:cNvSpPr>
          <p:nvPr>
            <p:ph idx="1"/>
          </p:nvPr>
        </p:nvSpPr>
        <p:spPr>
          <a:xfrm>
            <a:off x="457200" y="1600200"/>
            <a:ext cx="8686800" cy="4953000"/>
          </a:xfrm>
        </p:spPr>
        <p:txBody>
          <a:bodyPr>
            <a:noAutofit/>
          </a:bodyPr>
          <a:lstStyle/>
          <a:p>
            <a:pPr fontAlgn="base"/>
            <a:r>
              <a:rPr lang="en-US" sz="2800" dirty="0"/>
              <a:t>(b) conferring on such permanent residents any special rights and privileges or imposing upon other persons any restrictions as respects—</a:t>
            </a:r>
          </a:p>
          <a:p>
            <a:pPr lvl="1" fontAlgn="base"/>
            <a:r>
              <a:rPr lang="en-US" sz="2400" dirty="0"/>
              <a:t>(</a:t>
            </a:r>
            <a:r>
              <a:rPr lang="en-US" sz="2400" dirty="0" err="1"/>
              <a:t>i</a:t>
            </a:r>
            <a:r>
              <a:rPr lang="en-US" sz="2400" dirty="0"/>
              <a:t>) employment under the State Government;</a:t>
            </a:r>
          </a:p>
          <a:p>
            <a:pPr lvl="1" fontAlgn="base"/>
            <a:r>
              <a:rPr lang="en-US" sz="2400" dirty="0"/>
              <a:t>(ii) acquisition of immovable property in the State;</a:t>
            </a:r>
          </a:p>
          <a:p>
            <a:pPr lvl="1" fontAlgn="base"/>
            <a:r>
              <a:rPr lang="en-US" sz="2400" dirty="0"/>
              <a:t>(iii) settlement in the State; or</a:t>
            </a:r>
          </a:p>
          <a:p>
            <a:pPr lvl="1" fontAlgn="base"/>
            <a:r>
              <a:rPr lang="en-US" sz="2400" dirty="0"/>
              <a:t>(iv) right to scholarships and such other forms of aid as the State Government may provide, shall be void on the ground that it is inconsistent with or takes away or abridges any rights conferred on the other citizens of India by any provision of this part.”</a:t>
            </a:r>
          </a:p>
          <a:p>
            <a:endParaRPr lang="en-US" sz="4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Directive principle of State Policy (DPSP) – Art 36 t0 51</a:t>
            </a:r>
          </a:p>
        </p:txBody>
      </p:sp>
      <p:sp>
        <p:nvSpPr>
          <p:cNvPr id="3" name="Content Placeholder 2"/>
          <p:cNvSpPr>
            <a:spLocks noGrp="1"/>
          </p:cNvSpPr>
          <p:nvPr>
            <p:ph idx="1"/>
          </p:nvPr>
        </p:nvSpPr>
        <p:spPr/>
        <p:txBody>
          <a:bodyPr>
            <a:normAutofit fontScale="92500" lnSpcReduction="10000"/>
          </a:bodyPr>
          <a:lstStyle/>
          <a:p>
            <a:r>
              <a:rPr lang="en-US" dirty="0"/>
              <a:t>DPSP resemble of the “Instrument of Instruction”</a:t>
            </a:r>
          </a:p>
          <a:p>
            <a:r>
              <a:rPr lang="en-US" dirty="0"/>
              <a:t>Borrowed from Irish Constitution</a:t>
            </a:r>
          </a:p>
          <a:p>
            <a:r>
              <a:rPr lang="en-US" dirty="0"/>
              <a:t>They are non-Justifiable in nature i.e. they are not legally enforceable by the courts for their violation</a:t>
            </a:r>
          </a:p>
          <a:p>
            <a:r>
              <a:rPr lang="en-US" dirty="0"/>
              <a:t>It imbibed the essence of following ideology.</a:t>
            </a:r>
          </a:p>
          <a:p>
            <a:pPr lvl="1">
              <a:buFont typeface="Wingdings" pitchFamily="2" charset="2"/>
              <a:buChar char="q"/>
            </a:pPr>
            <a:r>
              <a:rPr lang="en-US" dirty="0"/>
              <a:t> Socialist Principal</a:t>
            </a:r>
          </a:p>
          <a:p>
            <a:pPr lvl="1">
              <a:buFont typeface="Wingdings" pitchFamily="2" charset="2"/>
              <a:buChar char="q"/>
            </a:pPr>
            <a:r>
              <a:rPr lang="en-US" dirty="0"/>
              <a:t> </a:t>
            </a:r>
            <a:r>
              <a:rPr lang="en-US" dirty="0" err="1"/>
              <a:t>Gandhian</a:t>
            </a:r>
            <a:r>
              <a:rPr lang="en-US" dirty="0"/>
              <a:t> Principal</a:t>
            </a:r>
          </a:p>
          <a:p>
            <a:pPr lvl="1">
              <a:buFont typeface="Wingdings" pitchFamily="2" charset="2"/>
              <a:buChar char="q"/>
            </a:pPr>
            <a:r>
              <a:rPr lang="en-US" dirty="0"/>
              <a:t> Liberal- Intellectual principal</a:t>
            </a:r>
          </a:p>
        </p:txBody>
      </p:sp>
      <mc:AlternateContent xmlns:mc="http://schemas.openxmlformats.org/markup-compatibility/2006" xmlns:p14="http://schemas.microsoft.com/office/powerpoint/2010/main">
        <mc:Choice Requires="p14">
          <p:contentPart p14:bwMode="auto" r:id="rId2">
            <p14:nvContentPartPr>
              <p14:cNvPr id="2050" name="Ink 2"/>
              <p14:cNvContentPartPr>
                <a14:cpLocks xmlns:a14="http://schemas.microsoft.com/office/drawing/2010/main" noRot="1" noChangeAspect="1" noEditPoints="1" noChangeArrowheads="1" noChangeShapeType="1"/>
              </p14:cNvContentPartPr>
              <p14:nvPr/>
            </p14:nvContentPartPr>
            <p14:xfrm>
              <a:off x="322263" y="1054100"/>
              <a:ext cx="928687" cy="3170238"/>
            </p14:xfrm>
          </p:contentPart>
        </mc:Choice>
        <mc:Fallback xmlns="">
          <p:pic>
            <p:nvPicPr>
              <p:cNvPr id="2050" name="Ink 2"/>
              <p:cNvPicPr>
                <a:picLocks noRot="1" noChangeAspect="1" noEditPoints="1" noChangeArrowheads="1" noChangeShapeType="1"/>
              </p:cNvPicPr>
              <p:nvPr/>
            </p:nvPicPr>
            <p:blipFill>
              <a:blip r:embed="rId3"/>
              <a:stretch>
                <a:fillRect/>
              </a:stretch>
            </p:blipFill>
            <p:spPr>
              <a:xfrm>
                <a:off x="312816" y="1044741"/>
                <a:ext cx="947580" cy="3188956"/>
              </a:xfrm>
              <a:prstGeom prst="rect">
                <a:avLst/>
              </a:prstGeom>
            </p:spPr>
          </p:pic>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dirty="0"/>
              <a:t>Socialist Principal</a:t>
            </a:r>
          </a:p>
        </p:txBody>
      </p:sp>
      <p:sp>
        <p:nvSpPr>
          <p:cNvPr id="3" name="Content Placeholder 2"/>
          <p:cNvSpPr>
            <a:spLocks noGrp="1"/>
          </p:cNvSpPr>
          <p:nvPr>
            <p:ph idx="1"/>
          </p:nvPr>
        </p:nvSpPr>
        <p:spPr>
          <a:xfrm>
            <a:off x="0" y="609600"/>
            <a:ext cx="8915400" cy="5516563"/>
          </a:xfrm>
        </p:spPr>
        <p:txBody>
          <a:bodyPr>
            <a:noAutofit/>
          </a:bodyPr>
          <a:lstStyle/>
          <a:p>
            <a:r>
              <a:rPr lang="en-US" sz="2000" dirty="0"/>
              <a:t>• </a:t>
            </a:r>
            <a:r>
              <a:rPr lang="en-US" sz="2000" b="1" u="sng" dirty="0"/>
              <a:t>Art. 38</a:t>
            </a:r>
            <a:r>
              <a:rPr lang="en-US" sz="2000" b="1" dirty="0"/>
              <a:t>:</a:t>
            </a:r>
            <a:r>
              <a:rPr lang="en-US" sz="2000" dirty="0"/>
              <a:t> This directs the state to </a:t>
            </a:r>
            <a:r>
              <a:rPr lang="en-US" sz="2000" b="1" dirty="0"/>
              <a:t>create a social order for the promotion of welfare of the </a:t>
            </a:r>
            <a:r>
              <a:rPr lang="en-US" sz="2000" b="1" dirty="0" err="1"/>
              <a:t>people.</a:t>
            </a:r>
            <a:r>
              <a:rPr lang="en-US" sz="2000" dirty="0" err="1"/>
              <a:t>This</a:t>
            </a:r>
            <a:r>
              <a:rPr lang="en-US" sz="2000" dirty="0"/>
              <a:t> social order must provide social, economic and political justice. </a:t>
            </a:r>
          </a:p>
          <a:p>
            <a:r>
              <a:rPr lang="en-US" sz="2000" b="1" u="sng" dirty="0"/>
              <a:t>Art.38</a:t>
            </a:r>
            <a:r>
              <a:rPr lang="en-US" sz="2000" dirty="0"/>
              <a:t> which directs the state to minimize inequalities in income, to eliminate inequalities in status, facilities and opportunities.</a:t>
            </a:r>
          </a:p>
          <a:p>
            <a:r>
              <a:rPr lang="en-US" sz="2000" u="sng" dirty="0"/>
              <a:t>Art 39- “Very important”</a:t>
            </a:r>
          </a:p>
          <a:p>
            <a:r>
              <a:rPr lang="en-US" sz="2000" b="1" u="sng" dirty="0"/>
              <a:t>Art. 41</a:t>
            </a:r>
            <a:r>
              <a:rPr lang="en-US" sz="2000" b="1" dirty="0"/>
              <a:t>:</a:t>
            </a:r>
            <a:r>
              <a:rPr lang="en-US" sz="2000" dirty="0"/>
              <a:t> Under this Article the state is directed to provide</a:t>
            </a:r>
            <a:r>
              <a:rPr lang="en-US" sz="2000" b="1" dirty="0"/>
              <a:t> right to work, to education and to public assistance</a:t>
            </a:r>
            <a:r>
              <a:rPr lang="en-US" sz="2000" dirty="0"/>
              <a:t> subject to its economic capacity.</a:t>
            </a:r>
          </a:p>
          <a:p>
            <a:r>
              <a:rPr lang="en-US" sz="2000" b="1" u="sng" dirty="0"/>
              <a:t>Art. 42</a:t>
            </a:r>
            <a:r>
              <a:rPr lang="en-US" sz="2000" b="1" dirty="0"/>
              <a:t>:</a:t>
            </a:r>
            <a:r>
              <a:rPr lang="en-US" sz="2000" dirty="0"/>
              <a:t> Under this article, the state shall make provision for securing</a:t>
            </a:r>
            <a:r>
              <a:rPr lang="en-US" sz="2000" b="1" dirty="0"/>
              <a:t> just and humane conditions of work and maternity relief.</a:t>
            </a:r>
            <a:r>
              <a:rPr lang="en-US" sz="2000" dirty="0"/>
              <a:t> The state has enacted laws such as the industrial Disputes Act, Minimum Wages Act, Maternity Relief Act, etc., to implement this article.</a:t>
            </a:r>
          </a:p>
          <a:p>
            <a:r>
              <a:rPr lang="en-US" sz="2000" b="1" u="sng" dirty="0"/>
              <a:t>Art. 43</a:t>
            </a:r>
            <a:r>
              <a:rPr lang="en-US" sz="2000" b="1" dirty="0"/>
              <a:t>:</a:t>
            </a:r>
            <a:r>
              <a:rPr lang="en-US" sz="2000" dirty="0"/>
              <a:t> This article directs the state to make efforts to </a:t>
            </a:r>
            <a:r>
              <a:rPr lang="en-US" sz="2000" b="1" dirty="0"/>
              <a:t>secure living wages and organize cottage industries in rural areas.</a:t>
            </a:r>
          </a:p>
          <a:p>
            <a:r>
              <a:rPr lang="en-US" sz="2000" dirty="0"/>
              <a:t> </a:t>
            </a:r>
            <a:r>
              <a:rPr lang="en-US" sz="2000" b="1" u="sng" dirty="0"/>
              <a:t>Art. 43-A</a:t>
            </a:r>
            <a:r>
              <a:rPr lang="en-US" sz="2000" b="1" dirty="0"/>
              <a:t>:</a:t>
            </a:r>
            <a:r>
              <a:rPr lang="en-US" sz="2000" dirty="0"/>
              <a:t> Added by 42nd Amendment, 1976, this article calls for legislation by the state to ensure workers participation in the management of industries.</a:t>
            </a:r>
          </a:p>
          <a:p>
            <a:r>
              <a:rPr lang="en-US" sz="2000" dirty="0"/>
              <a:t> </a:t>
            </a:r>
            <a:r>
              <a:rPr lang="en-US" sz="2000" b="1" u="sng" dirty="0"/>
              <a:t>Art. 47</a:t>
            </a:r>
            <a:r>
              <a:rPr lang="en-US" sz="2000" b="1" dirty="0"/>
              <a:t>:</a:t>
            </a:r>
            <a:r>
              <a:rPr lang="en-US" sz="2000" dirty="0"/>
              <a:t> The state has been directed by this article to raise the level of nutrition and the standard of living and to</a:t>
            </a:r>
            <a:r>
              <a:rPr lang="en-US" sz="2000" b="1" dirty="0"/>
              <a:t> improve public health.</a:t>
            </a:r>
            <a:r>
              <a:rPr lang="en-US" sz="2000" dirty="0"/>
              <a:t> This also includes prohibition of liquor and intoxicating drugs.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Socialist Principal Art 39</a:t>
            </a:r>
          </a:p>
        </p:txBody>
      </p:sp>
      <p:sp>
        <p:nvSpPr>
          <p:cNvPr id="3" name="Content Placeholder 2"/>
          <p:cNvSpPr>
            <a:spLocks noGrp="1"/>
          </p:cNvSpPr>
          <p:nvPr>
            <p:ph idx="1"/>
          </p:nvPr>
        </p:nvSpPr>
        <p:spPr>
          <a:xfrm>
            <a:off x="228600" y="1295400"/>
            <a:ext cx="8686800" cy="5181600"/>
          </a:xfrm>
        </p:spPr>
        <p:txBody>
          <a:bodyPr>
            <a:normAutofit fontScale="55000" lnSpcReduction="20000"/>
          </a:bodyPr>
          <a:lstStyle/>
          <a:p>
            <a:pPr>
              <a:buNone/>
            </a:pPr>
            <a:r>
              <a:rPr lang="en-US" dirty="0"/>
              <a:t>• </a:t>
            </a:r>
            <a:r>
              <a:rPr lang="en-US" sz="4400" b="1" dirty="0"/>
              <a:t>Art. 39:</a:t>
            </a:r>
            <a:r>
              <a:rPr lang="en-US" sz="4400" dirty="0"/>
              <a:t> </a:t>
            </a:r>
            <a:r>
              <a:rPr lang="en-US" sz="3600" dirty="0"/>
              <a:t>This is a very important article containing a number of directives which go a long way to establish what is known as welfare state in India. It directs the states to secure the following:-</a:t>
            </a:r>
            <a:endParaRPr lang="en-US" dirty="0"/>
          </a:p>
          <a:p>
            <a:pPr>
              <a:buNone/>
            </a:pPr>
            <a:br>
              <a:rPr lang="en-US" sz="3800" dirty="0"/>
            </a:br>
            <a:r>
              <a:rPr lang="en-US" sz="3800" dirty="0"/>
              <a:t>– Adequate means of livelihood for citizens both men and women.</a:t>
            </a:r>
            <a:br>
              <a:rPr lang="en-US" sz="3800" dirty="0"/>
            </a:br>
            <a:r>
              <a:rPr lang="en-US" sz="3800" dirty="0"/>
              <a:t>– Control and ownership of the material resources of the community to be distributed in such a manner that it serves the common good.</a:t>
            </a:r>
            <a:br>
              <a:rPr lang="en-US" sz="3800" dirty="0"/>
            </a:br>
            <a:r>
              <a:rPr lang="en-US" sz="3800" dirty="0"/>
              <a:t>– The operation of the economic system does not result in the concentration of wealth and means of production to the common detriment.</a:t>
            </a:r>
            <a:br>
              <a:rPr lang="en-US" sz="3800" dirty="0"/>
            </a:br>
            <a:r>
              <a:rPr lang="en-US" sz="3800" dirty="0"/>
              <a:t>– Equal pay for equal work for both men and women.</a:t>
            </a:r>
            <a:br>
              <a:rPr lang="en-US" sz="3800" dirty="0"/>
            </a:br>
            <a:r>
              <a:rPr lang="en-US" sz="3800" dirty="0"/>
              <a:t>– Health and strength of workers, men &amp; women and children are not abused and the citizens are not forced by economic necessity to enter Avocations unsuited to their age or strength.</a:t>
            </a:r>
            <a:br>
              <a:rPr lang="en-US" sz="3800" dirty="0"/>
            </a:br>
            <a:r>
              <a:rPr lang="en-US" sz="3800" dirty="0"/>
              <a:t>– Children are given opportunities and facilities to develop in a healthy manner and their childhood and youth are protected against exploitation and moral and material abandonment (added by 42nd Amendment, 1976).</a:t>
            </a:r>
            <a:br>
              <a:rPr lang="en-US" dirty="0"/>
            </a:b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err="1"/>
              <a:t>Gandhian</a:t>
            </a:r>
            <a:r>
              <a:rPr lang="en-US" b="1" dirty="0"/>
              <a:t> Principles as DPSP</a:t>
            </a:r>
            <a:br>
              <a:rPr lang="en-US" b="1" dirty="0"/>
            </a:br>
            <a:endParaRPr lang="en-US" dirty="0"/>
          </a:p>
        </p:txBody>
      </p:sp>
      <p:sp>
        <p:nvSpPr>
          <p:cNvPr id="3" name="Content Placeholder 2"/>
          <p:cNvSpPr>
            <a:spLocks noGrp="1"/>
          </p:cNvSpPr>
          <p:nvPr>
            <p:ph idx="1"/>
          </p:nvPr>
        </p:nvSpPr>
        <p:spPr>
          <a:xfrm>
            <a:off x="457200" y="1143000"/>
            <a:ext cx="8229600" cy="4983163"/>
          </a:xfrm>
        </p:spPr>
        <p:txBody>
          <a:bodyPr>
            <a:normAutofit/>
          </a:bodyPr>
          <a:lstStyle/>
          <a:p>
            <a:r>
              <a:rPr lang="en-US" sz="2200" dirty="0"/>
              <a:t>Most of the DPSPs reflect the ideology of socialism and welfare state. Some of them are directly inculcating the </a:t>
            </a:r>
            <a:r>
              <a:rPr lang="en-US" sz="2200" dirty="0" err="1"/>
              <a:t>Gandhian</a:t>
            </a:r>
            <a:r>
              <a:rPr lang="en-US" sz="2200" dirty="0"/>
              <a:t> principles for example:</a:t>
            </a:r>
          </a:p>
          <a:p>
            <a:r>
              <a:rPr lang="en-US" sz="2200" dirty="0"/>
              <a:t>Article 40: Organization of village </a:t>
            </a:r>
            <a:r>
              <a:rPr lang="en-US" sz="2200" dirty="0" err="1"/>
              <a:t>Panchayats</a:t>
            </a:r>
            <a:endParaRPr lang="en-US" sz="2200" dirty="0"/>
          </a:p>
          <a:p>
            <a:r>
              <a:rPr lang="en-US" sz="2200" dirty="0"/>
              <a:t>Article 43: Promotion of cottage industries</a:t>
            </a:r>
          </a:p>
          <a:p>
            <a:r>
              <a:rPr lang="en-US" sz="2200" dirty="0"/>
              <a:t>Article 46: Promotion and protection of interests of educational and economic interests of SCs, STs, and other weaker sections of the society and to protect them from social injustice and exploitation</a:t>
            </a:r>
          </a:p>
          <a:p>
            <a:r>
              <a:rPr lang="en-US" sz="2200" dirty="0"/>
              <a:t>Article 47: Prohibition of consumption of intoxicating drinks and drugs which are injurious to health</a:t>
            </a:r>
          </a:p>
          <a:p>
            <a:r>
              <a:rPr lang="en-US" sz="2200" dirty="0"/>
              <a:t>Article 48: Prohibition of slaughter of cows, calves and other </a:t>
            </a:r>
            <a:r>
              <a:rPr lang="en-US" sz="2200" dirty="0" err="1"/>
              <a:t>milch</a:t>
            </a:r>
            <a:r>
              <a:rPr lang="en-US" sz="2200" dirty="0"/>
              <a:t> and draught cattle and to improve their breeds</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US" dirty="0"/>
              <a:t>Liberal Intellectual Principals </a:t>
            </a:r>
          </a:p>
        </p:txBody>
      </p:sp>
      <p:sp>
        <p:nvSpPr>
          <p:cNvPr id="3" name="Content Placeholder 2"/>
          <p:cNvSpPr>
            <a:spLocks noGrp="1"/>
          </p:cNvSpPr>
          <p:nvPr>
            <p:ph idx="1"/>
          </p:nvPr>
        </p:nvSpPr>
        <p:spPr>
          <a:xfrm>
            <a:off x="457200" y="990600"/>
            <a:ext cx="8458200" cy="5135563"/>
          </a:xfrm>
        </p:spPr>
        <p:txBody>
          <a:bodyPr>
            <a:normAutofit fontScale="55000" lnSpcReduction="20000"/>
          </a:bodyPr>
          <a:lstStyle/>
          <a:p>
            <a:pPr>
              <a:lnSpc>
                <a:spcPct val="120000"/>
              </a:lnSpc>
              <a:buNone/>
            </a:pPr>
            <a:r>
              <a:rPr lang="en-US" dirty="0"/>
              <a:t>      • </a:t>
            </a:r>
            <a:r>
              <a:rPr lang="en-US" sz="3800" b="1" i="1" u="sng" dirty="0"/>
              <a:t>Art. 44</a:t>
            </a:r>
            <a:r>
              <a:rPr lang="en-US" b="1" dirty="0"/>
              <a:t>:</a:t>
            </a:r>
            <a:r>
              <a:rPr lang="en-US" dirty="0"/>
              <a:t>  </a:t>
            </a:r>
            <a:r>
              <a:rPr lang="en-US" b="1" dirty="0"/>
              <a:t>Implementation of a Uniform Civil Code for the citizens throughout India.</a:t>
            </a:r>
            <a:r>
              <a:rPr lang="en-US" dirty="0"/>
              <a:t> The state is supposed to take steps to establish a Uniform Civil code for all the citizens irrespective of caste, creed or religion. </a:t>
            </a:r>
            <a:br>
              <a:rPr lang="en-US" dirty="0"/>
            </a:br>
            <a:r>
              <a:rPr lang="en-US" dirty="0"/>
              <a:t>• </a:t>
            </a:r>
            <a:r>
              <a:rPr lang="en-US" sz="3800" b="1" i="1" u="sng" dirty="0"/>
              <a:t>Art. 45</a:t>
            </a:r>
            <a:r>
              <a:rPr lang="en-US" b="1" dirty="0"/>
              <a:t>:</a:t>
            </a:r>
            <a:r>
              <a:rPr lang="en-US" dirty="0"/>
              <a:t> Provision for</a:t>
            </a:r>
            <a:r>
              <a:rPr lang="en-US" b="1" dirty="0"/>
              <a:t> free and compulsory education</a:t>
            </a:r>
            <a:r>
              <a:rPr lang="en-US" dirty="0"/>
              <a:t> for children till the age of 14 years. However, this article has been amended by </a:t>
            </a:r>
            <a:r>
              <a:rPr lang="en-US" b="1" dirty="0"/>
              <a:t>86th Amendment Act, 2002</a:t>
            </a:r>
            <a:r>
              <a:rPr lang="en-US" dirty="0"/>
              <a:t> which has inserted </a:t>
            </a:r>
            <a:r>
              <a:rPr lang="en-US" b="1" dirty="0"/>
              <a:t>Art. 21A</a:t>
            </a:r>
            <a:br>
              <a:rPr lang="en-US" dirty="0"/>
            </a:br>
            <a:r>
              <a:rPr lang="en-US" dirty="0"/>
              <a:t>• </a:t>
            </a:r>
            <a:r>
              <a:rPr lang="en-US" sz="3800" b="1" i="1" u="sng" dirty="0"/>
              <a:t>Art. 48</a:t>
            </a:r>
            <a:r>
              <a:rPr lang="en-US" b="1" dirty="0"/>
              <a:t>: Organization of agriculture</a:t>
            </a:r>
            <a:r>
              <a:rPr lang="en-US" dirty="0"/>
              <a:t> and animal husbandry. The state under this article has to organize agriculture and animal husbandry on modern and scientific lines. </a:t>
            </a:r>
            <a:br>
              <a:rPr lang="en-US" dirty="0"/>
            </a:br>
            <a:r>
              <a:rPr lang="en-US" dirty="0"/>
              <a:t>• </a:t>
            </a:r>
            <a:r>
              <a:rPr lang="en-US" sz="3800" b="1" i="1" u="sng" dirty="0"/>
              <a:t>Art. 48A</a:t>
            </a:r>
            <a:r>
              <a:rPr lang="en-US" b="1" dirty="0"/>
              <a:t>:</a:t>
            </a:r>
            <a:r>
              <a:rPr lang="en-US" dirty="0"/>
              <a:t> Added by </a:t>
            </a:r>
            <a:r>
              <a:rPr lang="en-US" b="1" dirty="0"/>
              <a:t>42nd Amendment, 1976,</a:t>
            </a:r>
            <a:r>
              <a:rPr lang="en-US" dirty="0"/>
              <a:t> this article enjoins on the state task of </a:t>
            </a:r>
            <a:r>
              <a:rPr lang="en-US" b="1" dirty="0"/>
              <a:t>protecting and improving environment, forests and wild life.</a:t>
            </a:r>
            <a:r>
              <a:rPr lang="en-US" dirty="0"/>
              <a:t>.</a:t>
            </a:r>
            <a:br>
              <a:rPr lang="en-US" dirty="0"/>
            </a:br>
            <a:r>
              <a:rPr lang="en-US" dirty="0"/>
              <a:t>• </a:t>
            </a:r>
            <a:r>
              <a:rPr lang="en-US" sz="3800" b="1" i="1" u="sng" dirty="0"/>
              <a:t>Art. 49</a:t>
            </a:r>
            <a:r>
              <a:rPr lang="en-US" b="1" dirty="0"/>
              <a:t>:</a:t>
            </a:r>
            <a:r>
              <a:rPr lang="en-US" dirty="0"/>
              <a:t> This article obligates the state to</a:t>
            </a:r>
            <a:r>
              <a:rPr lang="en-US" b="1" dirty="0"/>
              <a:t> protect monuments and places</a:t>
            </a:r>
            <a:r>
              <a:rPr lang="en-US" dirty="0"/>
              <a:t> of national importance.</a:t>
            </a:r>
            <a:br>
              <a:rPr lang="en-US" dirty="0"/>
            </a:br>
            <a:r>
              <a:rPr lang="en-US" dirty="0"/>
              <a:t>•</a:t>
            </a:r>
            <a:r>
              <a:rPr lang="en-US" b="1" dirty="0"/>
              <a:t> Ar</a:t>
            </a:r>
            <a:r>
              <a:rPr lang="en-US" sz="3800" b="1" i="1" u="sng" dirty="0"/>
              <a:t>t. 50</a:t>
            </a:r>
            <a:r>
              <a:rPr lang="en-US" b="1" dirty="0"/>
              <a:t>: Separation of judiciary from the executive</a:t>
            </a:r>
            <a:r>
              <a:rPr lang="en-US" dirty="0"/>
              <a:t> in the public services of the state</a:t>
            </a:r>
            <a:br>
              <a:rPr lang="en-US" dirty="0"/>
            </a:br>
            <a:r>
              <a:rPr lang="en-US" dirty="0"/>
              <a:t>• </a:t>
            </a:r>
            <a:r>
              <a:rPr lang="en-US" sz="3800" b="1" i="1" u="sng" dirty="0"/>
              <a:t>Art. 51</a:t>
            </a:r>
            <a:r>
              <a:rPr lang="en-US" b="1" dirty="0"/>
              <a:t>:</a:t>
            </a:r>
            <a:r>
              <a:rPr lang="en-US" dirty="0"/>
              <a:t> This article requires the state to </a:t>
            </a:r>
            <a:r>
              <a:rPr lang="en-US" b="1" dirty="0"/>
              <a:t>promote international peace and security,</a:t>
            </a:r>
            <a:r>
              <a:rPr lang="en-US" dirty="0"/>
              <a:t> maintain good relations between nations and respect international laws.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Case for FR and DPSP</a:t>
            </a:r>
          </a:p>
        </p:txBody>
      </p:sp>
      <p:sp>
        <p:nvSpPr>
          <p:cNvPr id="3" name="Content Placeholder 2"/>
          <p:cNvSpPr>
            <a:spLocks noGrp="1"/>
          </p:cNvSpPr>
          <p:nvPr>
            <p:ph idx="1"/>
          </p:nvPr>
        </p:nvSpPr>
        <p:spPr/>
        <p:txBody>
          <a:bodyPr/>
          <a:lstStyle/>
          <a:p>
            <a:r>
              <a:rPr lang="en-US" dirty="0" err="1"/>
              <a:t>Smt</a:t>
            </a:r>
            <a:r>
              <a:rPr lang="en-US" dirty="0"/>
              <a:t> </a:t>
            </a:r>
            <a:r>
              <a:rPr lang="en-US" dirty="0" err="1"/>
              <a:t>Champakam</a:t>
            </a:r>
            <a:r>
              <a:rPr lang="en-US" dirty="0"/>
              <a:t> </a:t>
            </a:r>
            <a:r>
              <a:rPr lang="en-US" dirty="0" err="1"/>
              <a:t>Dorairajan</a:t>
            </a:r>
            <a:r>
              <a:rPr lang="en-US" dirty="0"/>
              <a:t> case</a:t>
            </a:r>
          </a:p>
          <a:p>
            <a:r>
              <a:rPr lang="en-US" dirty="0" err="1"/>
              <a:t>Golkhnath</a:t>
            </a:r>
            <a:r>
              <a:rPr lang="en-US" dirty="0"/>
              <a:t> v/s State of Punjab</a:t>
            </a:r>
          </a:p>
          <a:p>
            <a:r>
              <a:rPr lang="en-US" dirty="0" err="1"/>
              <a:t>Kesavanand</a:t>
            </a:r>
            <a:r>
              <a:rPr lang="en-US" dirty="0"/>
              <a:t> </a:t>
            </a:r>
            <a:r>
              <a:rPr lang="en-US" dirty="0" err="1"/>
              <a:t>Bharti</a:t>
            </a:r>
            <a:r>
              <a:rPr lang="en-US" dirty="0"/>
              <a:t> Case</a:t>
            </a:r>
          </a:p>
          <a:p>
            <a:r>
              <a:rPr lang="en-US" dirty="0"/>
              <a:t>Minerva Mills Case </a:t>
            </a:r>
          </a:p>
          <a:p>
            <a:r>
              <a:rPr lang="en-US" dirty="0" err="1"/>
              <a:t>Maneka</a:t>
            </a:r>
            <a:r>
              <a:rPr lang="en-US" dirty="0"/>
              <a:t> Gandhi Case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US" dirty="0"/>
              <a:t>Fundamental Duties </a:t>
            </a:r>
          </a:p>
        </p:txBody>
      </p:sp>
      <p:sp>
        <p:nvSpPr>
          <p:cNvPr id="3" name="Content Placeholder 2"/>
          <p:cNvSpPr>
            <a:spLocks noGrp="1"/>
          </p:cNvSpPr>
          <p:nvPr>
            <p:ph idx="1"/>
          </p:nvPr>
        </p:nvSpPr>
        <p:spPr>
          <a:xfrm>
            <a:off x="152400" y="1143000"/>
            <a:ext cx="8839200" cy="4983163"/>
          </a:xfrm>
        </p:spPr>
        <p:txBody>
          <a:bodyPr>
            <a:normAutofit fontScale="62500" lnSpcReduction="20000"/>
          </a:bodyPr>
          <a:lstStyle/>
          <a:p>
            <a:r>
              <a:rPr lang="en-US" sz="3800" dirty="0"/>
              <a:t>In 1976 (</a:t>
            </a:r>
            <a:r>
              <a:rPr lang="en-US" sz="3800" dirty="0" err="1"/>
              <a:t>Sardar</a:t>
            </a:r>
            <a:r>
              <a:rPr lang="en-US" sz="3800" dirty="0"/>
              <a:t> </a:t>
            </a:r>
            <a:r>
              <a:rPr lang="en-US" sz="3800" dirty="0" err="1"/>
              <a:t>Swaran</a:t>
            </a:r>
            <a:r>
              <a:rPr lang="en-US" sz="3800" dirty="0"/>
              <a:t> Singh Committee) the FD is empowered.</a:t>
            </a:r>
          </a:p>
          <a:p>
            <a:pPr>
              <a:buNone/>
            </a:pPr>
            <a:endParaRPr lang="en-US" sz="3800" dirty="0"/>
          </a:p>
          <a:p>
            <a:pPr>
              <a:buNone/>
            </a:pPr>
            <a:r>
              <a:rPr lang="en-US" dirty="0"/>
              <a:t>It shall be the duty of every citizen of India –</a:t>
            </a:r>
          </a:p>
          <a:p>
            <a:pPr>
              <a:buNone/>
            </a:pPr>
            <a:r>
              <a:rPr lang="en-US" dirty="0"/>
              <a:t>      (a) to abide by the Constitution and respect its ideals and institutions, the National Flag and the National Anthem;</a:t>
            </a:r>
          </a:p>
          <a:p>
            <a:pPr>
              <a:buNone/>
            </a:pPr>
            <a:br>
              <a:rPr lang="en-US" dirty="0"/>
            </a:br>
            <a:r>
              <a:rPr lang="en-US" dirty="0"/>
              <a:t>(b) to cherish and follow the noble ideals which inspired our national struggle for freedom;</a:t>
            </a:r>
          </a:p>
          <a:p>
            <a:pPr>
              <a:buNone/>
            </a:pPr>
            <a:br>
              <a:rPr lang="en-US" dirty="0"/>
            </a:br>
            <a:r>
              <a:rPr lang="en-US" dirty="0"/>
              <a:t>(c) to uphold and protect the sovereignty, unity and integrity of India;</a:t>
            </a:r>
          </a:p>
          <a:p>
            <a:pPr>
              <a:buNone/>
            </a:pPr>
            <a:br>
              <a:rPr lang="en-US" dirty="0"/>
            </a:br>
            <a:r>
              <a:rPr lang="en-US" dirty="0"/>
              <a:t>(d) to defend the country and render national service when called upon to do so;</a:t>
            </a:r>
          </a:p>
          <a:p>
            <a:pPr>
              <a:buNone/>
            </a:pPr>
            <a:br>
              <a:rPr lang="en-US" dirty="0"/>
            </a:br>
            <a:r>
              <a:rPr lang="en-US" dirty="0"/>
              <a:t>(e) to promote harmony and the spirit of common brotherhood amongst all the people of India transcending religious, linguistic and regional or sectional diversities; to renounce practices derogatory to the dignity of women; </a:t>
            </a:r>
          </a:p>
        </p:txBody>
      </p:sp>
      <mc:AlternateContent xmlns:mc="http://schemas.openxmlformats.org/markup-compatibility/2006" xmlns:p14="http://schemas.microsoft.com/office/powerpoint/2010/main">
        <mc:Choice Requires="p14">
          <p:contentPart p14:bwMode="auto" r:id="rId2">
            <p14:nvContentPartPr>
              <p14:cNvPr id="3074" name="Ink 2"/>
              <p14:cNvContentPartPr>
                <a14:cpLocks xmlns:a14="http://schemas.microsoft.com/office/drawing/2010/main" noRot="1" noChangeAspect="1" noEditPoints="1" noChangeArrowheads="1" noChangeShapeType="1"/>
              </p14:cNvContentPartPr>
              <p14:nvPr/>
            </p14:nvContentPartPr>
            <p14:xfrm>
              <a:off x="625475" y="5062538"/>
              <a:ext cx="7232650" cy="277812"/>
            </p14:xfrm>
          </p:contentPart>
        </mc:Choice>
        <mc:Fallback xmlns="">
          <p:pic>
            <p:nvPicPr>
              <p:cNvPr id="3074" name="Ink 2"/>
              <p:cNvPicPr>
                <a:picLocks noRot="1" noChangeAspect="1" noEditPoints="1" noChangeArrowheads="1" noChangeShapeType="1"/>
              </p:cNvPicPr>
              <p:nvPr/>
            </p:nvPicPr>
            <p:blipFill>
              <a:blip r:embed="rId3"/>
              <a:stretch>
                <a:fillRect/>
              </a:stretch>
            </p:blipFill>
            <p:spPr>
              <a:xfrm>
                <a:off x="609617" y="4999366"/>
                <a:ext cx="7264005" cy="404155"/>
              </a:xfrm>
              <a:prstGeom prst="rect">
                <a:avLst/>
              </a:prstGeom>
            </p:spPr>
          </p:pic>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3400" y="914400"/>
            <a:ext cx="8153400" cy="5016758"/>
          </a:xfrm>
          <a:prstGeom prst="rect">
            <a:avLst/>
          </a:prstGeom>
          <a:noFill/>
        </p:spPr>
        <p:txBody>
          <a:bodyPr wrap="square" rtlCol="0">
            <a:spAutoFit/>
          </a:bodyPr>
          <a:lstStyle/>
          <a:p>
            <a:r>
              <a:rPr lang="en-US" dirty="0"/>
              <a:t>(f</a:t>
            </a:r>
            <a:r>
              <a:rPr lang="en-US" sz="2000" dirty="0"/>
              <a:t>) to value and preserve the rich heritage of our composite culture;</a:t>
            </a:r>
          </a:p>
          <a:p>
            <a:br>
              <a:rPr lang="en-US" sz="2000" dirty="0"/>
            </a:br>
            <a:r>
              <a:rPr lang="en-US" sz="2000" dirty="0"/>
              <a:t>(g) to protect and improve the natural environment including forests, lakes, rivers and wild life, and to have compassion for living creatures;</a:t>
            </a:r>
          </a:p>
          <a:p>
            <a:br>
              <a:rPr lang="en-US" sz="2000" dirty="0"/>
            </a:br>
            <a:r>
              <a:rPr lang="en-US" sz="2000" dirty="0"/>
              <a:t>(h) to develop the scientific temper, humanism and the spirit of inquiry and reform;</a:t>
            </a:r>
          </a:p>
          <a:p>
            <a:br>
              <a:rPr lang="en-US" sz="2000" dirty="0"/>
            </a:br>
            <a:r>
              <a:rPr lang="en-US" sz="2000" dirty="0"/>
              <a:t>(</a:t>
            </a:r>
            <a:r>
              <a:rPr lang="en-US" sz="2000" dirty="0" err="1"/>
              <a:t>i</a:t>
            </a:r>
            <a:r>
              <a:rPr lang="en-US" sz="2000" dirty="0"/>
              <a:t>) to safeguard public property and to abjure violence;</a:t>
            </a:r>
          </a:p>
          <a:p>
            <a:br>
              <a:rPr lang="en-US" sz="2000" dirty="0"/>
            </a:br>
            <a:r>
              <a:rPr lang="en-US" sz="2000" dirty="0"/>
              <a:t>(j) to strive towards excellence in all spheres of individual and collective activity so that the nation constantly rises to higher levels of </a:t>
            </a:r>
            <a:r>
              <a:rPr lang="en-US" sz="2000" dirty="0" err="1"/>
              <a:t>endeavour</a:t>
            </a:r>
            <a:r>
              <a:rPr lang="en-US" sz="2000" dirty="0"/>
              <a:t> and achievement.</a:t>
            </a:r>
          </a:p>
          <a:p>
            <a:br>
              <a:rPr lang="en-US" sz="2000" dirty="0"/>
            </a:br>
            <a:r>
              <a:rPr lang="en-US" sz="2000" dirty="0"/>
              <a:t>(k) to provide opportunities for education by the parent the guardian, to his child, or a ward between the age of 6-14 years as the case may be.</a:t>
            </a:r>
            <a:endParaRPr lang="en-US" dirty="0"/>
          </a:p>
        </p:txBody>
      </p:sp>
      <mc:AlternateContent xmlns:mc="http://schemas.openxmlformats.org/markup-compatibility/2006" xmlns:p14="http://schemas.microsoft.com/office/powerpoint/2010/main">
        <mc:Choice Requires="p14">
          <p:contentPart p14:bwMode="auto" r:id="rId2">
            <p14:nvContentPartPr>
              <p14:cNvPr id="4098" name="Ink 2"/>
              <p14:cNvContentPartPr>
                <a14:cpLocks xmlns:a14="http://schemas.microsoft.com/office/drawing/2010/main" noRot="1" noChangeAspect="1" noEditPoints="1" noChangeArrowheads="1" noChangeShapeType="1"/>
              </p14:cNvContentPartPr>
              <p14:nvPr/>
            </p14:nvContentPartPr>
            <p14:xfrm>
              <a:off x="2268538" y="1027113"/>
              <a:ext cx="3071812" cy="285750"/>
            </p14:xfrm>
          </p:contentPart>
        </mc:Choice>
        <mc:Fallback xmlns="">
          <p:pic>
            <p:nvPicPr>
              <p:cNvPr id="4098" name="Ink 2"/>
              <p:cNvPicPr>
                <a:picLocks noRot="1" noChangeAspect="1" noEditPoints="1" noChangeArrowheads="1" noChangeShapeType="1"/>
              </p:cNvPicPr>
              <p:nvPr/>
            </p:nvPicPr>
            <p:blipFill>
              <a:blip r:embed="rId3"/>
              <a:stretch>
                <a:fillRect/>
              </a:stretch>
            </p:blipFill>
            <p:spPr>
              <a:xfrm>
                <a:off x="2252700" y="962470"/>
                <a:ext cx="3103128" cy="415035"/>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099" name="Ink 3"/>
              <p14:cNvContentPartPr>
                <a14:cpLocks xmlns:a14="http://schemas.microsoft.com/office/drawing/2010/main" noRot="1" noChangeAspect="1" noEditPoints="1" noChangeArrowheads="1" noChangeShapeType="1"/>
              </p14:cNvContentPartPr>
              <p14:nvPr/>
            </p14:nvContentPartPr>
            <p14:xfrm>
              <a:off x="2500313" y="1633538"/>
              <a:ext cx="5241925" cy="196850"/>
            </p14:xfrm>
          </p:contentPart>
        </mc:Choice>
        <mc:Fallback xmlns="">
          <p:pic>
            <p:nvPicPr>
              <p:cNvPr id="4099" name="Ink 3"/>
              <p:cNvPicPr>
                <a:picLocks noRot="1" noChangeAspect="1" noEditPoints="1" noChangeArrowheads="1" noChangeShapeType="1"/>
              </p:cNvPicPr>
              <p:nvPr/>
            </p:nvPicPr>
            <p:blipFill>
              <a:blip r:embed="rId5"/>
              <a:stretch>
                <a:fillRect/>
              </a:stretch>
            </p:blipFill>
            <p:spPr>
              <a:xfrm>
                <a:off x="2484474" y="1568045"/>
                <a:ext cx="5273243" cy="327835"/>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100" name="Ink 4"/>
              <p14:cNvContentPartPr>
                <a14:cpLocks xmlns:a14="http://schemas.microsoft.com/office/drawing/2010/main" noRot="1" noChangeAspect="1" noEditPoints="1" noChangeArrowheads="1" noChangeShapeType="1"/>
              </p14:cNvContentPartPr>
              <p14:nvPr/>
            </p14:nvContentPartPr>
            <p14:xfrm>
              <a:off x="955675" y="2554288"/>
              <a:ext cx="3322638" cy="142875"/>
            </p14:xfrm>
          </p:contentPart>
        </mc:Choice>
        <mc:Fallback xmlns="">
          <p:pic>
            <p:nvPicPr>
              <p:cNvPr id="4100" name="Ink 4"/>
              <p:cNvPicPr>
                <a:picLocks noRot="1" noChangeAspect="1" noEditPoints="1" noChangeArrowheads="1" noChangeShapeType="1"/>
              </p:cNvPicPr>
              <p:nvPr/>
            </p:nvPicPr>
            <p:blipFill>
              <a:blip r:embed="rId7"/>
              <a:stretch>
                <a:fillRect/>
              </a:stretch>
            </p:blipFill>
            <p:spPr>
              <a:xfrm>
                <a:off x="939832" y="2494130"/>
                <a:ext cx="3353963" cy="26319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101" name="Ink 5"/>
              <p14:cNvContentPartPr>
                <a14:cpLocks xmlns:a14="http://schemas.microsoft.com/office/drawing/2010/main" noRot="1" noChangeAspect="1" noEditPoints="1" noChangeArrowheads="1" noChangeShapeType="1"/>
              </p14:cNvContentPartPr>
              <p14:nvPr/>
            </p14:nvContentPartPr>
            <p14:xfrm>
              <a:off x="919163" y="3517900"/>
              <a:ext cx="5510212" cy="117475"/>
            </p14:xfrm>
          </p:contentPart>
        </mc:Choice>
        <mc:Fallback xmlns="">
          <p:pic>
            <p:nvPicPr>
              <p:cNvPr id="4101" name="Ink 5"/>
              <p:cNvPicPr>
                <a:picLocks noRot="1" noChangeAspect="1" noEditPoints="1" noChangeArrowheads="1" noChangeShapeType="1"/>
              </p:cNvPicPr>
              <p:nvPr/>
            </p:nvPicPr>
            <p:blipFill>
              <a:blip r:embed="rId9"/>
              <a:stretch>
                <a:fillRect/>
              </a:stretch>
            </p:blipFill>
            <p:spPr>
              <a:xfrm>
                <a:off x="903322" y="3456365"/>
                <a:ext cx="5541534" cy="24054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102" name="Ink 6"/>
              <p14:cNvContentPartPr>
                <a14:cpLocks xmlns:a14="http://schemas.microsoft.com/office/drawing/2010/main" noRot="1" noChangeAspect="1" noEditPoints="1" noChangeArrowheads="1" noChangeShapeType="1"/>
              </p14:cNvContentPartPr>
              <p14:nvPr/>
            </p14:nvContentPartPr>
            <p14:xfrm>
              <a:off x="857250" y="4098925"/>
              <a:ext cx="4402138" cy="115888"/>
            </p14:xfrm>
          </p:contentPart>
        </mc:Choice>
        <mc:Fallback xmlns="">
          <p:pic>
            <p:nvPicPr>
              <p:cNvPr id="4102" name="Ink 6"/>
              <p:cNvPicPr>
                <a:picLocks noRot="1" noChangeAspect="1" noEditPoints="1" noChangeArrowheads="1" noChangeShapeType="1"/>
              </p:cNvPicPr>
              <p:nvPr/>
            </p:nvPicPr>
            <p:blipFill>
              <a:blip r:embed="rId11"/>
              <a:stretch>
                <a:fillRect/>
              </a:stretch>
            </p:blipFill>
            <p:spPr>
              <a:xfrm>
                <a:off x="841412" y="4034175"/>
                <a:ext cx="4433453" cy="245388"/>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103" name="Ink 7"/>
              <p14:cNvContentPartPr>
                <a14:cpLocks xmlns:a14="http://schemas.microsoft.com/office/drawing/2010/main" noRot="1" noChangeAspect="1" noEditPoints="1" noChangeArrowheads="1" noChangeShapeType="1"/>
              </p14:cNvContentPartPr>
              <p14:nvPr/>
            </p14:nvContentPartPr>
            <p14:xfrm>
              <a:off x="965200" y="5322888"/>
              <a:ext cx="7348538" cy="249237"/>
            </p14:xfrm>
          </p:contentPart>
        </mc:Choice>
        <mc:Fallback xmlns="">
          <p:pic>
            <p:nvPicPr>
              <p:cNvPr id="4103" name="Ink 7"/>
              <p:cNvPicPr>
                <a:picLocks noRot="1" noChangeAspect="1" noEditPoints="1" noChangeArrowheads="1" noChangeShapeType="1"/>
              </p:cNvPicPr>
              <p:nvPr/>
            </p:nvPicPr>
            <p:blipFill>
              <a:blip r:embed="rId13"/>
              <a:stretch>
                <a:fillRect/>
              </a:stretch>
            </p:blipFill>
            <p:spPr>
              <a:xfrm>
                <a:off x="949362" y="5259863"/>
                <a:ext cx="7379854" cy="375288"/>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104" name="Ink 8"/>
              <p14:cNvContentPartPr>
                <a14:cpLocks xmlns:a14="http://schemas.microsoft.com/office/drawing/2010/main" noRot="1" noChangeAspect="1" noEditPoints="1" noChangeArrowheads="1" noChangeShapeType="1"/>
              </p14:cNvContentPartPr>
              <p14:nvPr/>
            </p14:nvContentPartPr>
            <p14:xfrm>
              <a:off x="625475" y="5653088"/>
              <a:ext cx="7161213" cy="196850"/>
            </p14:xfrm>
          </p:contentPart>
        </mc:Choice>
        <mc:Fallback xmlns="">
          <p:pic>
            <p:nvPicPr>
              <p:cNvPr id="4104" name="Ink 8"/>
              <p:cNvPicPr>
                <a:picLocks noRot="1" noChangeAspect="1" noEditPoints="1" noChangeArrowheads="1" noChangeShapeType="1"/>
              </p:cNvPicPr>
              <p:nvPr/>
            </p:nvPicPr>
            <p:blipFill>
              <a:blip r:embed="rId15"/>
              <a:stretch>
                <a:fillRect/>
              </a:stretch>
            </p:blipFill>
            <p:spPr>
              <a:xfrm>
                <a:off x="609637" y="5588810"/>
                <a:ext cx="7192529" cy="325405"/>
              </a:xfrm>
              <a:prstGeom prst="rect">
                <a:avLst/>
              </a:prstGeom>
            </p:spPr>
          </p:pic>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Union (Art -52 to 151) Part V</a:t>
            </a:r>
          </a:p>
        </p:txBody>
      </p:sp>
      <p:graphicFrame>
        <p:nvGraphicFramePr>
          <p:cNvPr id="4" name="Content Placeholder 3"/>
          <p:cNvGraphicFramePr>
            <a:graphicFrameLocks noGrp="1"/>
          </p:cNvGraphicFramePr>
          <p:nvPr>
            <p:ph idx="1"/>
          </p:nvPr>
        </p:nvGraphicFramePr>
        <p:xfrm>
          <a:off x="2133600" y="1524000"/>
          <a:ext cx="5105400" cy="2743199"/>
        </p:xfrm>
        <a:graphic>
          <a:graphicData uri="http://schemas.openxmlformats.org/drawingml/2006/table">
            <a:tbl>
              <a:tblPr firstRow="1" bandRow="1">
                <a:tableStyleId>{5C22544A-7EE6-4342-B048-85BDC9FD1C3A}</a:tableStyleId>
              </a:tblPr>
              <a:tblGrid>
                <a:gridCol w="5105400">
                  <a:extLst>
                    <a:ext uri="{9D8B030D-6E8A-4147-A177-3AD203B41FA5}">
                      <a16:colId xmlns:a16="http://schemas.microsoft.com/office/drawing/2014/main" val="20000"/>
                    </a:ext>
                  </a:extLst>
                </a:gridCol>
              </a:tblGrid>
              <a:tr h="382894">
                <a:tc>
                  <a:txBody>
                    <a:bodyPr/>
                    <a:lstStyle/>
                    <a:p>
                      <a:pPr algn="ctr"/>
                      <a:r>
                        <a:rPr lang="en-US" dirty="0"/>
                        <a:t>Union Executive</a:t>
                      </a:r>
                    </a:p>
                  </a:txBody>
                  <a:tcPr/>
                </a:tc>
                <a:extLst>
                  <a:ext uri="{0D108BD9-81ED-4DB2-BD59-A6C34878D82A}">
                    <a16:rowId xmlns:a16="http://schemas.microsoft.com/office/drawing/2014/main" val="10000"/>
                  </a:ext>
                </a:extLst>
              </a:tr>
              <a:tr h="472061">
                <a:tc>
                  <a:txBody>
                    <a:bodyPr/>
                    <a:lstStyle/>
                    <a:p>
                      <a:r>
                        <a:rPr lang="en-US" sz="2400" dirty="0"/>
                        <a:t>1 - President</a:t>
                      </a:r>
                    </a:p>
                  </a:txBody>
                  <a:tcPr/>
                </a:tc>
                <a:extLst>
                  <a:ext uri="{0D108BD9-81ED-4DB2-BD59-A6C34878D82A}">
                    <a16:rowId xmlns:a16="http://schemas.microsoft.com/office/drawing/2014/main" val="10001"/>
                  </a:ext>
                </a:extLst>
              </a:tr>
              <a:tr h="472061">
                <a:tc>
                  <a:txBody>
                    <a:bodyPr/>
                    <a:lstStyle/>
                    <a:p>
                      <a:r>
                        <a:rPr lang="en-US" sz="2400" dirty="0"/>
                        <a:t>2- Vice President </a:t>
                      </a:r>
                    </a:p>
                  </a:txBody>
                  <a:tcPr/>
                </a:tc>
                <a:extLst>
                  <a:ext uri="{0D108BD9-81ED-4DB2-BD59-A6C34878D82A}">
                    <a16:rowId xmlns:a16="http://schemas.microsoft.com/office/drawing/2014/main" val="10002"/>
                  </a:ext>
                </a:extLst>
              </a:tr>
              <a:tr h="472061">
                <a:tc>
                  <a:txBody>
                    <a:bodyPr/>
                    <a:lstStyle/>
                    <a:p>
                      <a:r>
                        <a:rPr lang="en-US" sz="2400" dirty="0"/>
                        <a:t>3- Prime minister</a:t>
                      </a:r>
                    </a:p>
                  </a:txBody>
                  <a:tcPr/>
                </a:tc>
                <a:extLst>
                  <a:ext uri="{0D108BD9-81ED-4DB2-BD59-A6C34878D82A}">
                    <a16:rowId xmlns:a16="http://schemas.microsoft.com/office/drawing/2014/main" val="10003"/>
                  </a:ext>
                </a:extLst>
              </a:tr>
              <a:tr h="472061">
                <a:tc>
                  <a:txBody>
                    <a:bodyPr/>
                    <a:lstStyle/>
                    <a:p>
                      <a:r>
                        <a:rPr lang="en-US" sz="2400" dirty="0"/>
                        <a:t>4- Council of Ministers</a:t>
                      </a:r>
                    </a:p>
                  </a:txBody>
                  <a:tcPr/>
                </a:tc>
                <a:extLst>
                  <a:ext uri="{0D108BD9-81ED-4DB2-BD59-A6C34878D82A}">
                    <a16:rowId xmlns:a16="http://schemas.microsoft.com/office/drawing/2014/main" val="10004"/>
                  </a:ext>
                </a:extLst>
              </a:tr>
              <a:tr h="472061">
                <a:tc>
                  <a:txBody>
                    <a:bodyPr/>
                    <a:lstStyle/>
                    <a:p>
                      <a:r>
                        <a:rPr lang="en-US" sz="2400" dirty="0"/>
                        <a:t>5- Attorney General</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685800" y="4419600"/>
            <a:ext cx="7848600" cy="1200329"/>
          </a:xfrm>
          <a:prstGeom prst="rect">
            <a:avLst/>
          </a:prstGeom>
          <a:noFill/>
        </p:spPr>
        <p:txBody>
          <a:bodyPr wrap="square" rtlCol="0">
            <a:spAutoFit/>
          </a:bodyPr>
          <a:lstStyle/>
          <a:p>
            <a:r>
              <a:rPr lang="en-US" sz="2400" dirty="0"/>
              <a:t>Art-52 It hold that there shall be the President of India</a:t>
            </a:r>
          </a:p>
          <a:p>
            <a:endParaRPr lang="en-US" sz="2400" dirty="0"/>
          </a:p>
          <a:p>
            <a:r>
              <a:rPr lang="en-US" sz="2400" dirty="0"/>
              <a:t>Art- 53 It vest the executive power of Unions in the President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Election of the President</a:t>
            </a:r>
          </a:p>
        </p:txBody>
      </p:sp>
      <p:sp>
        <p:nvSpPr>
          <p:cNvPr id="3" name="Content Placeholder 2"/>
          <p:cNvSpPr>
            <a:spLocks noGrp="1"/>
          </p:cNvSpPr>
          <p:nvPr>
            <p:ph idx="1"/>
          </p:nvPr>
        </p:nvSpPr>
        <p:spPr/>
        <p:txBody>
          <a:bodyPr>
            <a:normAutofit lnSpcReduction="10000"/>
          </a:bodyPr>
          <a:lstStyle/>
          <a:p>
            <a:pPr marL="571500" indent="-571500">
              <a:buFont typeface="+mj-lt"/>
              <a:buAutoNum type="romanUcPeriod"/>
            </a:pPr>
            <a:r>
              <a:rPr lang="en-US" dirty="0"/>
              <a:t>Election Amend Act 1997 the security deposit has been fixed to rupees 15000 in the RBI</a:t>
            </a:r>
          </a:p>
          <a:p>
            <a:pPr marL="571500" indent="-571500">
              <a:buFont typeface="+mj-lt"/>
              <a:buAutoNum type="romanUcPeriod"/>
            </a:pPr>
            <a:r>
              <a:rPr lang="en-US" dirty="0"/>
              <a:t>Candidate has been proposed by 50 electors &amp; seconded by another 50 electors .</a:t>
            </a:r>
          </a:p>
          <a:p>
            <a:pPr marL="571500" indent="-571500">
              <a:buFont typeface="+mj-lt"/>
              <a:buAutoNum type="romanUcPeriod"/>
            </a:pPr>
            <a:r>
              <a:rPr lang="en-US" dirty="0"/>
              <a:t>Security Deposit of 15000 Rs to RBI</a:t>
            </a:r>
          </a:p>
          <a:p>
            <a:pPr marL="571500" indent="-571500">
              <a:buFont typeface="+mj-lt"/>
              <a:buAutoNum type="romanUcPeriod"/>
            </a:pPr>
            <a:r>
              <a:rPr lang="en-US" dirty="0"/>
              <a:t>The returning officer for the president election is elections is the secretary General of </a:t>
            </a:r>
            <a:r>
              <a:rPr lang="en-US" dirty="0" err="1"/>
              <a:t>lok</a:t>
            </a:r>
            <a:r>
              <a:rPr lang="en-US" dirty="0"/>
              <a:t> </a:t>
            </a:r>
            <a:r>
              <a:rPr lang="en-US" dirty="0" err="1"/>
              <a:t>Sabha</a:t>
            </a:r>
            <a:r>
              <a:rPr lang="en-US" dirty="0"/>
              <a:t> &amp; </a:t>
            </a:r>
            <a:r>
              <a:rPr lang="en-US" dirty="0" err="1"/>
              <a:t>Rajya</a:t>
            </a:r>
            <a:r>
              <a:rPr lang="en-US" dirty="0"/>
              <a:t> </a:t>
            </a:r>
            <a:r>
              <a:rPr lang="en-US" dirty="0" err="1"/>
              <a:t>Sabha</a:t>
            </a:r>
            <a:r>
              <a:rPr lang="en-US" dirty="0"/>
              <a:t> in Rotation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dirty="0"/>
              <a:t>Art 54- Under this, The president is elected by an electoral college</a:t>
            </a:r>
          </a:p>
        </p:txBody>
      </p:sp>
      <p:sp>
        <p:nvSpPr>
          <p:cNvPr id="3" name="Content Placeholder 2"/>
          <p:cNvSpPr>
            <a:spLocks noGrp="1"/>
          </p:cNvSpPr>
          <p:nvPr>
            <p:ph idx="1"/>
          </p:nvPr>
        </p:nvSpPr>
        <p:spPr/>
        <p:txBody>
          <a:bodyPr/>
          <a:lstStyle/>
          <a:p>
            <a:pPr>
              <a:buNone/>
            </a:pPr>
            <a:r>
              <a:rPr lang="en-US" sz="2800" dirty="0"/>
              <a:t>President is not directly elected by the people but by the member of electoral </a:t>
            </a:r>
          </a:p>
          <a:p>
            <a:pPr>
              <a:buFont typeface="Wingdings" pitchFamily="2" charset="2"/>
              <a:buChar char="q"/>
            </a:pPr>
            <a:r>
              <a:rPr lang="en-US" sz="2800" dirty="0"/>
              <a:t> Elected members of both the house of Parliament </a:t>
            </a:r>
          </a:p>
          <a:p>
            <a:pPr>
              <a:buFont typeface="Wingdings" pitchFamily="2" charset="2"/>
              <a:buChar char="q"/>
            </a:pPr>
            <a:r>
              <a:rPr lang="en-US" sz="2800" dirty="0"/>
              <a:t> Elected Member of Legislative Assembly</a:t>
            </a:r>
          </a:p>
          <a:p>
            <a:pPr>
              <a:buFont typeface="Wingdings" pitchFamily="2" charset="2"/>
              <a:buChar char="q"/>
            </a:pPr>
            <a:r>
              <a:rPr lang="en-US" sz="2800" dirty="0"/>
              <a:t> Elected members of Delhi &amp; Pondicherry (70</a:t>
            </a:r>
            <a:r>
              <a:rPr lang="en-US" sz="2800" baseline="30000" dirty="0"/>
              <a:t>th</a:t>
            </a:r>
            <a:r>
              <a:rPr lang="en-US" sz="2800" dirty="0"/>
              <a:t> Amendment Act 1992 &amp; First time participate in 1997)</a:t>
            </a:r>
          </a:p>
          <a:p>
            <a:pPr>
              <a:buNone/>
            </a:pPr>
            <a:r>
              <a:rPr lang="en-US" sz="2800" dirty="0"/>
              <a:t>** Nominated Members &amp; Nominated MLC do not take part in the election of President.</a:t>
            </a:r>
          </a:p>
          <a:p>
            <a:pPr>
              <a:buFont typeface="Wingdings" pitchFamily="2" charset="2"/>
              <a:buChar char="q"/>
            </a:pP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800" dirty="0"/>
              <a:t>Art 55- It says that the President is elected by the method of Proportional representation with Single transferable vote system</a:t>
            </a:r>
          </a:p>
        </p:txBody>
      </p:sp>
      <p:sp>
        <p:nvSpPr>
          <p:cNvPr id="3" name="Content Placeholder 2"/>
          <p:cNvSpPr>
            <a:spLocks noGrp="1"/>
          </p:cNvSpPr>
          <p:nvPr>
            <p:ph idx="1"/>
          </p:nvPr>
        </p:nvSpPr>
        <p:spPr>
          <a:xfrm>
            <a:off x="152400" y="1600200"/>
            <a:ext cx="8839200" cy="4800600"/>
          </a:xfrm>
        </p:spPr>
        <p:txBody>
          <a:bodyPr>
            <a:normAutofit lnSpcReduction="10000"/>
          </a:bodyPr>
          <a:lstStyle/>
          <a:p>
            <a:r>
              <a:rPr lang="en-US" dirty="0"/>
              <a:t>Two Types of election are </a:t>
            </a:r>
          </a:p>
          <a:p>
            <a:pPr marL="514350" indent="-514350">
              <a:buFont typeface="+mj-lt"/>
              <a:buAutoNum type="arabicPeriod"/>
            </a:pPr>
            <a:r>
              <a:rPr lang="en-US" sz="2800" dirty="0"/>
              <a:t> FPTP – First Past the Post -  principle, meaning that the candidate with the plurality of votes is the winner of the seat.</a:t>
            </a:r>
            <a:r>
              <a:rPr lang="en-US" dirty="0"/>
              <a:t> </a:t>
            </a:r>
          </a:p>
          <a:p>
            <a:pPr marL="514350" indent="-514350">
              <a:buFont typeface="+mj-lt"/>
              <a:buAutoNum type="arabicPeriod"/>
            </a:pPr>
            <a:r>
              <a:rPr lang="en-US" dirty="0"/>
              <a:t>Single Transferable Vote - </a:t>
            </a:r>
            <a:r>
              <a:rPr lang="en-US" sz="2800" dirty="0"/>
              <a:t>The </a:t>
            </a:r>
            <a:r>
              <a:rPr lang="en-US" sz="2800" b="1" dirty="0"/>
              <a:t>single transferable vote</a:t>
            </a:r>
            <a:r>
              <a:rPr lang="en-US" sz="2800" dirty="0"/>
              <a:t> (</a:t>
            </a:r>
            <a:r>
              <a:rPr lang="en-US" sz="2800" b="1" dirty="0"/>
              <a:t>STV</a:t>
            </a:r>
            <a:r>
              <a:rPr lang="en-US" sz="2800" dirty="0"/>
              <a:t>) is a voting system designed to achieve proportional representation through ranked voting in multi-seat organizations or constituencies (voting districts).Under STV, an elector (voter) has a single vote that is initially allocated to their most preferred candidate.</a:t>
            </a:r>
            <a:endParaRPr lang="en-US" sz="3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In India, all key representatives except President, Vice President, Members of </a:t>
            </a:r>
            <a:r>
              <a:rPr lang="en-US" dirty="0" err="1"/>
              <a:t>Rajya</a:t>
            </a:r>
            <a:r>
              <a:rPr lang="en-US" dirty="0"/>
              <a:t> </a:t>
            </a:r>
            <a:r>
              <a:rPr lang="en-US" dirty="0" err="1"/>
              <a:t>Sabha</a:t>
            </a:r>
            <a:r>
              <a:rPr lang="en-US" dirty="0"/>
              <a:t> and Members of state legislative council are elected via FPTP system.</a:t>
            </a:r>
          </a:p>
          <a:p>
            <a:pPr>
              <a:buNone/>
            </a:pP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STV in India </a:t>
            </a:r>
          </a:p>
        </p:txBody>
      </p:sp>
      <p:sp>
        <p:nvSpPr>
          <p:cNvPr id="3" name="Content Placeholder 2"/>
          <p:cNvSpPr>
            <a:spLocks noGrp="1"/>
          </p:cNvSpPr>
          <p:nvPr>
            <p:ph idx="1"/>
          </p:nvPr>
        </p:nvSpPr>
        <p:spPr/>
        <p:txBody>
          <a:bodyPr/>
          <a:lstStyle/>
          <a:p>
            <a:r>
              <a:rPr lang="en-US" dirty="0"/>
              <a:t>1 MLA= 1/1000(Total Population of State/Total no: of elected members in state LA)</a:t>
            </a:r>
          </a:p>
          <a:p>
            <a:endParaRPr lang="en-US" dirty="0"/>
          </a:p>
          <a:p>
            <a:r>
              <a:rPr lang="en-US" dirty="0"/>
              <a:t>1 MP = Total Value of votes of all MLA’s of all states /Total no: of elected members of MP</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Qualification </a:t>
            </a:r>
          </a:p>
        </p:txBody>
      </p:sp>
      <p:sp>
        <p:nvSpPr>
          <p:cNvPr id="3" name="Content Placeholder 2"/>
          <p:cNvSpPr>
            <a:spLocks noGrp="1"/>
          </p:cNvSpPr>
          <p:nvPr>
            <p:ph idx="1"/>
          </p:nvPr>
        </p:nvSpPr>
        <p:spPr/>
        <p:txBody>
          <a:bodyPr/>
          <a:lstStyle/>
          <a:p>
            <a:r>
              <a:rPr lang="en-US" dirty="0"/>
              <a:t>Citizen</a:t>
            </a:r>
          </a:p>
          <a:p>
            <a:r>
              <a:rPr lang="en-US" dirty="0"/>
              <a:t>35 years Completed </a:t>
            </a:r>
          </a:p>
          <a:p>
            <a:r>
              <a:rPr lang="en-US" dirty="0"/>
              <a:t>Qualified to be Member of Parliament</a:t>
            </a:r>
          </a:p>
          <a:p>
            <a:r>
              <a:rPr lang="en-US" dirty="0"/>
              <a:t> Should not hold any office of profit under the union government or any state government or any local authority</a:t>
            </a:r>
            <a:endParaRPr lang="en-US" i="1" u="sng"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 61- Impeachment </a:t>
            </a:r>
          </a:p>
        </p:txBody>
      </p:sp>
      <p:sp>
        <p:nvSpPr>
          <p:cNvPr id="3" name="Content Placeholder 2"/>
          <p:cNvSpPr>
            <a:spLocks noGrp="1"/>
          </p:cNvSpPr>
          <p:nvPr>
            <p:ph idx="1"/>
          </p:nvPr>
        </p:nvSpPr>
        <p:spPr/>
        <p:txBody>
          <a:bodyPr>
            <a:normAutofit fontScale="92500" lnSpcReduction="20000"/>
          </a:bodyPr>
          <a:lstStyle/>
          <a:p>
            <a:r>
              <a:rPr lang="en-US" dirty="0"/>
              <a:t>Bill can be introduced in either house of Parliament</a:t>
            </a:r>
          </a:p>
          <a:p>
            <a:r>
              <a:rPr lang="en-US" dirty="0"/>
              <a:t>1/4</a:t>
            </a:r>
            <a:r>
              <a:rPr lang="en-US" baseline="30000" dirty="0"/>
              <a:t>th</a:t>
            </a:r>
            <a:r>
              <a:rPr lang="en-US" dirty="0"/>
              <a:t> members should be their to introduce</a:t>
            </a:r>
          </a:p>
          <a:p>
            <a:r>
              <a:rPr lang="en-US" dirty="0"/>
              <a:t>14 days notice period </a:t>
            </a:r>
          </a:p>
          <a:p>
            <a:r>
              <a:rPr lang="en-US" dirty="0"/>
              <a:t>2/3</a:t>
            </a:r>
            <a:r>
              <a:rPr lang="en-US" baseline="30000" dirty="0"/>
              <a:t>rd</a:t>
            </a:r>
            <a:r>
              <a:rPr lang="en-US" dirty="0"/>
              <a:t> majority in that (Introduced) house is required in that house</a:t>
            </a:r>
          </a:p>
          <a:p>
            <a:r>
              <a:rPr lang="en-US" dirty="0"/>
              <a:t>Next house will behave like investigating house </a:t>
            </a:r>
          </a:p>
          <a:p>
            <a:r>
              <a:rPr lang="en-US" dirty="0"/>
              <a:t>President is having right to defend himself</a:t>
            </a:r>
          </a:p>
          <a:p>
            <a:r>
              <a:rPr lang="en-US" dirty="0"/>
              <a:t>2/3</a:t>
            </a:r>
            <a:r>
              <a:rPr lang="en-US" baseline="30000" dirty="0"/>
              <a:t>rd</a:t>
            </a:r>
            <a:r>
              <a:rPr lang="en-US" dirty="0"/>
              <a:t> majority is required from (other House) to pass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Powers &amp; Function of the President</a:t>
            </a:r>
          </a:p>
        </p:txBody>
      </p:sp>
      <p:sp>
        <p:nvSpPr>
          <p:cNvPr id="3" name="Content Placeholder 2"/>
          <p:cNvSpPr>
            <a:spLocks noGrp="1"/>
          </p:cNvSpPr>
          <p:nvPr>
            <p:ph idx="1"/>
          </p:nvPr>
        </p:nvSpPr>
        <p:spPr/>
        <p:txBody>
          <a:bodyPr/>
          <a:lstStyle/>
          <a:p>
            <a:r>
              <a:rPr lang="en-US" dirty="0"/>
              <a:t>Administrative </a:t>
            </a:r>
          </a:p>
          <a:p>
            <a:r>
              <a:rPr lang="en-US" dirty="0"/>
              <a:t>Legislative</a:t>
            </a:r>
          </a:p>
          <a:p>
            <a:r>
              <a:rPr lang="en-US" dirty="0"/>
              <a:t>Financial Powers</a:t>
            </a:r>
          </a:p>
          <a:p>
            <a:r>
              <a:rPr lang="en-US" dirty="0"/>
              <a:t>Judicial </a:t>
            </a:r>
          </a:p>
          <a:p>
            <a:r>
              <a:rPr lang="en-US" dirty="0"/>
              <a:t>Diplomatic</a:t>
            </a:r>
          </a:p>
          <a:p>
            <a:r>
              <a:rPr lang="en-US" dirty="0"/>
              <a:t>Military Power</a:t>
            </a:r>
          </a:p>
          <a:p>
            <a:r>
              <a:rPr lang="en-US" dirty="0"/>
              <a:t>Emergency Power</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Art 74- PM &amp;COM, Discretionary Power of President</a:t>
            </a:r>
          </a:p>
        </p:txBody>
      </p:sp>
      <p:sp>
        <p:nvSpPr>
          <p:cNvPr id="3" name="Content Placeholder 2"/>
          <p:cNvSpPr>
            <a:spLocks noGrp="1"/>
          </p:cNvSpPr>
          <p:nvPr>
            <p:ph idx="1"/>
          </p:nvPr>
        </p:nvSpPr>
        <p:spPr/>
        <p:txBody>
          <a:bodyPr/>
          <a:lstStyle/>
          <a:p>
            <a:r>
              <a:rPr lang="en-US" dirty="0"/>
              <a:t>Appointment of PM when no party has a clear majority in the </a:t>
            </a:r>
            <a:r>
              <a:rPr lang="en-US" dirty="0" err="1"/>
              <a:t>Lok</a:t>
            </a:r>
            <a:r>
              <a:rPr lang="en-US" dirty="0"/>
              <a:t> </a:t>
            </a:r>
            <a:r>
              <a:rPr lang="en-US" dirty="0" err="1"/>
              <a:t>Sabha</a:t>
            </a:r>
            <a:r>
              <a:rPr lang="en-US" dirty="0"/>
              <a:t> or when the current PM office terminate </a:t>
            </a:r>
          </a:p>
          <a:p>
            <a:r>
              <a:rPr lang="en-US" dirty="0"/>
              <a:t>Dismissal of the council of ministers when it can’t prove the confidence of the </a:t>
            </a:r>
            <a:r>
              <a:rPr lang="en-US" dirty="0" err="1"/>
              <a:t>Lok</a:t>
            </a:r>
            <a:r>
              <a:rPr lang="en-US" dirty="0"/>
              <a:t> </a:t>
            </a:r>
            <a:r>
              <a:rPr lang="en-US" dirty="0" err="1"/>
              <a:t>sabha</a:t>
            </a:r>
            <a:r>
              <a:rPr lang="en-US" dirty="0"/>
              <a:t> </a:t>
            </a:r>
          </a:p>
          <a:p>
            <a:r>
              <a:rPr lang="en-US" dirty="0"/>
              <a:t>Dissolution of the </a:t>
            </a:r>
            <a:r>
              <a:rPr lang="en-US" dirty="0" err="1"/>
              <a:t>Lok</a:t>
            </a:r>
            <a:r>
              <a:rPr lang="en-US" dirty="0"/>
              <a:t> </a:t>
            </a:r>
            <a:r>
              <a:rPr lang="en-US" dirty="0" err="1"/>
              <a:t>Sabha</a:t>
            </a:r>
            <a:r>
              <a:rPr lang="en-US" dirty="0"/>
              <a:t> if the Council of Minister has lost its majority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PM duty is bound to communicate Day to Day administration to the President</a:t>
            </a:r>
          </a:p>
          <a:p>
            <a:r>
              <a:rPr lang="en-US" dirty="0"/>
              <a:t>President Veto Power</a:t>
            </a:r>
          </a:p>
          <a:p>
            <a:pPr marL="514350" indent="-514350">
              <a:buAutoNum type="arabicParenBoth"/>
            </a:pPr>
            <a:r>
              <a:rPr lang="en-US" dirty="0" err="1"/>
              <a:t>Suspensive</a:t>
            </a:r>
            <a:r>
              <a:rPr lang="en-US" dirty="0"/>
              <a:t> Veto –Non </a:t>
            </a:r>
            <a:r>
              <a:rPr lang="en-US" dirty="0" err="1"/>
              <a:t>Moneybill</a:t>
            </a:r>
            <a:r>
              <a:rPr lang="en-US" dirty="0"/>
              <a:t> Non CAA, can send it back to Parliament only Once</a:t>
            </a:r>
          </a:p>
          <a:p>
            <a:pPr marL="514350" indent="-514350">
              <a:buAutoNum type="arabicParenBoth"/>
            </a:pPr>
            <a:r>
              <a:rPr lang="en-US" dirty="0"/>
              <a:t>Pocket Veto- Non </a:t>
            </a:r>
            <a:r>
              <a:rPr lang="en-US" dirty="0" err="1"/>
              <a:t>Moneybill</a:t>
            </a:r>
            <a:r>
              <a:rPr lang="en-US" dirty="0"/>
              <a:t> Non CAA, bill can declared that he is withholding his ascent</a:t>
            </a:r>
          </a:p>
          <a:p>
            <a:pPr marL="914400" lvl="1" indent="-514350" algn="r">
              <a:buNone/>
            </a:pPr>
            <a:r>
              <a:rPr lang="en-US" sz="2000" dirty="0"/>
              <a:t>**Time period of withholding is not mentioned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Pardoning Power of the President</a:t>
            </a:r>
          </a:p>
        </p:txBody>
      </p:sp>
      <p:sp>
        <p:nvSpPr>
          <p:cNvPr id="3" name="Content Placeholder 2"/>
          <p:cNvSpPr>
            <a:spLocks noGrp="1"/>
          </p:cNvSpPr>
          <p:nvPr>
            <p:ph idx="1"/>
          </p:nvPr>
        </p:nvSpPr>
        <p:spPr/>
        <p:txBody>
          <a:bodyPr/>
          <a:lstStyle/>
          <a:p>
            <a:r>
              <a:rPr lang="en-US" dirty="0"/>
              <a:t>Offence against a union Law</a:t>
            </a:r>
          </a:p>
          <a:p>
            <a:r>
              <a:rPr lang="en-US" dirty="0"/>
              <a:t>Court Martial </a:t>
            </a:r>
          </a:p>
          <a:p>
            <a:r>
              <a:rPr lang="en-US" dirty="0"/>
              <a:t>Sentence of Death</a:t>
            </a:r>
          </a:p>
          <a:p>
            <a:pPr>
              <a:buNone/>
            </a:pPr>
            <a:endParaRPr lang="en-US" dirty="0"/>
          </a:p>
        </p:txBody>
      </p:sp>
      <p:graphicFrame>
        <p:nvGraphicFramePr>
          <p:cNvPr id="4" name="Table 3"/>
          <p:cNvGraphicFramePr>
            <a:graphicFrameLocks noGrp="1"/>
          </p:cNvGraphicFramePr>
          <p:nvPr/>
        </p:nvGraphicFramePr>
        <p:xfrm>
          <a:off x="838200" y="3429000"/>
          <a:ext cx="7848600" cy="298958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46990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469900">
                <a:tc>
                  <a:txBody>
                    <a:bodyPr/>
                    <a:lstStyle/>
                    <a:p>
                      <a:r>
                        <a:rPr lang="en-US" dirty="0"/>
                        <a:t>Pardon</a:t>
                      </a:r>
                    </a:p>
                  </a:txBody>
                  <a:tcPr/>
                </a:tc>
                <a:tc>
                  <a:txBody>
                    <a:bodyPr/>
                    <a:lstStyle/>
                    <a:p>
                      <a:r>
                        <a:rPr lang="en-US" dirty="0"/>
                        <a:t>Absolutely free from charges and Punishment</a:t>
                      </a:r>
                    </a:p>
                  </a:txBody>
                  <a:tcPr/>
                </a:tc>
                <a:extLst>
                  <a:ext uri="{0D108BD9-81ED-4DB2-BD59-A6C34878D82A}">
                    <a16:rowId xmlns:a16="http://schemas.microsoft.com/office/drawing/2014/main" val="10001"/>
                  </a:ext>
                </a:extLst>
              </a:tr>
              <a:tr h="469900">
                <a:tc>
                  <a:txBody>
                    <a:bodyPr/>
                    <a:lstStyle/>
                    <a:p>
                      <a:r>
                        <a:rPr lang="en-US" dirty="0"/>
                        <a:t>Commutation </a:t>
                      </a:r>
                    </a:p>
                  </a:txBody>
                  <a:tcPr/>
                </a:tc>
                <a:tc>
                  <a:txBody>
                    <a:bodyPr/>
                    <a:lstStyle/>
                    <a:p>
                      <a:r>
                        <a:rPr lang="en-US" dirty="0"/>
                        <a:t>Lighter form of  Punishment</a:t>
                      </a:r>
                    </a:p>
                  </a:txBody>
                  <a:tcPr/>
                </a:tc>
                <a:extLst>
                  <a:ext uri="{0D108BD9-81ED-4DB2-BD59-A6C34878D82A}">
                    <a16:rowId xmlns:a16="http://schemas.microsoft.com/office/drawing/2014/main" val="10002"/>
                  </a:ext>
                </a:extLst>
              </a:tr>
              <a:tr h="469900">
                <a:tc>
                  <a:txBody>
                    <a:bodyPr/>
                    <a:lstStyle/>
                    <a:p>
                      <a:r>
                        <a:rPr lang="en-US" dirty="0"/>
                        <a:t>Respite </a:t>
                      </a:r>
                    </a:p>
                  </a:txBody>
                  <a:tcPr/>
                </a:tc>
                <a:tc>
                  <a:txBody>
                    <a:bodyPr/>
                    <a:lstStyle/>
                    <a:p>
                      <a:r>
                        <a:rPr lang="en-US" dirty="0"/>
                        <a:t>Lesser Sentence in place of one originally awarded due to some special fact such as Physical disability</a:t>
                      </a:r>
                    </a:p>
                  </a:txBody>
                  <a:tcPr/>
                </a:tc>
                <a:extLst>
                  <a:ext uri="{0D108BD9-81ED-4DB2-BD59-A6C34878D82A}">
                    <a16:rowId xmlns:a16="http://schemas.microsoft.com/office/drawing/2014/main" val="10003"/>
                  </a:ext>
                </a:extLst>
              </a:tr>
              <a:tr h="469900">
                <a:tc>
                  <a:txBody>
                    <a:bodyPr/>
                    <a:lstStyle/>
                    <a:p>
                      <a:r>
                        <a:rPr lang="en-US" dirty="0"/>
                        <a:t>Remission</a:t>
                      </a:r>
                      <a:r>
                        <a:rPr lang="en-US" baseline="0" dirty="0"/>
                        <a:t> </a:t>
                      </a:r>
                      <a:endParaRPr lang="en-US" dirty="0"/>
                    </a:p>
                  </a:txBody>
                  <a:tcPr/>
                </a:tc>
                <a:tc>
                  <a:txBody>
                    <a:bodyPr/>
                    <a:lstStyle/>
                    <a:p>
                      <a:r>
                        <a:rPr lang="en-US" dirty="0"/>
                        <a:t>Reducing the Period of Punishment</a:t>
                      </a:r>
                    </a:p>
                  </a:txBody>
                  <a:tcPr/>
                </a:tc>
                <a:extLst>
                  <a:ext uri="{0D108BD9-81ED-4DB2-BD59-A6C34878D82A}">
                    <a16:rowId xmlns:a16="http://schemas.microsoft.com/office/drawing/2014/main" val="10004"/>
                  </a:ext>
                </a:extLst>
              </a:tr>
              <a:tr h="469900">
                <a:tc>
                  <a:txBody>
                    <a:bodyPr/>
                    <a:lstStyle/>
                    <a:p>
                      <a:r>
                        <a:rPr lang="en-US" dirty="0"/>
                        <a:t>Reprieve</a:t>
                      </a:r>
                    </a:p>
                  </a:txBody>
                  <a:tcPr/>
                </a:tc>
                <a:tc>
                  <a:txBody>
                    <a:bodyPr/>
                    <a:lstStyle/>
                    <a:p>
                      <a:r>
                        <a:rPr lang="en-US" dirty="0"/>
                        <a:t>Stay for a temporary period </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Vice President</a:t>
            </a:r>
          </a:p>
        </p:txBody>
      </p:sp>
      <p:sp>
        <p:nvSpPr>
          <p:cNvPr id="3" name="Content Placeholder 2"/>
          <p:cNvSpPr>
            <a:spLocks noGrp="1"/>
          </p:cNvSpPr>
          <p:nvPr>
            <p:ph idx="1"/>
          </p:nvPr>
        </p:nvSpPr>
        <p:spPr/>
        <p:txBody>
          <a:bodyPr>
            <a:normAutofit fontScale="92500" lnSpcReduction="20000"/>
          </a:bodyPr>
          <a:lstStyle/>
          <a:p>
            <a:r>
              <a:rPr lang="en-US" dirty="0"/>
              <a:t>Ex officio Chairman of Council of States (</a:t>
            </a:r>
            <a:r>
              <a:rPr lang="en-US" dirty="0" err="1"/>
              <a:t>Rajya</a:t>
            </a:r>
            <a:r>
              <a:rPr lang="en-US" dirty="0"/>
              <a:t> </a:t>
            </a:r>
            <a:r>
              <a:rPr lang="en-US" dirty="0" err="1"/>
              <a:t>Sabha</a:t>
            </a:r>
            <a:r>
              <a:rPr lang="en-US" dirty="0"/>
              <a:t>)</a:t>
            </a:r>
          </a:p>
          <a:p>
            <a:r>
              <a:rPr lang="en-US" dirty="0"/>
              <a:t>Presides over the Proceedings of </a:t>
            </a:r>
            <a:r>
              <a:rPr lang="en-US" dirty="0" err="1"/>
              <a:t>Rajya</a:t>
            </a:r>
            <a:r>
              <a:rPr lang="en-US" dirty="0"/>
              <a:t> </a:t>
            </a:r>
            <a:r>
              <a:rPr lang="en-US" dirty="0" err="1"/>
              <a:t>Sabha</a:t>
            </a:r>
            <a:endParaRPr lang="en-US" dirty="0"/>
          </a:p>
          <a:p>
            <a:pPr algn="ctr">
              <a:buNone/>
            </a:pPr>
            <a:r>
              <a:rPr lang="en-US" sz="3600" b="1" i="1" u="sng" dirty="0"/>
              <a:t>Qualification</a:t>
            </a:r>
          </a:p>
          <a:p>
            <a:pPr>
              <a:buFont typeface="Wingdings" pitchFamily="2" charset="2"/>
              <a:buChar char="q"/>
            </a:pPr>
            <a:r>
              <a:rPr lang="en-US" sz="3300" dirty="0"/>
              <a:t>Citizen of India</a:t>
            </a:r>
          </a:p>
          <a:p>
            <a:pPr>
              <a:buFont typeface="Wingdings" pitchFamily="2" charset="2"/>
              <a:buChar char="q"/>
            </a:pPr>
            <a:r>
              <a:rPr lang="en-US" sz="3300" dirty="0"/>
              <a:t>35 years of age</a:t>
            </a:r>
          </a:p>
          <a:p>
            <a:pPr>
              <a:buFont typeface="Wingdings" pitchFamily="2" charset="2"/>
              <a:buChar char="q"/>
            </a:pPr>
            <a:r>
              <a:rPr lang="en-US" sz="3300" dirty="0"/>
              <a:t>No office of Profit</a:t>
            </a:r>
          </a:p>
          <a:p>
            <a:pPr>
              <a:buFont typeface="Wingdings" pitchFamily="2" charset="2"/>
              <a:buChar char="q"/>
            </a:pPr>
            <a:r>
              <a:rPr lang="en-US" sz="3300" dirty="0"/>
              <a:t>Qualified to be member of </a:t>
            </a:r>
            <a:r>
              <a:rPr lang="en-US" sz="3300" dirty="0" err="1"/>
              <a:t>Rajya</a:t>
            </a:r>
            <a:r>
              <a:rPr lang="en-US" sz="3300" dirty="0"/>
              <a:t> </a:t>
            </a:r>
            <a:r>
              <a:rPr lang="en-US" sz="3300" dirty="0" err="1"/>
              <a:t>Sabha</a:t>
            </a:r>
            <a:endParaRPr lang="en-US" sz="3300" dirty="0"/>
          </a:p>
          <a:p>
            <a:pPr>
              <a:buFont typeface="Wingdings" pitchFamily="2" charset="2"/>
              <a:buChar char="q"/>
            </a:pPr>
            <a:r>
              <a:rPr lang="en-US" sz="3300" dirty="0"/>
              <a:t>Ceases his post as MLA or MP if he becomes VP</a:t>
            </a:r>
            <a:endParaRPr lang="en-US" sz="2800" dirty="0"/>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Election of VP</a:t>
            </a:r>
          </a:p>
        </p:txBody>
      </p:sp>
      <p:sp>
        <p:nvSpPr>
          <p:cNvPr id="3" name="Content Placeholder 2"/>
          <p:cNvSpPr>
            <a:spLocks noGrp="1"/>
          </p:cNvSpPr>
          <p:nvPr>
            <p:ph idx="1"/>
          </p:nvPr>
        </p:nvSpPr>
        <p:spPr/>
        <p:txBody>
          <a:bodyPr>
            <a:normAutofit fontScale="92500" lnSpcReduction="10000"/>
          </a:bodyPr>
          <a:lstStyle/>
          <a:p>
            <a:r>
              <a:rPr lang="en-US" sz="3000" dirty="0"/>
              <a:t>20 Electors as Proposer 20 Electors as </a:t>
            </a:r>
            <a:r>
              <a:rPr lang="en-US" sz="3000" dirty="0" err="1"/>
              <a:t>seconders</a:t>
            </a:r>
            <a:r>
              <a:rPr lang="en-US" sz="3000" dirty="0"/>
              <a:t> </a:t>
            </a:r>
          </a:p>
          <a:p>
            <a:r>
              <a:rPr lang="en-US" sz="3000" dirty="0"/>
              <a:t>Security Deposit of 15000 Rs to RBI</a:t>
            </a:r>
          </a:p>
          <a:p>
            <a:r>
              <a:rPr lang="en-US" sz="3000" dirty="0"/>
              <a:t>Elected indirectly by electoral college consisting of Members of Parliament (Both Elected and Nominated)</a:t>
            </a:r>
          </a:p>
          <a:p>
            <a:pPr algn="r">
              <a:buNone/>
            </a:pPr>
            <a:r>
              <a:rPr lang="en-US" dirty="0"/>
              <a:t>**</a:t>
            </a:r>
            <a:r>
              <a:rPr lang="en-US" sz="2600" dirty="0"/>
              <a:t>State government don’t participate in VP’s Election</a:t>
            </a:r>
            <a:endParaRPr lang="en-US" dirty="0"/>
          </a:p>
          <a:p>
            <a:r>
              <a:rPr lang="en-US" sz="3000" dirty="0"/>
              <a:t>Proportional representation by means of Single transferrable vote system </a:t>
            </a:r>
          </a:p>
          <a:p>
            <a:r>
              <a:rPr lang="en-US" sz="3000" dirty="0"/>
              <a:t> </a:t>
            </a:r>
            <a:r>
              <a:rPr lang="en-US" sz="3000" dirty="0" err="1"/>
              <a:t>S.Court</a:t>
            </a:r>
            <a:r>
              <a:rPr lang="en-US" sz="3000" dirty="0"/>
              <a:t> has final jurisdiction for resolving dispute &amp; doubts relating to election of VP</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Removal of V.P</a:t>
            </a:r>
          </a:p>
        </p:txBody>
      </p:sp>
      <p:sp>
        <p:nvSpPr>
          <p:cNvPr id="3" name="Content Placeholder 2"/>
          <p:cNvSpPr>
            <a:spLocks noGrp="1"/>
          </p:cNvSpPr>
          <p:nvPr>
            <p:ph idx="1"/>
          </p:nvPr>
        </p:nvSpPr>
        <p:spPr/>
        <p:txBody>
          <a:bodyPr/>
          <a:lstStyle/>
          <a:p>
            <a:r>
              <a:rPr lang="en-US" dirty="0"/>
              <a:t>Resolution raised only in </a:t>
            </a:r>
            <a:r>
              <a:rPr lang="en-US" dirty="0" err="1"/>
              <a:t>Rajya</a:t>
            </a:r>
            <a:r>
              <a:rPr lang="en-US" dirty="0"/>
              <a:t> </a:t>
            </a:r>
            <a:r>
              <a:rPr lang="en-US" dirty="0" err="1"/>
              <a:t>Sabha</a:t>
            </a:r>
            <a:r>
              <a:rPr lang="en-US" dirty="0"/>
              <a:t> by absolute Majority i.e. (Greater than 50% of effective strength)(Total Membership –Vacancy)</a:t>
            </a:r>
          </a:p>
          <a:p>
            <a:r>
              <a:rPr lang="en-US" dirty="0"/>
              <a:t>Total of 14 days notice period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Governor</a:t>
            </a:r>
          </a:p>
        </p:txBody>
      </p:sp>
      <p:sp>
        <p:nvSpPr>
          <p:cNvPr id="3" name="Content Placeholder 2"/>
          <p:cNvSpPr>
            <a:spLocks noGrp="1"/>
          </p:cNvSpPr>
          <p:nvPr>
            <p:ph idx="1"/>
          </p:nvPr>
        </p:nvSpPr>
        <p:spPr/>
        <p:txBody>
          <a:bodyPr/>
          <a:lstStyle/>
          <a:p>
            <a:r>
              <a:rPr lang="en-US" dirty="0"/>
              <a:t>Executive head of State </a:t>
            </a:r>
          </a:p>
          <a:p>
            <a:r>
              <a:rPr lang="en-US" dirty="0"/>
              <a:t>Acts on Advice of Council of Ministers </a:t>
            </a:r>
          </a:p>
          <a:p>
            <a:r>
              <a:rPr lang="en-US" dirty="0"/>
              <a:t>Same person can be appointed as governor of one or more state </a:t>
            </a:r>
          </a:p>
          <a:p>
            <a:r>
              <a:rPr lang="en-US" dirty="0"/>
              <a:t>All executive action of state in his name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a:t>
            </a:r>
          </a:p>
        </p:txBody>
      </p:sp>
      <p:sp>
        <p:nvSpPr>
          <p:cNvPr id="3" name="Content Placeholder 2"/>
          <p:cNvSpPr>
            <a:spLocks noGrp="1"/>
          </p:cNvSpPr>
          <p:nvPr>
            <p:ph idx="1"/>
          </p:nvPr>
        </p:nvSpPr>
        <p:spPr/>
        <p:txBody>
          <a:bodyPr/>
          <a:lstStyle/>
          <a:p>
            <a:r>
              <a:rPr lang="en-US" dirty="0"/>
              <a:t>Salary of Governor is drawn from Consolidate fund of State</a:t>
            </a:r>
          </a:p>
          <a:p>
            <a:r>
              <a:rPr lang="en-US" dirty="0"/>
              <a:t>Shall not be answerable to any court</a:t>
            </a:r>
          </a:p>
          <a:p>
            <a:r>
              <a:rPr lang="en-US" dirty="0" err="1"/>
              <a:t>Priviledge</a:t>
            </a:r>
            <a:r>
              <a:rPr lang="en-US" dirty="0"/>
              <a:t> for non-criminal Proceedings </a:t>
            </a:r>
          </a:p>
          <a:p>
            <a:r>
              <a:rPr lang="en-US" dirty="0"/>
              <a:t>Non Process for arrest or imprisonment </a:t>
            </a:r>
          </a:p>
          <a:p>
            <a:r>
              <a:rPr lang="en-US" dirty="0"/>
              <a:t> Civil proceedings can be done with 2 months notice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Powers of Governor</a:t>
            </a:r>
          </a:p>
        </p:txBody>
      </p:sp>
      <p:sp>
        <p:nvSpPr>
          <p:cNvPr id="3" name="Content Placeholder 2"/>
          <p:cNvSpPr>
            <a:spLocks noGrp="1"/>
          </p:cNvSpPr>
          <p:nvPr>
            <p:ph idx="1"/>
          </p:nvPr>
        </p:nvSpPr>
        <p:spPr/>
        <p:txBody>
          <a:bodyPr/>
          <a:lstStyle/>
          <a:p>
            <a:r>
              <a:rPr lang="en-US" dirty="0"/>
              <a:t>All Powers are same as that of President except as follows:</a:t>
            </a:r>
          </a:p>
          <a:p>
            <a:pPr marL="514350" indent="-514350">
              <a:buFont typeface="+mj-lt"/>
              <a:buAutoNum type="arabicPeriod"/>
            </a:pPr>
            <a:r>
              <a:rPr lang="en-US" dirty="0"/>
              <a:t>Emergency power</a:t>
            </a:r>
          </a:p>
          <a:p>
            <a:pPr marL="514350" indent="-514350">
              <a:buFont typeface="+mj-lt"/>
              <a:buAutoNum type="arabicPeriod"/>
            </a:pPr>
            <a:r>
              <a:rPr lang="en-US" dirty="0"/>
              <a:t>Diplomatic power</a:t>
            </a:r>
          </a:p>
          <a:p>
            <a:pPr marL="514350" indent="-514350">
              <a:buFont typeface="+mj-lt"/>
              <a:buAutoNum type="arabicPeriod"/>
            </a:pPr>
            <a:r>
              <a:rPr lang="en-US" dirty="0"/>
              <a:t> Military Power</a:t>
            </a:r>
          </a:p>
          <a:p>
            <a:pPr marL="514350" indent="-514350">
              <a:buFont typeface="+mj-lt"/>
              <a:buAutoNum type="arabicPeriod"/>
            </a:pPr>
            <a:endParaRPr lang="en-US" dirty="0"/>
          </a:p>
          <a:p>
            <a:pPr marL="514350" indent="-514350">
              <a:buNone/>
            </a:pPr>
            <a:r>
              <a:rPr lang="en-US" dirty="0"/>
              <a:t>*Governor can’t pardon Death Sentence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Special responsibility of Governor in different States </a:t>
            </a:r>
          </a:p>
        </p:txBody>
      </p:sp>
      <p:graphicFrame>
        <p:nvGraphicFramePr>
          <p:cNvPr id="4" name="Content Placeholder 3"/>
          <p:cNvGraphicFramePr>
            <a:graphicFrameLocks noGrp="1"/>
          </p:cNvGraphicFramePr>
          <p:nvPr>
            <p:ph idx="1"/>
          </p:nvPr>
        </p:nvGraphicFramePr>
        <p:xfrm>
          <a:off x="457200" y="1600200"/>
          <a:ext cx="8458200" cy="4419598"/>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817514">
                <a:tc>
                  <a:txBody>
                    <a:bodyPr/>
                    <a:lstStyle/>
                    <a:p>
                      <a:r>
                        <a:rPr lang="en-US" sz="2400" dirty="0"/>
                        <a:t>States</a:t>
                      </a:r>
                    </a:p>
                  </a:txBody>
                  <a:tcPr/>
                </a:tc>
                <a:tc>
                  <a:txBody>
                    <a:bodyPr/>
                    <a:lstStyle/>
                    <a:p>
                      <a:r>
                        <a:rPr lang="en-US" sz="2400" dirty="0"/>
                        <a:t>Responsibility</a:t>
                      </a:r>
                    </a:p>
                  </a:txBody>
                  <a:tcPr/>
                </a:tc>
                <a:extLst>
                  <a:ext uri="{0D108BD9-81ED-4DB2-BD59-A6C34878D82A}">
                    <a16:rowId xmlns:a16="http://schemas.microsoft.com/office/drawing/2014/main" val="10000"/>
                  </a:ext>
                </a:extLst>
              </a:tr>
              <a:tr h="663094">
                <a:tc>
                  <a:txBody>
                    <a:bodyPr/>
                    <a:lstStyle/>
                    <a:p>
                      <a:r>
                        <a:rPr lang="en-US" sz="2400" dirty="0"/>
                        <a:t>Maharashtra</a:t>
                      </a:r>
                    </a:p>
                  </a:txBody>
                  <a:tcPr/>
                </a:tc>
                <a:tc>
                  <a:txBody>
                    <a:bodyPr/>
                    <a:lstStyle/>
                    <a:p>
                      <a:r>
                        <a:rPr lang="en-US" sz="2400" dirty="0" err="1"/>
                        <a:t>Marthwada</a:t>
                      </a:r>
                      <a:r>
                        <a:rPr lang="en-US" sz="2400" dirty="0"/>
                        <a:t> &amp; </a:t>
                      </a:r>
                      <a:r>
                        <a:rPr lang="en-US" sz="2400" dirty="0" err="1"/>
                        <a:t>Vidarbha</a:t>
                      </a:r>
                      <a:endParaRPr lang="en-US" sz="2400" dirty="0"/>
                    </a:p>
                  </a:txBody>
                  <a:tcPr/>
                </a:tc>
                <a:extLst>
                  <a:ext uri="{0D108BD9-81ED-4DB2-BD59-A6C34878D82A}">
                    <a16:rowId xmlns:a16="http://schemas.microsoft.com/office/drawing/2014/main" val="10001"/>
                  </a:ext>
                </a:extLst>
              </a:tr>
              <a:tr h="663094">
                <a:tc>
                  <a:txBody>
                    <a:bodyPr/>
                    <a:lstStyle/>
                    <a:p>
                      <a:r>
                        <a:rPr lang="en-US" sz="2400" dirty="0" err="1"/>
                        <a:t>Gujrat</a:t>
                      </a:r>
                      <a:endParaRPr lang="en-US" sz="2400" dirty="0"/>
                    </a:p>
                  </a:txBody>
                  <a:tcPr/>
                </a:tc>
                <a:tc>
                  <a:txBody>
                    <a:bodyPr/>
                    <a:lstStyle/>
                    <a:p>
                      <a:r>
                        <a:rPr lang="en-US" sz="2400" dirty="0" err="1"/>
                        <a:t>Saurashtra</a:t>
                      </a:r>
                      <a:r>
                        <a:rPr lang="en-US" sz="2400" dirty="0"/>
                        <a:t> &amp; </a:t>
                      </a:r>
                      <a:r>
                        <a:rPr lang="en-US" sz="2400" dirty="0" err="1"/>
                        <a:t>kutchh</a:t>
                      </a:r>
                      <a:endParaRPr lang="en-US" sz="2400" dirty="0"/>
                    </a:p>
                  </a:txBody>
                  <a:tcPr/>
                </a:tc>
                <a:extLst>
                  <a:ext uri="{0D108BD9-81ED-4DB2-BD59-A6C34878D82A}">
                    <a16:rowId xmlns:a16="http://schemas.microsoft.com/office/drawing/2014/main" val="10002"/>
                  </a:ext>
                </a:extLst>
              </a:tr>
              <a:tr h="663094">
                <a:tc>
                  <a:txBody>
                    <a:bodyPr/>
                    <a:lstStyle/>
                    <a:p>
                      <a:r>
                        <a:rPr lang="en-US" sz="2400" dirty="0"/>
                        <a:t>Nagaland</a:t>
                      </a:r>
                      <a:r>
                        <a:rPr lang="en-US" sz="2400" baseline="0" dirty="0"/>
                        <a:t> </a:t>
                      </a:r>
                      <a:endParaRPr lang="en-US" sz="2400" dirty="0"/>
                    </a:p>
                  </a:txBody>
                  <a:tcPr/>
                </a:tc>
                <a:tc>
                  <a:txBody>
                    <a:bodyPr/>
                    <a:lstStyle/>
                    <a:p>
                      <a:r>
                        <a:rPr lang="en-US" sz="2400" dirty="0"/>
                        <a:t>Law and Order</a:t>
                      </a:r>
                    </a:p>
                  </a:txBody>
                  <a:tcPr/>
                </a:tc>
                <a:extLst>
                  <a:ext uri="{0D108BD9-81ED-4DB2-BD59-A6C34878D82A}">
                    <a16:rowId xmlns:a16="http://schemas.microsoft.com/office/drawing/2014/main" val="10003"/>
                  </a:ext>
                </a:extLst>
              </a:tr>
              <a:tr h="663094">
                <a:tc>
                  <a:txBody>
                    <a:bodyPr/>
                    <a:lstStyle/>
                    <a:p>
                      <a:r>
                        <a:rPr lang="en-US" sz="2400" dirty="0"/>
                        <a:t>Mizoram</a:t>
                      </a:r>
                    </a:p>
                  </a:txBody>
                  <a:tcPr/>
                </a:tc>
                <a:tc>
                  <a:txBody>
                    <a:bodyPr/>
                    <a:lstStyle/>
                    <a:p>
                      <a:r>
                        <a:rPr lang="en-US" sz="2400" dirty="0" err="1"/>
                        <a:t>Mizo</a:t>
                      </a:r>
                      <a:r>
                        <a:rPr lang="en-US" sz="2400" dirty="0"/>
                        <a:t> Tribe well being </a:t>
                      </a:r>
                    </a:p>
                  </a:txBody>
                  <a:tcPr/>
                </a:tc>
                <a:extLst>
                  <a:ext uri="{0D108BD9-81ED-4DB2-BD59-A6C34878D82A}">
                    <a16:rowId xmlns:a16="http://schemas.microsoft.com/office/drawing/2014/main" val="10004"/>
                  </a:ext>
                </a:extLst>
              </a:tr>
              <a:tr h="949708">
                <a:tc>
                  <a:txBody>
                    <a:bodyPr/>
                    <a:lstStyle/>
                    <a:p>
                      <a:r>
                        <a:rPr lang="en-US" sz="2400" dirty="0"/>
                        <a:t>Sikkim &amp; </a:t>
                      </a:r>
                      <a:r>
                        <a:rPr lang="en-US" sz="2400" dirty="0" err="1"/>
                        <a:t>Arunanchal</a:t>
                      </a:r>
                      <a:r>
                        <a:rPr lang="en-US" sz="2400" dirty="0"/>
                        <a:t> Pradesh</a:t>
                      </a:r>
                    </a:p>
                  </a:txBody>
                  <a:tcPr/>
                </a:tc>
                <a:tc>
                  <a:txBody>
                    <a:bodyPr/>
                    <a:lstStyle/>
                    <a:p>
                      <a:r>
                        <a:rPr lang="en-US" sz="2400" dirty="0"/>
                        <a:t>Special Responsibilities</a:t>
                      </a:r>
                      <a:r>
                        <a:rPr lang="en-US" sz="2400" baseline="0" dirty="0"/>
                        <a:t> for the well being of the people of the State</a:t>
                      </a:r>
                      <a:endParaRPr lang="en-US" sz="2400" dirty="0"/>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Prime Minister and Chief Minister</a:t>
            </a:r>
          </a:p>
        </p:txBody>
      </p:sp>
      <p:graphicFrame>
        <p:nvGraphicFramePr>
          <p:cNvPr id="4" name="Content Placeholder 3"/>
          <p:cNvGraphicFramePr>
            <a:graphicFrameLocks noGrp="1"/>
          </p:cNvGraphicFramePr>
          <p:nvPr>
            <p:ph idx="1"/>
          </p:nvPr>
        </p:nvGraphicFramePr>
        <p:xfrm>
          <a:off x="457200" y="1600200"/>
          <a:ext cx="8305800" cy="4937760"/>
        </p:xfrm>
        <a:graphic>
          <a:graphicData uri="http://schemas.openxmlformats.org/drawingml/2006/table">
            <a:tbl>
              <a:tblPr firstRow="1" bandRow="1">
                <a:tableStyleId>{5C22544A-7EE6-4342-B048-85BDC9FD1C3A}</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609600">
                <a:tc>
                  <a:txBody>
                    <a:bodyPr/>
                    <a:lstStyle/>
                    <a:p>
                      <a:r>
                        <a:rPr lang="en-US" sz="2400" dirty="0"/>
                        <a:t>Prime Minister  (Art -75)</a:t>
                      </a:r>
                    </a:p>
                  </a:txBody>
                  <a:tcPr/>
                </a:tc>
                <a:tc>
                  <a:txBody>
                    <a:bodyPr/>
                    <a:lstStyle/>
                    <a:p>
                      <a:r>
                        <a:rPr lang="en-US" sz="2400" dirty="0"/>
                        <a:t>Chief Minister  (Art -164)</a:t>
                      </a:r>
                    </a:p>
                  </a:txBody>
                  <a:tcPr/>
                </a:tc>
                <a:extLst>
                  <a:ext uri="{0D108BD9-81ED-4DB2-BD59-A6C34878D82A}">
                    <a16:rowId xmlns:a16="http://schemas.microsoft.com/office/drawing/2014/main" val="10000"/>
                  </a:ext>
                </a:extLst>
              </a:tr>
              <a:tr h="975360">
                <a:tc>
                  <a:txBody>
                    <a:bodyPr/>
                    <a:lstStyle/>
                    <a:p>
                      <a:r>
                        <a:rPr lang="en-US" sz="2000" dirty="0"/>
                        <a:t>President has to appoint leader</a:t>
                      </a:r>
                      <a:r>
                        <a:rPr lang="en-US" sz="2000" baseline="0" dirty="0"/>
                        <a:t> of majority party  in </a:t>
                      </a:r>
                      <a:r>
                        <a:rPr lang="en-US" sz="2000" baseline="0" dirty="0" err="1"/>
                        <a:t>Lok</a:t>
                      </a:r>
                      <a:r>
                        <a:rPr lang="en-US" sz="2000" baseline="0" dirty="0"/>
                        <a:t> </a:t>
                      </a:r>
                      <a:r>
                        <a:rPr lang="en-US" sz="2000" baseline="0" dirty="0" err="1"/>
                        <a:t>Sabha</a:t>
                      </a:r>
                      <a:r>
                        <a:rPr lang="en-US" sz="2000" baseline="0" dirty="0"/>
                        <a:t> as Prime Minister</a:t>
                      </a:r>
                      <a:endParaRPr lang="en-US" sz="2000" dirty="0"/>
                    </a:p>
                  </a:txBody>
                  <a:tcPr/>
                </a:tc>
                <a:tc>
                  <a:txBody>
                    <a:bodyPr/>
                    <a:lstStyle/>
                    <a:p>
                      <a:r>
                        <a:rPr lang="en-US" sz="2000" dirty="0"/>
                        <a:t>Governor has to appoint leader of majority party State legislature as Chief Minister </a:t>
                      </a:r>
                    </a:p>
                  </a:txBody>
                  <a:tcPr/>
                </a:tc>
                <a:extLst>
                  <a:ext uri="{0D108BD9-81ED-4DB2-BD59-A6C34878D82A}">
                    <a16:rowId xmlns:a16="http://schemas.microsoft.com/office/drawing/2014/main" val="10001"/>
                  </a:ext>
                </a:extLst>
              </a:tr>
              <a:tr h="975360">
                <a:tc>
                  <a:txBody>
                    <a:bodyPr/>
                    <a:lstStyle/>
                    <a:p>
                      <a:r>
                        <a:rPr lang="en-US" sz="2000" dirty="0"/>
                        <a:t>When no Party</a:t>
                      </a:r>
                      <a:r>
                        <a:rPr lang="en-US" sz="2000" baseline="0" dirty="0"/>
                        <a:t> is in Majority president takes discretionary power  </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When no Party</a:t>
                      </a:r>
                      <a:r>
                        <a:rPr lang="en-US" sz="2000" baseline="0" dirty="0"/>
                        <a:t> is in Majority Governor takes discretionary power  </a:t>
                      </a:r>
                      <a:endParaRPr lang="en-US" sz="2000" dirty="0"/>
                    </a:p>
                    <a:p>
                      <a:endParaRPr lang="en-US" sz="2000" dirty="0"/>
                    </a:p>
                  </a:txBody>
                  <a:tcPr/>
                </a:tc>
                <a:extLst>
                  <a:ext uri="{0D108BD9-81ED-4DB2-BD59-A6C34878D82A}">
                    <a16:rowId xmlns:a16="http://schemas.microsoft.com/office/drawing/2014/main" val="10002"/>
                  </a:ext>
                </a:extLst>
              </a:tr>
              <a:tr h="975360">
                <a:tc>
                  <a:txBody>
                    <a:bodyPr/>
                    <a:lstStyle/>
                    <a:p>
                      <a:pPr>
                        <a:buFont typeface="Arial" pitchFamily="34" charset="0"/>
                        <a:buChar char="•"/>
                      </a:pPr>
                      <a:r>
                        <a:rPr lang="en-US" sz="2000" dirty="0"/>
                        <a:t>Oath is</a:t>
                      </a:r>
                      <a:r>
                        <a:rPr lang="en-US" sz="2000" baseline="0" dirty="0"/>
                        <a:t> given by President </a:t>
                      </a:r>
                    </a:p>
                    <a:p>
                      <a:pPr>
                        <a:buFont typeface="Arial" pitchFamily="34" charset="0"/>
                        <a:buChar char="•"/>
                      </a:pPr>
                      <a:r>
                        <a:rPr lang="en-US" sz="2000" baseline="0" dirty="0"/>
                        <a:t>Salary is determined by Parliament </a:t>
                      </a:r>
                      <a:endParaRPr lang="en-US" sz="2000" dirty="0"/>
                    </a:p>
                  </a:txBody>
                  <a:tcPr/>
                </a:tc>
                <a:tc>
                  <a:txBody>
                    <a:bodyPr/>
                    <a:lstStyle/>
                    <a:p>
                      <a:pPr>
                        <a:buFont typeface="Arial" pitchFamily="34" charset="0"/>
                        <a:buChar char="•"/>
                      </a:pPr>
                      <a:r>
                        <a:rPr lang="en-US" sz="2000" dirty="0"/>
                        <a:t>Oath is</a:t>
                      </a:r>
                      <a:r>
                        <a:rPr lang="en-US" sz="2000" baseline="0" dirty="0"/>
                        <a:t> given by Governor  </a:t>
                      </a:r>
                    </a:p>
                    <a:p>
                      <a:pPr>
                        <a:buFont typeface="Arial" pitchFamily="34" charset="0"/>
                        <a:buChar char="•"/>
                      </a:pPr>
                      <a:r>
                        <a:rPr lang="en-US" sz="2000" baseline="0" dirty="0"/>
                        <a:t>Salary is determined by State Legislature </a:t>
                      </a:r>
                      <a:endParaRPr lang="en-US" sz="2000" dirty="0"/>
                    </a:p>
                    <a:p>
                      <a:endParaRPr lang="en-US" sz="2000" dirty="0"/>
                    </a:p>
                  </a:txBody>
                  <a:tcPr/>
                </a:tc>
                <a:extLst>
                  <a:ext uri="{0D108BD9-81ED-4DB2-BD59-A6C34878D82A}">
                    <a16:rowId xmlns:a16="http://schemas.microsoft.com/office/drawing/2014/main" val="10003"/>
                  </a:ext>
                </a:extLst>
              </a:tr>
              <a:tr h="975360">
                <a:tc>
                  <a:txBody>
                    <a:bodyPr/>
                    <a:lstStyle/>
                    <a:p>
                      <a:r>
                        <a:rPr lang="en-US" sz="2000" dirty="0"/>
                        <a:t>COM</a:t>
                      </a:r>
                      <a:r>
                        <a:rPr lang="en-US" sz="2000" baseline="0" dirty="0"/>
                        <a:t> is appointed by president on the recommendation of PM</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COM</a:t>
                      </a:r>
                      <a:r>
                        <a:rPr lang="en-US" sz="2000" baseline="0" dirty="0"/>
                        <a:t> is appointed by Governor on the recommendation of CM</a:t>
                      </a:r>
                      <a:endParaRPr lang="en-US" sz="2000" dirty="0"/>
                    </a:p>
                    <a:p>
                      <a:endParaRPr lang="en-US" sz="2000"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52400" y="457200"/>
          <a:ext cx="8763000" cy="6228806"/>
        </p:xfrm>
        <a:graphic>
          <a:graphicData uri="http://schemas.openxmlformats.org/drawingml/2006/table">
            <a:tbl>
              <a:tblPr firstRow="1" bandRow="1">
                <a:tableStyleId>{5C22544A-7EE6-4342-B048-85BDC9FD1C3A}</a:tableStyleId>
              </a:tblPr>
              <a:tblGrid>
                <a:gridCol w="4420275">
                  <a:extLst>
                    <a:ext uri="{9D8B030D-6E8A-4147-A177-3AD203B41FA5}">
                      <a16:colId xmlns:a16="http://schemas.microsoft.com/office/drawing/2014/main" val="20000"/>
                    </a:ext>
                  </a:extLst>
                </a:gridCol>
                <a:gridCol w="4342725">
                  <a:extLst>
                    <a:ext uri="{9D8B030D-6E8A-4147-A177-3AD203B41FA5}">
                      <a16:colId xmlns:a16="http://schemas.microsoft.com/office/drawing/2014/main" val="20001"/>
                    </a:ext>
                  </a:extLst>
                </a:gridCol>
              </a:tblGrid>
              <a:tr h="849086">
                <a:tc>
                  <a:txBody>
                    <a:bodyPr/>
                    <a:lstStyle/>
                    <a:p>
                      <a:r>
                        <a:rPr lang="en-US" sz="2400" dirty="0"/>
                        <a:t>Prime Minister  (Art -75)</a:t>
                      </a:r>
                    </a:p>
                  </a:txBody>
                  <a:tcPr/>
                </a:tc>
                <a:tc>
                  <a:txBody>
                    <a:bodyPr/>
                    <a:lstStyle/>
                    <a:p>
                      <a:r>
                        <a:rPr lang="en-US" sz="2400" dirty="0"/>
                        <a:t>Chief Minister  (Art -164)</a:t>
                      </a:r>
                    </a:p>
                  </a:txBody>
                  <a:tcPr/>
                </a:tc>
                <a:extLst>
                  <a:ext uri="{0D108BD9-81ED-4DB2-BD59-A6C34878D82A}">
                    <a16:rowId xmlns:a16="http://schemas.microsoft.com/office/drawing/2014/main" val="10000"/>
                  </a:ext>
                </a:extLst>
              </a:tr>
              <a:tr h="751114">
                <a:tc>
                  <a:txBody>
                    <a:bodyPr/>
                    <a:lstStyle/>
                    <a:p>
                      <a:r>
                        <a:rPr lang="en-US" sz="2000" dirty="0"/>
                        <a:t>PM allocates &amp; reshuffles the portfolio</a:t>
                      </a:r>
                      <a:r>
                        <a:rPr lang="en-US" sz="2000" baseline="0" dirty="0"/>
                        <a:t> among mine </a:t>
                      </a:r>
                      <a:endParaRPr lang="en-US" sz="2000" dirty="0"/>
                    </a:p>
                  </a:txBody>
                  <a:tcPr/>
                </a:tc>
                <a:tc>
                  <a:txBody>
                    <a:bodyPr/>
                    <a:lstStyle/>
                    <a:p>
                      <a:r>
                        <a:rPr lang="en-US" sz="2000" dirty="0"/>
                        <a:t>CM allocates &amp; reshuffles the portfolio</a:t>
                      </a:r>
                      <a:r>
                        <a:rPr lang="en-US" sz="2000" baseline="0" dirty="0"/>
                        <a:t> among mine </a:t>
                      </a:r>
                      <a:endParaRPr lang="en-US" sz="2000" dirty="0"/>
                    </a:p>
                  </a:txBody>
                  <a:tcPr/>
                </a:tc>
                <a:extLst>
                  <a:ext uri="{0D108BD9-81ED-4DB2-BD59-A6C34878D82A}">
                    <a16:rowId xmlns:a16="http://schemas.microsoft.com/office/drawing/2014/main" val="10001"/>
                  </a:ext>
                </a:extLst>
              </a:tr>
              <a:tr h="457200">
                <a:tc>
                  <a:txBody>
                    <a:bodyPr/>
                    <a:lstStyle/>
                    <a:p>
                      <a:r>
                        <a:rPr lang="en-US" sz="2000" dirty="0"/>
                        <a:t>PM can ask</a:t>
                      </a:r>
                      <a:r>
                        <a:rPr lang="en-US" sz="2000" baseline="0" dirty="0"/>
                        <a:t> any minister to resigns </a:t>
                      </a:r>
                      <a:endParaRPr lang="en-US" sz="2000" dirty="0"/>
                    </a:p>
                  </a:txBody>
                  <a:tcPr/>
                </a:tc>
                <a:tc>
                  <a:txBody>
                    <a:bodyPr/>
                    <a:lstStyle/>
                    <a:p>
                      <a:r>
                        <a:rPr lang="en-US" sz="2000" dirty="0"/>
                        <a:t>CM can ask</a:t>
                      </a:r>
                      <a:r>
                        <a:rPr lang="en-US" sz="2000" baseline="0" dirty="0"/>
                        <a:t> any minister to resigns </a:t>
                      </a:r>
                      <a:endParaRPr lang="en-US" sz="2000" dirty="0"/>
                    </a:p>
                  </a:txBody>
                  <a:tcPr/>
                </a:tc>
                <a:extLst>
                  <a:ext uri="{0D108BD9-81ED-4DB2-BD59-A6C34878D82A}">
                    <a16:rowId xmlns:a16="http://schemas.microsoft.com/office/drawing/2014/main" val="10002"/>
                  </a:ext>
                </a:extLst>
              </a:tr>
              <a:tr h="849086">
                <a:tc>
                  <a:txBody>
                    <a:bodyPr/>
                    <a:lstStyle/>
                    <a:p>
                      <a:r>
                        <a:rPr lang="en-US" sz="2000" dirty="0"/>
                        <a:t>The resignation</a:t>
                      </a:r>
                      <a:r>
                        <a:rPr lang="en-US" sz="2000" baseline="0" dirty="0"/>
                        <a:t> or death of PM automatically dissolve the COM</a:t>
                      </a:r>
                      <a:endParaRPr lang="en-US" sz="2000" dirty="0"/>
                    </a:p>
                  </a:txBody>
                  <a:tcPr/>
                </a:tc>
                <a:tc>
                  <a:txBody>
                    <a:bodyPr/>
                    <a:lstStyle/>
                    <a:p>
                      <a:r>
                        <a:rPr lang="en-US" sz="2000" dirty="0"/>
                        <a:t>The resignation</a:t>
                      </a:r>
                      <a:r>
                        <a:rPr lang="en-US" sz="2000" baseline="0" dirty="0"/>
                        <a:t> or death of CM automatically dissolve the COM</a:t>
                      </a:r>
                      <a:endParaRPr lang="en-US" sz="2000" dirty="0"/>
                    </a:p>
                  </a:txBody>
                  <a:tcPr/>
                </a:tc>
                <a:extLst>
                  <a:ext uri="{0D108BD9-81ED-4DB2-BD59-A6C34878D82A}">
                    <a16:rowId xmlns:a16="http://schemas.microsoft.com/office/drawing/2014/main" val="10003"/>
                  </a:ext>
                </a:extLst>
              </a:tr>
              <a:tr h="718456">
                <a:tc>
                  <a:txBody>
                    <a:bodyPr/>
                    <a:lstStyle/>
                    <a:p>
                      <a:r>
                        <a:rPr lang="en-US" sz="2000" dirty="0"/>
                        <a:t>PM</a:t>
                      </a:r>
                      <a:r>
                        <a:rPr lang="en-US" sz="2000" baseline="0" dirty="0"/>
                        <a:t> is the principal channel of Communication b/w president and COM</a:t>
                      </a:r>
                      <a:endParaRPr lang="en-US" sz="2000" dirty="0"/>
                    </a:p>
                  </a:txBody>
                  <a:tcPr/>
                </a:tc>
                <a:tc>
                  <a:txBody>
                    <a:bodyPr/>
                    <a:lstStyle/>
                    <a:p>
                      <a:r>
                        <a:rPr lang="en-US" sz="2000" dirty="0"/>
                        <a:t>CM</a:t>
                      </a:r>
                      <a:r>
                        <a:rPr lang="en-US" sz="2000" baseline="0" dirty="0"/>
                        <a:t> is the principal channel of Communication b/w Governor and COM</a:t>
                      </a:r>
                      <a:endParaRPr lang="en-US" sz="2000" dirty="0"/>
                    </a:p>
                  </a:txBody>
                  <a:tcPr/>
                </a:tc>
                <a:extLst>
                  <a:ext uri="{0D108BD9-81ED-4DB2-BD59-A6C34878D82A}">
                    <a16:rowId xmlns:a16="http://schemas.microsoft.com/office/drawing/2014/main" val="10004"/>
                  </a:ext>
                </a:extLst>
              </a:tr>
              <a:tr h="1295400">
                <a:tc>
                  <a:txBody>
                    <a:bodyPr/>
                    <a:lstStyle/>
                    <a:p>
                      <a:r>
                        <a:rPr lang="en-US" sz="2000" dirty="0"/>
                        <a:t>PM advises the appointment</a:t>
                      </a:r>
                      <a:r>
                        <a:rPr lang="en-US" sz="2000" baseline="0" dirty="0"/>
                        <a:t> of Attorney General, Chairman &amp; Member of UPSC, Election Commission, Chairman and member of Finance commission   </a:t>
                      </a:r>
                      <a:endParaRPr lang="en-US" sz="2000" dirty="0"/>
                    </a:p>
                  </a:txBody>
                  <a:tcPr/>
                </a:tc>
                <a:tc>
                  <a:txBody>
                    <a:bodyPr/>
                    <a:lstStyle/>
                    <a:p>
                      <a:r>
                        <a:rPr lang="en-US" sz="2000" dirty="0"/>
                        <a:t>CM advises the appointment</a:t>
                      </a:r>
                      <a:r>
                        <a:rPr lang="en-US" sz="2000" baseline="0" dirty="0"/>
                        <a:t> of Advocate General, Chairman &amp; Member of State PSC,  State Election Commission,</a:t>
                      </a:r>
                      <a:endParaRPr lang="en-US" sz="2000" dirty="0"/>
                    </a:p>
                  </a:txBody>
                  <a:tcPr/>
                </a:tc>
                <a:extLst>
                  <a:ext uri="{0D108BD9-81ED-4DB2-BD59-A6C34878D82A}">
                    <a16:rowId xmlns:a16="http://schemas.microsoft.com/office/drawing/2014/main" val="10005"/>
                  </a:ext>
                </a:extLst>
              </a:tr>
              <a:tr h="849086">
                <a:tc>
                  <a:txBody>
                    <a:bodyPr/>
                    <a:lstStyle/>
                    <a:p>
                      <a:r>
                        <a:rPr lang="en-US" sz="2000" dirty="0"/>
                        <a:t>He advises president on Summoning &amp; Proroguing of the session of Parliament</a:t>
                      </a:r>
                    </a:p>
                  </a:txBody>
                  <a:tcPr/>
                </a:tc>
                <a:tc>
                  <a:txBody>
                    <a:bodyPr/>
                    <a:lstStyle/>
                    <a:p>
                      <a:r>
                        <a:rPr lang="en-US" sz="2000" dirty="0"/>
                        <a:t>He advises Governor Summoning &amp; Proroguing of the session</a:t>
                      </a:r>
                      <a:r>
                        <a:rPr lang="en-US" sz="2000" baseline="0" dirty="0"/>
                        <a:t> </a:t>
                      </a:r>
                      <a:r>
                        <a:rPr lang="en-US" sz="2000" dirty="0"/>
                        <a:t> of State</a:t>
                      </a:r>
                      <a:r>
                        <a:rPr lang="en-US" sz="2000" baseline="0" dirty="0"/>
                        <a:t> Legislation</a:t>
                      </a:r>
                      <a:endParaRPr lang="en-US" sz="2000" dirty="0"/>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normAutofit fontScale="90000"/>
          </a:bodyPr>
          <a:lstStyle/>
          <a:p>
            <a:r>
              <a:rPr lang="en-US" dirty="0"/>
              <a:t>Central &amp; State (COM)</a:t>
            </a:r>
          </a:p>
        </p:txBody>
      </p:sp>
      <p:graphicFrame>
        <p:nvGraphicFramePr>
          <p:cNvPr id="4" name="Table 3"/>
          <p:cNvGraphicFramePr>
            <a:graphicFrameLocks noGrp="1"/>
          </p:cNvGraphicFramePr>
          <p:nvPr/>
        </p:nvGraphicFramePr>
        <p:xfrm>
          <a:off x="381000" y="762000"/>
          <a:ext cx="8305800" cy="5783958"/>
        </p:xfrm>
        <a:graphic>
          <a:graphicData uri="http://schemas.openxmlformats.org/drawingml/2006/table">
            <a:tbl>
              <a:tblPr firstRow="1" bandRow="1">
                <a:tableStyleId>{5C22544A-7EE6-4342-B048-85BDC9FD1C3A}</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914400">
                <a:tc>
                  <a:txBody>
                    <a:bodyPr/>
                    <a:lstStyle/>
                    <a:p>
                      <a:r>
                        <a:rPr lang="en-US" sz="2400" dirty="0"/>
                        <a:t>Central Council of Minister (COM) Art 74</a:t>
                      </a:r>
                    </a:p>
                  </a:txBody>
                  <a:tcPr/>
                </a:tc>
                <a:tc>
                  <a:txBody>
                    <a:bodyPr/>
                    <a:lstStyle/>
                    <a:p>
                      <a:r>
                        <a:rPr lang="en-US" sz="2400" dirty="0"/>
                        <a:t>State Council Of Ministers (S-COM) Art 163</a:t>
                      </a:r>
                    </a:p>
                  </a:txBody>
                  <a:tcPr/>
                </a:tc>
                <a:extLst>
                  <a:ext uri="{0D108BD9-81ED-4DB2-BD59-A6C34878D82A}">
                    <a16:rowId xmlns:a16="http://schemas.microsoft.com/office/drawing/2014/main" val="10000"/>
                  </a:ext>
                </a:extLst>
              </a:tr>
              <a:tr h="1044066">
                <a:tc>
                  <a:txBody>
                    <a:bodyPr/>
                    <a:lstStyle/>
                    <a:p>
                      <a:r>
                        <a:rPr lang="en-US" dirty="0"/>
                        <a:t>Art 75 deals with the appointment,</a:t>
                      </a:r>
                      <a:r>
                        <a:rPr lang="en-US" baseline="0" dirty="0"/>
                        <a:t> tenure, responsibility, Qualification , Oath, Salaries &amp; Allowance of Min</a:t>
                      </a:r>
                      <a:endParaRPr lang="en-US" dirty="0"/>
                    </a:p>
                  </a:txBody>
                  <a:tcPr/>
                </a:tc>
                <a:tc>
                  <a:txBody>
                    <a:bodyPr/>
                    <a:lstStyle/>
                    <a:p>
                      <a:r>
                        <a:rPr lang="en-US" dirty="0"/>
                        <a:t>Art 163 deals with the appointment,</a:t>
                      </a:r>
                      <a:r>
                        <a:rPr lang="en-US" baseline="0" dirty="0"/>
                        <a:t> tenure, responsibility, Qualification , Oath, Salaries &amp; Allowance of Min</a:t>
                      </a:r>
                      <a:endParaRPr lang="en-US" dirty="0"/>
                    </a:p>
                  </a:txBody>
                  <a:tcPr/>
                </a:tc>
                <a:extLst>
                  <a:ext uri="{0D108BD9-81ED-4DB2-BD59-A6C34878D82A}">
                    <a16:rowId xmlns:a16="http://schemas.microsoft.com/office/drawing/2014/main" val="10001"/>
                  </a:ext>
                </a:extLst>
              </a:tr>
              <a:tr h="1044066">
                <a:tc>
                  <a:txBody>
                    <a:bodyPr/>
                    <a:lstStyle/>
                    <a:p>
                      <a:r>
                        <a:rPr lang="en-US" dirty="0"/>
                        <a:t>COM</a:t>
                      </a:r>
                      <a:r>
                        <a:rPr lang="en-US" baseline="0" dirty="0"/>
                        <a:t> strength should not increase 15% of total strength of the </a:t>
                      </a:r>
                      <a:r>
                        <a:rPr lang="en-US" baseline="0" dirty="0" err="1"/>
                        <a:t>Lok</a:t>
                      </a:r>
                      <a:r>
                        <a:rPr lang="en-US" baseline="0" dirty="0"/>
                        <a:t> </a:t>
                      </a:r>
                      <a:r>
                        <a:rPr lang="en-US" baseline="0" dirty="0" err="1"/>
                        <a:t>Sabha</a:t>
                      </a:r>
                      <a:r>
                        <a:rPr lang="en-US" baseline="0" dirty="0"/>
                        <a:t> (As  per 91</a:t>
                      </a:r>
                      <a:r>
                        <a:rPr lang="en-US" baseline="30000" dirty="0"/>
                        <a:t>st</a:t>
                      </a:r>
                      <a:r>
                        <a:rPr lang="en-US" baseline="0" dirty="0"/>
                        <a:t>  amendment Act)</a:t>
                      </a:r>
                      <a:endParaRPr lang="en-US" dirty="0"/>
                    </a:p>
                  </a:txBody>
                  <a:tcPr/>
                </a:tc>
                <a:tc>
                  <a:txBody>
                    <a:bodyPr/>
                    <a:lstStyle/>
                    <a:p>
                      <a:r>
                        <a:rPr lang="en-US" dirty="0"/>
                        <a:t>S-COM</a:t>
                      </a:r>
                      <a:r>
                        <a:rPr lang="en-US" baseline="0" dirty="0"/>
                        <a:t> strength should not increase 15% of total strength of the Legislative assembly (As  per 91</a:t>
                      </a:r>
                      <a:r>
                        <a:rPr lang="en-US" baseline="30000" dirty="0"/>
                        <a:t>st</a:t>
                      </a:r>
                      <a:r>
                        <a:rPr lang="en-US" baseline="0" dirty="0"/>
                        <a:t>  amendment Act)</a:t>
                      </a:r>
                      <a:endParaRPr lang="en-US" dirty="0"/>
                    </a:p>
                  </a:txBody>
                  <a:tcPr/>
                </a:tc>
                <a:extLst>
                  <a:ext uri="{0D108BD9-81ED-4DB2-BD59-A6C34878D82A}">
                    <a16:rowId xmlns:a16="http://schemas.microsoft.com/office/drawing/2014/main" val="10002"/>
                  </a:ext>
                </a:extLst>
              </a:tr>
              <a:tr h="1574298">
                <a:tc>
                  <a:txBody>
                    <a:bodyPr/>
                    <a:lstStyle/>
                    <a:p>
                      <a:r>
                        <a:rPr lang="en-US" dirty="0"/>
                        <a:t>A COM must be a member of either of the house of the parliament,</a:t>
                      </a:r>
                      <a:r>
                        <a:rPr lang="en-US" baseline="0" dirty="0"/>
                        <a:t> If a person who is not a member of either house of the &amp; is appointed as minister he shall ceases to be a minister within 6 month( Until he manages to win </a:t>
                      </a:r>
                      <a:endParaRPr lang="en-US" dirty="0"/>
                    </a:p>
                  </a:txBody>
                  <a:tcPr/>
                </a:tc>
                <a:tc>
                  <a:txBody>
                    <a:bodyPr/>
                    <a:lstStyle/>
                    <a:p>
                      <a:r>
                        <a:rPr lang="en-US" dirty="0"/>
                        <a:t>A S-COM must be a member of either of the house**,</a:t>
                      </a:r>
                      <a:r>
                        <a:rPr lang="en-US" baseline="0" dirty="0"/>
                        <a:t> If a person who is not a member of either house of the &amp; is appointed as minister he shall ceases to be a minister within 6 month( Until he manages to win </a:t>
                      </a:r>
                      <a:endParaRPr lang="en-US" dirty="0"/>
                    </a:p>
                  </a:txBody>
                  <a:tcPr/>
                </a:tc>
                <a:extLst>
                  <a:ext uri="{0D108BD9-81ED-4DB2-BD59-A6C34878D82A}">
                    <a16:rowId xmlns:a16="http://schemas.microsoft.com/office/drawing/2014/main" val="10003"/>
                  </a:ext>
                </a:extLst>
              </a:tr>
              <a:tr h="1044066">
                <a:tc>
                  <a:txBody>
                    <a:bodyPr/>
                    <a:lstStyle/>
                    <a:p>
                      <a:r>
                        <a:rPr lang="en-US" dirty="0"/>
                        <a:t>Take oath from President</a:t>
                      </a:r>
                    </a:p>
                  </a:txBody>
                  <a:tcPr/>
                </a:tc>
                <a:tc>
                  <a:txBody>
                    <a:bodyPr/>
                    <a:lstStyle/>
                    <a:p>
                      <a:r>
                        <a:rPr lang="en-US" dirty="0"/>
                        <a:t>Take oath from Governor</a:t>
                      </a:r>
                      <a:r>
                        <a:rPr lang="en-US" baseline="0" dirty="0"/>
                        <a:t> </a:t>
                      </a:r>
                      <a:endParaRPr lang="en-US"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381000" y="1524000"/>
          <a:ext cx="8382000" cy="3547533"/>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762000">
                <a:tc>
                  <a:txBody>
                    <a:bodyPr/>
                    <a:lstStyle/>
                    <a:p>
                      <a:r>
                        <a:rPr lang="en-US" sz="2400" dirty="0"/>
                        <a:t>Central Council of Minister (COM) Art 74</a:t>
                      </a:r>
                    </a:p>
                  </a:txBody>
                  <a:tcPr/>
                </a:tc>
                <a:tc>
                  <a:txBody>
                    <a:bodyPr/>
                    <a:lstStyle/>
                    <a:p>
                      <a:r>
                        <a:rPr lang="en-US" sz="2400" dirty="0"/>
                        <a:t>State Council Of Ministers </a:t>
                      </a:r>
                    </a:p>
                    <a:p>
                      <a:r>
                        <a:rPr lang="en-US" sz="2400" dirty="0"/>
                        <a:t>(S-COM) Art 163</a:t>
                      </a:r>
                    </a:p>
                  </a:txBody>
                  <a:tcPr/>
                </a:tc>
                <a:extLst>
                  <a:ext uri="{0D108BD9-81ED-4DB2-BD59-A6C34878D82A}">
                    <a16:rowId xmlns:a16="http://schemas.microsoft.com/office/drawing/2014/main" val="10000"/>
                  </a:ext>
                </a:extLst>
              </a:tr>
              <a:tr h="1261533">
                <a:tc>
                  <a:txBody>
                    <a:bodyPr/>
                    <a:lstStyle/>
                    <a:p>
                      <a:r>
                        <a:rPr lang="en-US" dirty="0"/>
                        <a:t>A COM may be chosen from  either  house of the parliament </a:t>
                      </a:r>
                    </a:p>
                  </a:txBody>
                  <a:tcPr/>
                </a:tc>
                <a:tc>
                  <a:txBody>
                    <a:bodyPr/>
                    <a:lstStyle/>
                    <a:p>
                      <a:r>
                        <a:rPr lang="en-US" dirty="0"/>
                        <a:t>A S-COM may</a:t>
                      </a:r>
                      <a:r>
                        <a:rPr lang="en-US" baseline="0" dirty="0"/>
                        <a:t> be chosen from either  house of State legislature</a:t>
                      </a:r>
                      <a:endParaRPr lang="en-US" dirty="0"/>
                    </a:p>
                  </a:txBody>
                  <a:tcPr/>
                </a:tc>
                <a:extLst>
                  <a:ext uri="{0D108BD9-81ED-4DB2-BD59-A6C34878D82A}">
                    <a16:rowId xmlns:a16="http://schemas.microsoft.com/office/drawing/2014/main" val="10001"/>
                  </a:ext>
                </a:extLst>
              </a:tr>
              <a:tr h="1261533">
                <a:tc>
                  <a:txBody>
                    <a:bodyPr/>
                    <a:lstStyle/>
                    <a:p>
                      <a:r>
                        <a:rPr lang="en-US" dirty="0"/>
                        <a:t>A COM</a:t>
                      </a:r>
                      <a:r>
                        <a:rPr lang="en-US" baseline="0" dirty="0"/>
                        <a:t> who is member of one house has the right to speak in &amp; take part in proceedings of other house without any right to vote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 COM</a:t>
                      </a:r>
                      <a:r>
                        <a:rPr lang="en-US" baseline="0" dirty="0"/>
                        <a:t> who is member of one house has the right to speak in &amp; take part in proceedings of other house without any right to vote</a:t>
                      </a:r>
                      <a:endParaRPr lang="en-US" dirty="0"/>
                    </a:p>
                    <a:p>
                      <a:endParaRPr lang="en-US"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05000" y="381000"/>
            <a:ext cx="5029200" cy="523220"/>
          </a:xfrm>
          <a:prstGeom prst="rect">
            <a:avLst/>
          </a:prstGeom>
          <a:noFill/>
        </p:spPr>
        <p:txBody>
          <a:bodyPr wrap="square" rtlCol="0">
            <a:spAutoFit/>
          </a:bodyPr>
          <a:lstStyle/>
          <a:p>
            <a:pPr algn="ctr"/>
            <a:r>
              <a:rPr lang="en-US" sz="2800" dirty="0"/>
              <a:t>Council of Ministers </a:t>
            </a:r>
          </a:p>
        </p:txBody>
      </p:sp>
      <p:sp>
        <p:nvSpPr>
          <p:cNvPr id="5" name="Oval 4"/>
          <p:cNvSpPr/>
          <p:nvPr/>
        </p:nvSpPr>
        <p:spPr>
          <a:xfrm>
            <a:off x="3505200" y="1066800"/>
            <a:ext cx="1981200" cy="1447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Oval 5"/>
          <p:cNvSpPr/>
          <p:nvPr/>
        </p:nvSpPr>
        <p:spPr>
          <a:xfrm>
            <a:off x="3733800" y="1219200"/>
            <a:ext cx="1524000" cy="12192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Oval 6"/>
          <p:cNvSpPr/>
          <p:nvPr/>
        </p:nvSpPr>
        <p:spPr>
          <a:xfrm>
            <a:off x="4038600" y="1447800"/>
            <a:ext cx="9144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a:stCxn id="5" idx="7"/>
          </p:cNvCxnSpPr>
          <p:nvPr/>
        </p:nvCxnSpPr>
        <p:spPr>
          <a:xfrm rot="16200000" flipH="1">
            <a:off x="5790243" y="684842"/>
            <a:ext cx="16574" cy="12045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943600" y="990600"/>
            <a:ext cx="3200400" cy="369332"/>
          </a:xfrm>
          <a:prstGeom prst="rect">
            <a:avLst/>
          </a:prstGeom>
          <a:noFill/>
        </p:spPr>
        <p:txBody>
          <a:bodyPr wrap="square" rtlCol="0">
            <a:spAutoFit/>
          </a:bodyPr>
          <a:lstStyle/>
          <a:p>
            <a:r>
              <a:rPr lang="en-US" dirty="0"/>
              <a:t>Deputy Minister (Junior Most)</a:t>
            </a:r>
          </a:p>
        </p:txBody>
      </p:sp>
      <p:cxnSp>
        <p:nvCxnSpPr>
          <p:cNvPr id="15" name="Straight Arrow Connector 14"/>
          <p:cNvCxnSpPr>
            <a:stCxn id="6" idx="6"/>
          </p:cNvCxnSpPr>
          <p:nvPr/>
        </p:nvCxnSpPr>
        <p:spPr>
          <a:xfrm>
            <a:off x="5257800" y="1828800"/>
            <a:ext cx="1143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019800" y="1524000"/>
            <a:ext cx="3124200" cy="369332"/>
          </a:xfrm>
          <a:prstGeom prst="rect">
            <a:avLst/>
          </a:prstGeom>
          <a:noFill/>
        </p:spPr>
        <p:txBody>
          <a:bodyPr wrap="square" rtlCol="0">
            <a:spAutoFit/>
          </a:bodyPr>
          <a:lstStyle/>
          <a:p>
            <a:r>
              <a:rPr lang="en-US" dirty="0"/>
              <a:t>Minister of State (</a:t>
            </a:r>
            <a:r>
              <a:rPr lang="en-US" dirty="0" err="1"/>
              <a:t>IInd</a:t>
            </a:r>
            <a:r>
              <a:rPr lang="en-US" dirty="0"/>
              <a:t> Rank)</a:t>
            </a:r>
          </a:p>
        </p:txBody>
      </p:sp>
      <p:cxnSp>
        <p:nvCxnSpPr>
          <p:cNvPr id="18" name="Straight Arrow Connector 17"/>
          <p:cNvCxnSpPr>
            <a:stCxn id="7" idx="5"/>
          </p:cNvCxnSpPr>
          <p:nvPr/>
        </p:nvCxnSpPr>
        <p:spPr>
          <a:xfrm rot="16200000" flipH="1">
            <a:off x="5592249" y="1325047"/>
            <a:ext cx="35392" cy="1581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019800" y="2057400"/>
            <a:ext cx="3124200" cy="646331"/>
          </a:xfrm>
          <a:prstGeom prst="rect">
            <a:avLst/>
          </a:prstGeom>
          <a:noFill/>
        </p:spPr>
        <p:txBody>
          <a:bodyPr wrap="square" rtlCol="0">
            <a:spAutoFit/>
          </a:bodyPr>
          <a:lstStyle/>
          <a:p>
            <a:r>
              <a:rPr lang="en-US" dirty="0"/>
              <a:t>Cabinet Ministers (Se. Most Minister)</a:t>
            </a:r>
          </a:p>
        </p:txBody>
      </p:sp>
      <p:sp>
        <p:nvSpPr>
          <p:cNvPr id="25" name="TextBox 24"/>
          <p:cNvSpPr txBox="1"/>
          <p:nvPr/>
        </p:nvSpPr>
        <p:spPr>
          <a:xfrm>
            <a:off x="381000" y="2971800"/>
            <a:ext cx="8458200" cy="3785652"/>
          </a:xfrm>
          <a:prstGeom prst="rect">
            <a:avLst/>
          </a:prstGeom>
          <a:noFill/>
        </p:spPr>
        <p:txBody>
          <a:bodyPr wrap="square" rtlCol="0">
            <a:spAutoFit/>
          </a:bodyPr>
          <a:lstStyle/>
          <a:p>
            <a:r>
              <a:rPr lang="en-US" sz="2400" i="1" u="sng" dirty="0"/>
              <a:t>Word Cabinet was added in the constitution in 44</a:t>
            </a:r>
            <a:r>
              <a:rPr lang="en-US" sz="2400" i="1" u="sng" baseline="30000" dirty="0"/>
              <a:t>th</a:t>
            </a:r>
            <a:r>
              <a:rPr lang="en-US" sz="2400" i="1" u="sng" dirty="0"/>
              <a:t> Amendment Act  1978</a:t>
            </a:r>
          </a:p>
          <a:p>
            <a:pPr>
              <a:buFont typeface="Wingdings" pitchFamily="2" charset="2"/>
              <a:buChar char="q"/>
            </a:pPr>
            <a:r>
              <a:rPr lang="en-US" sz="2400" dirty="0"/>
              <a:t>Cabinet – An informal body of senior minister s who forms the inner circle. It is the cabinet which takes the important decision.</a:t>
            </a:r>
          </a:p>
          <a:p>
            <a:pPr>
              <a:buFont typeface="Wingdings" pitchFamily="2" charset="2"/>
              <a:buChar char="q"/>
            </a:pPr>
            <a:endParaRPr lang="en-US" sz="2400" dirty="0"/>
          </a:p>
          <a:p>
            <a:pPr>
              <a:buFont typeface="Wingdings" pitchFamily="2" charset="2"/>
              <a:buChar char="q"/>
            </a:pPr>
            <a:r>
              <a:rPr lang="en-US" sz="2400" dirty="0"/>
              <a:t>A Cabinet Minister always heads a ministry &amp; is given independence charge of it, unless he is appointed as a minister  without portfolio</a:t>
            </a:r>
          </a:p>
          <a:p>
            <a:pPr>
              <a:buFont typeface="Wingdings" pitchFamily="2" charset="2"/>
              <a:buChar char="q"/>
            </a:pPr>
            <a:endParaRPr lang="en-US" sz="2400" dirty="0"/>
          </a:p>
          <a:p>
            <a:pPr>
              <a:buFont typeface="Wingdings" pitchFamily="2" charset="2"/>
              <a:buChar char="q"/>
            </a:pPr>
            <a:r>
              <a:rPr lang="en-US" sz="2400" dirty="0"/>
              <a:t>A Cabinet minister attends meeting  of cabinet on his own right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371600"/>
            <a:ext cx="8229600" cy="4525963"/>
          </a:xfrm>
        </p:spPr>
        <p:txBody>
          <a:bodyPr/>
          <a:lstStyle/>
          <a:p>
            <a:r>
              <a:rPr lang="en-US" sz="2800" b="1" i="1" u="sng" dirty="0"/>
              <a:t>Minister of State- </a:t>
            </a:r>
            <a:r>
              <a:rPr lang="en-US" sz="2800" dirty="0" err="1"/>
              <a:t>MoS</a:t>
            </a:r>
            <a:r>
              <a:rPr lang="en-US" sz="2800" dirty="0"/>
              <a:t> is given an independent charge but generally assist a cabinet minister in running the ministry</a:t>
            </a:r>
            <a:endParaRPr lang="en-US" dirty="0"/>
          </a:p>
          <a:p>
            <a:pPr lvl="1"/>
            <a:r>
              <a:rPr lang="en-US" sz="2400" dirty="0"/>
              <a:t>A meeting of State can not attend meeting of cabinet on his own right but can attend if Invited</a:t>
            </a:r>
          </a:p>
          <a:p>
            <a:pPr lvl="1">
              <a:buNone/>
            </a:pPr>
            <a:endParaRPr lang="en-US" sz="2400" dirty="0"/>
          </a:p>
          <a:p>
            <a:pPr lvl="1">
              <a:buNone/>
            </a:pPr>
            <a:r>
              <a:rPr lang="en-US" b="1" i="1" u="sng" dirty="0"/>
              <a:t>Deputy Ministry </a:t>
            </a:r>
            <a:r>
              <a:rPr lang="en-US" sz="2400" dirty="0"/>
              <a:t>– Function under minister of State and cabinet minister.</a:t>
            </a:r>
          </a:p>
          <a:p>
            <a:pPr lvl="1"/>
            <a:r>
              <a:rPr lang="en-US" sz="2400" dirty="0"/>
              <a:t>They Don’t attend meeting</a:t>
            </a:r>
          </a:p>
          <a:p>
            <a:pPr lvl="1">
              <a:buNone/>
            </a:pPr>
            <a:r>
              <a:rPr lang="en-US" sz="2400" dirty="0"/>
              <a:t>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Responsibility of COM</a:t>
            </a:r>
          </a:p>
        </p:txBody>
      </p:sp>
      <p:sp>
        <p:nvSpPr>
          <p:cNvPr id="3" name="Content Placeholder 2"/>
          <p:cNvSpPr>
            <a:spLocks noGrp="1"/>
          </p:cNvSpPr>
          <p:nvPr>
            <p:ph idx="1"/>
          </p:nvPr>
        </p:nvSpPr>
        <p:spPr/>
        <p:txBody>
          <a:bodyPr>
            <a:normAutofit fontScale="92500" lnSpcReduction="10000"/>
          </a:bodyPr>
          <a:lstStyle/>
          <a:p>
            <a:r>
              <a:rPr lang="en-US" dirty="0"/>
              <a:t>COM’s is collectively responsible for </a:t>
            </a:r>
            <a:r>
              <a:rPr lang="en-US" dirty="0" err="1"/>
              <a:t>lok</a:t>
            </a:r>
            <a:r>
              <a:rPr lang="en-US" dirty="0"/>
              <a:t> </a:t>
            </a:r>
            <a:r>
              <a:rPr lang="en-US" dirty="0" err="1"/>
              <a:t>sabha</a:t>
            </a:r>
            <a:r>
              <a:rPr lang="en-US" dirty="0"/>
              <a:t>/Legislative Assembly</a:t>
            </a:r>
          </a:p>
          <a:p>
            <a:r>
              <a:rPr lang="en-US" dirty="0"/>
              <a:t>If a minister does not agree with the decision of cabinet, he has no option but to resign from COM’s . He can’t disapprove a decision of the cabinet &amp; at the same time remain as a member of COM’s</a:t>
            </a:r>
          </a:p>
          <a:p>
            <a:r>
              <a:rPr lang="en-US" dirty="0"/>
              <a:t>All ministers are individually responsible to the president (Governor) ministers hold office during the pleasure of President (Governor)</a:t>
            </a:r>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normAutofit/>
          </a:bodyPr>
          <a:lstStyle/>
          <a:p>
            <a:r>
              <a:rPr lang="en-US" dirty="0"/>
              <a:t>If PM/CM resigns or dies, whole COM’s dissolve or COM’s does not exist without the PM/CM</a:t>
            </a:r>
          </a:p>
          <a:p>
            <a:r>
              <a:rPr lang="en-US" dirty="0"/>
              <a:t>No confidence motion is introduced &amp; passed against a whole council of minister then Government (Whole COM with PM/CM) have to resign from the government ship </a:t>
            </a:r>
          </a:p>
          <a:p>
            <a:r>
              <a:rPr lang="en-US" dirty="0"/>
              <a:t>No confidence motion can’t be introduced &amp; passed against individual Ministers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Parliament and State legislature </a:t>
            </a:r>
          </a:p>
        </p:txBody>
      </p:sp>
      <p:sp>
        <p:nvSpPr>
          <p:cNvPr id="3" name="Content Placeholder 2"/>
          <p:cNvSpPr>
            <a:spLocks noGrp="1"/>
          </p:cNvSpPr>
          <p:nvPr>
            <p:ph idx="1"/>
          </p:nvPr>
        </p:nvSpPr>
        <p:spPr/>
        <p:txBody>
          <a:bodyPr/>
          <a:lstStyle/>
          <a:p>
            <a:r>
              <a:rPr lang="en-US" dirty="0"/>
              <a:t>It is legislative organ of Union government</a:t>
            </a:r>
          </a:p>
          <a:p>
            <a:pPr lvl="1">
              <a:buFont typeface="Wingdings" pitchFamily="2" charset="2"/>
              <a:buChar char="q"/>
            </a:pPr>
            <a:r>
              <a:rPr lang="en-US" dirty="0"/>
              <a:t>Art 79 to 122 in Part V Union</a:t>
            </a:r>
          </a:p>
          <a:p>
            <a:pPr lvl="1">
              <a:buFont typeface="Wingdings" pitchFamily="2" charset="2"/>
              <a:buChar char="q"/>
            </a:pPr>
            <a:r>
              <a:rPr lang="en-US" dirty="0"/>
              <a:t>Art 168 to 212 in Part VI State Legislature</a:t>
            </a:r>
          </a:p>
          <a:p>
            <a:pPr lvl="1">
              <a:buNone/>
            </a:pPr>
            <a:endParaRPr lang="en-US" dirty="0"/>
          </a:p>
          <a:p>
            <a:r>
              <a:rPr lang="en-US" dirty="0"/>
              <a:t> Two major function of legislation </a:t>
            </a:r>
          </a:p>
          <a:p>
            <a:pPr marL="1028700" lvl="1" indent="-571500">
              <a:buFont typeface="+mj-lt"/>
              <a:buAutoNum type="romanUcPeriod"/>
            </a:pPr>
            <a:r>
              <a:rPr lang="en-US" dirty="0"/>
              <a:t>Deliberative function </a:t>
            </a:r>
          </a:p>
          <a:p>
            <a:pPr marL="1028700" lvl="1" indent="-571500">
              <a:buFont typeface="+mj-lt"/>
              <a:buAutoNum type="romanUcPeriod"/>
            </a:pPr>
            <a:r>
              <a:rPr lang="en-US" dirty="0"/>
              <a:t>Function of Representation</a:t>
            </a:r>
          </a:p>
          <a:p>
            <a:pPr>
              <a:buNone/>
            </a:pPr>
            <a:endParaRPr lang="en-US" dirty="0"/>
          </a:p>
          <a:p>
            <a:pPr>
              <a:buNone/>
            </a:pP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610600" cy="4800600"/>
          </a:xfrm>
        </p:spPr>
        <p:txBody>
          <a:bodyPr>
            <a:normAutofit lnSpcReduction="10000"/>
          </a:bodyPr>
          <a:lstStyle/>
          <a:p>
            <a:r>
              <a:rPr lang="en-US" b="1" i="1" u="sng" dirty="0"/>
              <a:t>Deliberative </a:t>
            </a:r>
          </a:p>
          <a:p>
            <a:pPr>
              <a:buNone/>
            </a:pPr>
            <a:endParaRPr lang="en-US" b="1" i="1" u="sng" dirty="0"/>
          </a:p>
          <a:p>
            <a:pPr marL="514350" indent="-514350">
              <a:buFont typeface="+mj-lt"/>
              <a:buAutoNum type="alphaUcPeriod"/>
            </a:pPr>
            <a:r>
              <a:rPr lang="en-US" dirty="0"/>
              <a:t>It makes laws for the country </a:t>
            </a:r>
          </a:p>
          <a:p>
            <a:pPr marL="514350" indent="-514350">
              <a:buFont typeface="+mj-lt"/>
              <a:buAutoNum type="alphaUcPeriod"/>
            </a:pPr>
            <a:r>
              <a:rPr lang="en-US" dirty="0"/>
              <a:t>It provides a platform for opposition to </a:t>
            </a:r>
            <a:r>
              <a:rPr lang="en-US" dirty="0" err="1"/>
              <a:t>scrutnise</a:t>
            </a:r>
            <a:r>
              <a:rPr lang="en-US" dirty="0"/>
              <a:t> </a:t>
            </a:r>
          </a:p>
          <a:p>
            <a:pPr marL="514350" indent="-514350">
              <a:buFont typeface="+mj-lt"/>
              <a:buAutoNum type="alphaUcPeriod"/>
            </a:pPr>
            <a:r>
              <a:rPr lang="en-US" dirty="0"/>
              <a:t>It push control over the executive </a:t>
            </a:r>
          </a:p>
          <a:p>
            <a:pPr marL="514350" indent="-514350">
              <a:buFont typeface="+mj-lt"/>
              <a:buAutoNum type="alphaUcPeriod"/>
            </a:pPr>
            <a:r>
              <a:rPr lang="en-US" dirty="0"/>
              <a:t>Channel of Information </a:t>
            </a:r>
          </a:p>
          <a:p>
            <a:pPr marL="514350" indent="-514350">
              <a:buFont typeface="+mj-lt"/>
              <a:buAutoNum type="alphaUcPeriod"/>
            </a:pPr>
            <a:r>
              <a:rPr lang="en-US" dirty="0"/>
              <a:t>Discussion platform the issue of National importance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229600" cy="4525963"/>
          </a:xfrm>
        </p:spPr>
        <p:txBody>
          <a:bodyPr/>
          <a:lstStyle/>
          <a:p>
            <a:r>
              <a:rPr lang="en-US" b="1" i="1" u="sng" dirty="0"/>
              <a:t>Function of Representation </a:t>
            </a:r>
          </a:p>
          <a:p>
            <a:pPr>
              <a:buNone/>
            </a:pPr>
            <a:endParaRPr lang="en-US" b="1" i="1" u="sng" dirty="0"/>
          </a:p>
          <a:p>
            <a:pPr marL="571500" indent="-571500">
              <a:buFont typeface="+mj-lt"/>
              <a:buAutoNum type="romanLcPeriod"/>
            </a:pPr>
            <a:r>
              <a:rPr lang="en-US" dirty="0"/>
              <a:t>It represent the people that is done through the </a:t>
            </a:r>
            <a:r>
              <a:rPr lang="en-US" dirty="0" err="1"/>
              <a:t>Lok</a:t>
            </a:r>
            <a:r>
              <a:rPr lang="en-US" dirty="0"/>
              <a:t> </a:t>
            </a:r>
            <a:r>
              <a:rPr lang="en-US" dirty="0" err="1"/>
              <a:t>Sabha</a:t>
            </a:r>
            <a:r>
              <a:rPr lang="en-US" dirty="0"/>
              <a:t> </a:t>
            </a:r>
          </a:p>
          <a:p>
            <a:pPr marL="571500" indent="-571500">
              <a:buFont typeface="+mj-lt"/>
              <a:buAutoNum type="romanLcPeriod"/>
            </a:pPr>
            <a:r>
              <a:rPr lang="en-US" dirty="0"/>
              <a:t>It represents the state that is done through the </a:t>
            </a:r>
            <a:r>
              <a:rPr lang="en-US" dirty="0" err="1"/>
              <a:t>Rajya</a:t>
            </a:r>
            <a:r>
              <a:rPr lang="en-US" dirty="0"/>
              <a:t> </a:t>
            </a:r>
            <a:r>
              <a:rPr lang="en-US" dirty="0" err="1"/>
              <a:t>Sabha</a:t>
            </a:r>
            <a:r>
              <a:rPr lang="en-US" dirty="0"/>
              <a:t> </a:t>
            </a:r>
          </a:p>
          <a:p>
            <a:pPr marL="571500" indent="-571500">
              <a:buFont typeface="+mj-lt"/>
              <a:buAutoNum type="romanLcPeriod"/>
            </a:pPr>
            <a:r>
              <a:rPr lang="en-US" dirty="0"/>
              <a:t>It represent the various section like SC,ST &amp; Anglo Indians Etc</a:t>
            </a:r>
          </a:p>
          <a:p>
            <a:pPr>
              <a:buNone/>
            </a:pP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Legislature </a:t>
            </a:r>
          </a:p>
        </p:txBody>
      </p:sp>
      <p:sp>
        <p:nvSpPr>
          <p:cNvPr id="3" name="Content Placeholder 2"/>
          <p:cNvSpPr>
            <a:spLocks noGrp="1"/>
          </p:cNvSpPr>
          <p:nvPr>
            <p:ph idx="1"/>
          </p:nvPr>
        </p:nvSpPr>
        <p:spPr/>
        <p:txBody>
          <a:bodyPr/>
          <a:lstStyle/>
          <a:p>
            <a:r>
              <a:rPr lang="en-US" dirty="0"/>
              <a:t>Most of the state have an unicameral system, while others have a bicameral system</a:t>
            </a:r>
          </a:p>
          <a:p>
            <a:r>
              <a:rPr lang="en-US" dirty="0"/>
              <a:t>There are 7 states have bicameral system</a:t>
            </a:r>
          </a:p>
          <a:p>
            <a:r>
              <a:rPr lang="en-US" dirty="0"/>
              <a:t>These state are :- Andhra Pradesh, </a:t>
            </a:r>
            <a:r>
              <a:rPr lang="en-US" dirty="0" err="1"/>
              <a:t>Telangana</a:t>
            </a:r>
            <a:r>
              <a:rPr lang="en-US" dirty="0"/>
              <a:t>, UP, Bihar, Maharashtra and </a:t>
            </a:r>
            <a:r>
              <a:rPr lang="en-US" dirty="0" err="1"/>
              <a:t>Karnatka</a:t>
            </a:r>
            <a:r>
              <a:rPr lang="en-US" dirty="0"/>
              <a:t> </a:t>
            </a:r>
          </a:p>
          <a:p>
            <a:r>
              <a:rPr lang="en-US" dirty="0"/>
              <a:t>J&amp;K has a bicameral legislature but according to its own constitution</a:t>
            </a:r>
          </a:p>
          <a:p>
            <a:pPr>
              <a:buNone/>
            </a:pPr>
            <a:endParaRPr lang="en-US" dirty="0"/>
          </a:p>
        </p:txBody>
      </p:sp>
      <mc:AlternateContent xmlns:mc="http://schemas.openxmlformats.org/markup-compatibility/2006" xmlns:p14="http://schemas.microsoft.com/office/powerpoint/2010/main">
        <mc:Choice Requires="p14">
          <p:contentPart p14:bwMode="auto" r:id="rId2">
            <p14:nvContentPartPr>
              <p14:cNvPr id="69634" name="Ink 2"/>
              <p14:cNvContentPartPr>
                <a14:cpLocks xmlns:a14="http://schemas.microsoft.com/office/drawing/2010/main" noRot="1" noChangeAspect="1" noEditPoints="1" noChangeArrowheads="1" noChangeShapeType="1"/>
              </p14:cNvContentPartPr>
              <p14:nvPr/>
            </p14:nvContentPartPr>
            <p14:xfrm>
              <a:off x="428625" y="2374900"/>
              <a:ext cx="571500" cy="1268413"/>
            </p14:xfrm>
          </p:contentPart>
        </mc:Choice>
        <mc:Fallback xmlns="">
          <p:pic>
            <p:nvPicPr>
              <p:cNvPr id="69634" name="Ink 2"/>
              <p:cNvPicPr>
                <a:picLocks noRot="1" noChangeAspect="1" noEditPoints="1" noChangeArrowheads="1" noChangeShapeType="1"/>
              </p:cNvPicPr>
              <p:nvPr/>
            </p:nvPicPr>
            <p:blipFill>
              <a:blip r:embed="rId3"/>
              <a:stretch>
                <a:fillRect/>
              </a:stretch>
            </p:blipFill>
            <p:spPr>
              <a:xfrm>
                <a:off x="419268" y="2365550"/>
                <a:ext cx="590214" cy="1287114"/>
              </a:xfrm>
              <a:prstGeom prst="rect">
                <a:avLst/>
              </a:prstGeom>
            </p:spPr>
          </p:pic>
        </mc:Fallback>
      </mc:AlternateContent>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Lok</a:t>
            </a:r>
            <a:r>
              <a:rPr lang="en-US" dirty="0"/>
              <a:t> </a:t>
            </a:r>
            <a:r>
              <a:rPr lang="en-US" dirty="0" err="1"/>
              <a:t>Sabha</a:t>
            </a:r>
            <a:r>
              <a:rPr lang="en-US" dirty="0"/>
              <a:t> and </a:t>
            </a:r>
            <a:r>
              <a:rPr lang="en-US" dirty="0" err="1"/>
              <a:t>Rajya</a:t>
            </a:r>
            <a:r>
              <a:rPr lang="en-US" dirty="0"/>
              <a:t> </a:t>
            </a:r>
            <a:r>
              <a:rPr lang="en-US" dirty="0" err="1"/>
              <a:t>sabha</a:t>
            </a:r>
            <a:r>
              <a:rPr lang="en-US" dirty="0"/>
              <a:t> </a:t>
            </a:r>
          </a:p>
        </p:txBody>
      </p:sp>
      <p:sp>
        <p:nvSpPr>
          <p:cNvPr id="3" name="Content Placeholder 2"/>
          <p:cNvSpPr>
            <a:spLocks noGrp="1"/>
          </p:cNvSpPr>
          <p:nvPr>
            <p:ph idx="1"/>
          </p:nvPr>
        </p:nvSpPr>
        <p:spPr/>
        <p:txBody>
          <a:bodyPr>
            <a:normAutofit fontScale="92500" lnSpcReduction="10000"/>
          </a:bodyPr>
          <a:lstStyle/>
          <a:p>
            <a:r>
              <a:rPr lang="en-US" dirty="0" err="1"/>
              <a:t>Rajya</a:t>
            </a:r>
            <a:r>
              <a:rPr lang="en-US" dirty="0"/>
              <a:t> </a:t>
            </a:r>
            <a:r>
              <a:rPr lang="en-US" dirty="0" err="1"/>
              <a:t>Sabha</a:t>
            </a:r>
            <a:r>
              <a:rPr lang="en-US" dirty="0"/>
              <a:t>- It is also Known as Permanent Home &amp; Federal chamber as its represent state</a:t>
            </a:r>
          </a:p>
          <a:p>
            <a:endParaRPr lang="en-US" dirty="0"/>
          </a:p>
          <a:p>
            <a:pPr lvl="1">
              <a:buFont typeface="Wingdings" pitchFamily="2" charset="2"/>
              <a:buChar char="q"/>
            </a:pPr>
            <a:r>
              <a:rPr lang="en-US" dirty="0"/>
              <a:t>Maximum Strength 250 </a:t>
            </a:r>
          </a:p>
          <a:p>
            <a:pPr lvl="1">
              <a:buFont typeface="Wingdings" pitchFamily="2" charset="2"/>
              <a:buChar char="q"/>
            </a:pPr>
            <a:r>
              <a:rPr lang="en-US" dirty="0"/>
              <a:t>238 are elected members of state &amp; UT</a:t>
            </a:r>
          </a:p>
          <a:p>
            <a:pPr lvl="1">
              <a:buFont typeface="Wingdings" pitchFamily="2" charset="2"/>
              <a:buChar char="q"/>
            </a:pPr>
            <a:r>
              <a:rPr lang="en-US" dirty="0"/>
              <a:t>12 Members nominated by president </a:t>
            </a:r>
          </a:p>
          <a:p>
            <a:pPr lvl="1">
              <a:buFont typeface="Wingdings" pitchFamily="2" charset="2"/>
              <a:buChar char="q"/>
            </a:pPr>
            <a:r>
              <a:rPr lang="en-US" dirty="0"/>
              <a:t>Nominated members can’t participate in the election of president.</a:t>
            </a:r>
          </a:p>
          <a:p>
            <a:pPr lvl="1">
              <a:buFont typeface="Wingdings" pitchFamily="2" charset="2"/>
              <a:buChar char="q"/>
            </a:pPr>
            <a:r>
              <a:rPr lang="en-US" dirty="0" err="1"/>
              <a:t>Rajya</a:t>
            </a:r>
            <a:r>
              <a:rPr lang="en-US" dirty="0"/>
              <a:t> </a:t>
            </a:r>
            <a:r>
              <a:rPr lang="en-US" dirty="0" err="1"/>
              <a:t>Sabha</a:t>
            </a:r>
            <a:r>
              <a:rPr lang="en-US" dirty="0"/>
              <a:t> Office term 6 years, &amp; 1/3</a:t>
            </a:r>
            <a:r>
              <a:rPr lang="en-US" baseline="30000" dirty="0"/>
              <a:t>rd</a:t>
            </a:r>
            <a:r>
              <a:rPr lang="en-US" dirty="0"/>
              <a:t> of members retiring every 2 years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Lok</a:t>
            </a:r>
            <a:r>
              <a:rPr lang="en-US" dirty="0"/>
              <a:t> </a:t>
            </a:r>
            <a:r>
              <a:rPr lang="en-US" dirty="0" err="1"/>
              <a:t>Sabha</a:t>
            </a:r>
            <a:r>
              <a:rPr lang="en-US" dirty="0"/>
              <a:t> and </a:t>
            </a:r>
            <a:r>
              <a:rPr lang="en-US" dirty="0" err="1"/>
              <a:t>Rajya</a:t>
            </a:r>
            <a:r>
              <a:rPr lang="en-US" dirty="0"/>
              <a:t> </a:t>
            </a:r>
            <a:r>
              <a:rPr lang="en-US" dirty="0" err="1"/>
              <a:t>sabha</a:t>
            </a:r>
            <a:r>
              <a:rPr lang="en-US" dirty="0"/>
              <a:t> </a:t>
            </a:r>
          </a:p>
        </p:txBody>
      </p:sp>
      <p:sp>
        <p:nvSpPr>
          <p:cNvPr id="3" name="Content Placeholder 2"/>
          <p:cNvSpPr>
            <a:spLocks noGrp="1"/>
          </p:cNvSpPr>
          <p:nvPr>
            <p:ph idx="1"/>
          </p:nvPr>
        </p:nvSpPr>
        <p:spPr>
          <a:xfrm>
            <a:off x="457200" y="1371600"/>
            <a:ext cx="8229600" cy="4754563"/>
          </a:xfrm>
        </p:spPr>
        <p:txBody>
          <a:bodyPr>
            <a:normAutofit fontScale="92500" lnSpcReduction="20000"/>
          </a:bodyPr>
          <a:lstStyle/>
          <a:p>
            <a:pPr>
              <a:buFont typeface="Wingdings" pitchFamily="2" charset="2"/>
              <a:buChar char="q"/>
            </a:pPr>
            <a:r>
              <a:rPr lang="en-US" dirty="0" err="1"/>
              <a:t>Rajya</a:t>
            </a:r>
            <a:r>
              <a:rPr lang="en-US" dirty="0"/>
              <a:t> </a:t>
            </a:r>
            <a:r>
              <a:rPr lang="en-US" dirty="0" err="1"/>
              <a:t>Sabha</a:t>
            </a:r>
            <a:r>
              <a:rPr lang="en-US" dirty="0"/>
              <a:t> Members are elected by legislative assembly of states &amp; UT’s by proportional Representation by mean of single transferable vote</a:t>
            </a:r>
          </a:p>
          <a:p>
            <a:pPr>
              <a:buNone/>
            </a:pPr>
            <a:endParaRPr lang="en-US" dirty="0"/>
          </a:p>
          <a:p>
            <a:pPr>
              <a:buFont typeface="Wingdings" pitchFamily="2" charset="2"/>
              <a:buChar char="q"/>
            </a:pPr>
            <a:r>
              <a:rPr lang="en-US" dirty="0"/>
              <a:t>Only 4 Members are elected from Union Territory’s</a:t>
            </a:r>
          </a:p>
          <a:p>
            <a:pPr lvl="1">
              <a:buFont typeface="Courier New" pitchFamily="49" charset="0"/>
              <a:buChar char="o"/>
            </a:pPr>
            <a:r>
              <a:rPr lang="en-US" dirty="0"/>
              <a:t>3 from delhi</a:t>
            </a:r>
          </a:p>
          <a:p>
            <a:pPr lvl="1">
              <a:buFont typeface="Courier New" pitchFamily="49" charset="0"/>
              <a:buChar char="o"/>
            </a:pPr>
            <a:r>
              <a:rPr lang="en-US" dirty="0"/>
              <a:t>1 from Pondicherry </a:t>
            </a:r>
          </a:p>
          <a:p>
            <a:pPr>
              <a:buNone/>
            </a:pPr>
            <a:endParaRPr lang="en-US" dirty="0"/>
          </a:p>
          <a:p>
            <a:pPr>
              <a:buFont typeface="Wingdings" pitchFamily="2" charset="2"/>
              <a:buChar char="q"/>
            </a:pPr>
            <a:r>
              <a:rPr lang="en-US" dirty="0"/>
              <a:t> No seat is reserved for SC &amp; ST’s</a:t>
            </a:r>
          </a:p>
          <a:p>
            <a:pPr>
              <a:buNone/>
            </a:pP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Presiding officer</a:t>
            </a:r>
          </a:p>
        </p:txBody>
      </p:sp>
      <p:sp>
        <p:nvSpPr>
          <p:cNvPr id="3" name="Content Placeholder 2"/>
          <p:cNvSpPr>
            <a:spLocks noGrp="1"/>
          </p:cNvSpPr>
          <p:nvPr>
            <p:ph idx="1"/>
          </p:nvPr>
        </p:nvSpPr>
        <p:spPr/>
        <p:txBody>
          <a:bodyPr/>
          <a:lstStyle/>
          <a:p>
            <a:r>
              <a:rPr lang="en-US" dirty="0"/>
              <a:t>The Vice president is the ex-officio chairman of the </a:t>
            </a:r>
            <a:r>
              <a:rPr lang="en-US" dirty="0" err="1"/>
              <a:t>Rajya</a:t>
            </a:r>
            <a:r>
              <a:rPr lang="en-US" dirty="0"/>
              <a:t> </a:t>
            </a:r>
            <a:r>
              <a:rPr lang="en-US" dirty="0" err="1"/>
              <a:t>Sabha</a:t>
            </a:r>
            <a:r>
              <a:rPr lang="en-US" dirty="0"/>
              <a:t> </a:t>
            </a:r>
          </a:p>
          <a:p>
            <a:r>
              <a:rPr lang="en-US" dirty="0"/>
              <a:t>The deputy Chairman is elected from among the member of </a:t>
            </a:r>
            <a:r>
              <a:rPr lang="en-US" dirty="0" err="1"/>
              <a:t>Rajya</a:t>
            </a:r>
            <a:r>
              <a:rPr lang="en-US" dirty="0"/>
              <a:t> </a:t>
            </a:r>
            <a:r>
              <a:rPr lang="en-US" dirty="0" err="1"/>
              <a:t>sabha</a:t>
            </a:r>
            <a:r>
              <a:rPr lang="en-US" dirty="0"/>
              <a:t> by a simple majority &amp; can be removed by an effective majority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Qualification of </a:t>
            </a:r>
            <a:r>
              <a:rPr lang="en-US" dirty="0" err="1"/>
              <a:t>Rajya</a:t>
            </a:r>
            <a:r>
              <a:rPr lang="en-US" dirty="0"/>
              <a:t> </a:t>
            </a:r>
            <a:r>
              <a:rPr lang="en-US" dirty="0" err="1"/>
              <a:t>Sabha</a:t>
            </a:r>
            <a:r>
              <a:rPr lang="en-US" dirty="0"/>
              <a:t> Member </a:t>
            </a:r>
          </a:p>
        </p:txBody>
      </p:sp>
      <p:sp>
        <p:nvSpPr>
          <p:cNvPr id="3" name="Content Placeholder 2"/>
          <p:cNvSpPr>
            <a:spLocks noGrp="1"/>
          </p:cNvSpPr>
          <p:nvPr>
            <p:ph idx="1"/>
          </p:nvPr>
        </p:nvSpPr>
        <p:spPr/>
        <p:txBody>
          <a:bodyPr/>
          <a:lstStyle/>
          <a:p>
            <a:r>
              <a:rPr lang="en-US" dirty="0"/>
              <a:t>Citizen of India</a:t>
            </a:r>
          </a:p>
          <a:p>
            <a:r>
              <a:rPr lang="en-US" dirty="0"/>
              <a:t>Have attained 30 years of age </a:t>
            </a:r>
          </a:p>
          <a:p>
            <a:r>
              <a:rPr lang="en-US" dirty="0"/>
              <a:t>Must be a registered voter in parliamentary constituency in any of the state.</a:t>
            </a:r>
          </a:p>
          <a:p>
            <a:r>
              <a:rPr lang="en-US" dirty="0"/>
              <a:t>Subscribe before election commission an oath as prescribed by 3</a:t>
            </a:r>
            <a:r>
              <a:rPr lang="en-US" baseline="30000" dirty="0"/>
              <a:t>rd</a:t>
            </a:r>
            <a:r>
              <a:rPr lang="en-US" dirty="0"/>
              <a:t> Schedule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Powers of </a:t>
            </a:r>
            <a:r>
              <a:rPr lang="en-US" dirty="0" err="1"/>
              <a:t>Rajya</a:t>
            </a:r>
            <a:r>
              <a:rPr lang="en-US" dirty="0"/>
              <a:t> </a:t>
            </a:r>
            <a:r>
              <a:rPr lang="en-US" dirty="0" err="1"/>
              <a:t>Sabha</a:t>
            </a:r>
            <a:r>
              <a:rPr lang="en-US" dirty="0"/>
              <a:t> </a:t>
            </a:r>
          </a:p>
        </p:txBody>
      </p:sp>
      <p:sp>
        <p:nvSpPr>
          <p:cNvPr id="3" name="Content Placeholder 2"/>
          <p:cNvSpPr>
            <a:spLocks noGrp="1"/>
          </p:cNvSpPr>
          <p:nvPr>
            <p:ph idx="1"/>
          </p:nvPr>
        </p:nvSpPr>
        <p:spPr>
          <a:xfrm>
            <a:off x="228600" y="1219200"/>
            <a:ext cx="8610600" cy="5410200"/>
          </a:xfrm>
        </p:spPr>
        <p:txBody>
          <a:bodyPr>
            <a:normAutofit fontScale="92500" lnSpcReduction="10000"/>
          </a:bodyPr>
          <a:lstStyle/>
          <a:p>
            <a:r>
              <a:rPr lang="en-US" dirty="0"/>
              <a:t>A  resolution seeking removal of VP can be originated only in </a:t>
            </a:r>
            <a:r>
              <a:rPr lang="en-US" dirty="0" err="1"/>
              <a:t>Rajya</a:t>
            </a:r>
            <a:r>
              <a:rPr lang="en-US" dirty="0"/>
              <a:t> </a:t>
            </a:r>
            <a:r>
              <a:rPr lang="en-US" dirty="0" err="1"/>
              <a:t>Sabha</a:t>
            </a:r>
            <a:r>
              <a:rPr lang="en-US" dirty="0"/>
              <a:t> </a:t>
            </a:r>
          </a:p>
          <a:p>
            <a:r>
              <a:rPr lang="en-US" dirty="0"/>
              <a:t>Art 249- It can make laws on state list subjects, If </a:t>
            </a:r>
            <a:r>
              <a:rPr lang="en-US" dirty="0" err="1"/>
              <a:t>Rajya</a:t>
            </a:r>
            <a:r>
              <a:rPr lang="en-US" dirty="0"/>
              <a:t> </a:t>
            </a:r>
            <a:r>
              <a:rPr lang="en-US" dirty="0" err="1"/>
              <a:t>Sabha</a:t>
            </a:r>
            <a:r>
              <a:rPr lang="en-US" dirty="0"/>
              <a:t> passes a resolution of not less than 2/3 rd of member present &amp; Voting, declares that subject is of national interest.</a:t>
            </a:r>
          </a:p>
          <a:p>
            <a:r>
              <a:rPr lang="en-US" dirty="0"/>
              <a:t>Under Art 252, It can make laws on state list subject if the legislature of 2 or more states request parliament to make law for an item in state list</a:t>
            </a:r>
          </a:p>
          <a:p>
            <a:r>
              <a:rPr lang="en-US" dirty="0"/>
              <a:t>It can authorize the parliament to create new All India Services common to both center &amp; State under Art 31</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Lok</a:t>
            </a:r>
            <a:r>
              <a:rPr lang="en-US" dirty="0"/>
              <a:t> </a:t>
            </a:r>
            <a:r>
              <a:rPr lang="en-US" dirty="0" err="1"/>
              <a:t>Sabha</a:t>
            </a:r>
            <a:r>
              <a:rPr lang="en-US" dirty="0"/>
              <a:t> </a:t>
            </a:r>
          </a:p>
        </p:txBody>
      </p:sp>
      <p:sp>
        <p:nvSpPr>
          <p:cNvPr id="3" name="Content Placeholder 2"/>
          <p:cNvSpPr>
            <a:spLocks noGrp="1"/>
          </p:cNvSpPr>
          <p:nvPr>
            <p:ph idx="1"/>
          </p:nvPr>
        </p:nvSpPr>
        <p:spPr/>
        <p:txBody>
          <a:bodyPr>
            <a:normAutofit/>
          </a:bodyPr>
          <a:lstStyle/>
          <a:p>
            <a:r>
              <a:rPr lang="en-US" dirty="0"/>
              <a:t>Lower House or house of People </a:t>
            </a:r>
          </a:p>
          <a:p>
            <a:r>
              <a:rPr lang="en-US" dirty="0"/>
              <a:t>Term is 5 years</a:t>
            </a:r>
          </a:p>
          <a:p>
            <a:r>
              <a:rPr lang="en-US" dirty="0" err="1"/>
              <a:t>Lok</a:t>
            </a:r>
            <a:r>
              <a:rPr lang="en-US" dirty="0"/>
              <a:t> </a:t>
            </a:r>
            <a:r>
              <a:rPr lang="en-US" dirty="0" err="1"/>
              <a:t>Sabha</a:t>
            </a:r>
            <a:r>
              <a:rPr lang="en-US" dirty="0"/>
              <a:t> can be dissolved by the President </a:t>
            </a:r>
          </a:p>
          <a:p>
            <a:r>
              <a:rPr lang="en-US" dirty="0"/>
              <a:t>Total strength = 552</a:t>
            </a:r>
          </a:p>
          <a:p>
            <a:pPr lvl="1">
              <a:buFont typeface="Wingdings" pitchFamily="2" charset="2"/>
              <a:buChar char="q"/>
            </a:pPr>
            <a:r>
              <a:rPr lang="en-US" dirty="0"/>
              <a:t>Present strength- 545</a:t>
            </a:r>
          </a:p>
          <a:p>
            <a:pPr lvl="1">
              <a:buFont typeface="Wingdings" pitchFamily="2" charset="2"/>
              <a:buChar char="q"/>
            </a:pPr>
            <a:r>
              <a:rPr lang="en-US" dirty="0"/>
              <a:t>State – 530</a:t>
            </a:r>
          </a:p>
          <a:p>
            <a:pPr lvl="1">
              <a:buFont typeface="Wingdings" pitchFamily="2" charset="2"/>
              <a:buChar char="q"/>
            </a:pPr>
            <a:r>
              <a:rPr lang="en-US" dirty="0"/>
              <a:t>Represents UT- 20</a:t>
            </a:r>
          </a:p>
          <a:p>
            <a:pPr lvl="1">
              <a:buFont typeface="Wingdings" pitchFamily="2" charset="2"/>
              <a:buChar char="q"/>
            </a:pPr>
            <a:r>
              <a:rPr lang="en-US" dirty="0"/>
              <a:t>Anglo India- 02</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Seats are allocated proportionally to the population</a:t>
            </a:r>
          </a:p>
          <a:p>
            <a:r>
              <a:rPr lang="en-US" dirty="0"/>
              <a:t>Certain seats are reserved are reserved for SC’s and ST’s (According to 87</a:t>
            </a:r>
            <a:r>
              <a:rPr lang="en-US" baseline="30000" dirty="0"/>
              <a:t>th</a:t>
            </a:r>
            <a:r>
              <a:rPr lang="en-US" dirty="0"/>
              <a:t> amend act,2003)</a:t>
            </a:r>
          </a:p>
          <a:p>
            <a:r>
              <a:rPr lang="en-US" dirty="0"/>
              <a:t>Duration of </a:t>
            </a:r>
            <a:r>
              <a:rPr lang="en-US" dirty="0" err="1"/>
              <a:t>Lok</a:t>
            </a:r>
            <a:r>
              <a:rPr lang="en-US" dirty="0"/>
              <a:t> </a:t>
            </a:r>
            <a:r>
              <a:rPr lang="en-US" dirty="0" err="1"/>
              <a:t>Sabha</a:t>
            </a:r>
            <a:r>
              <a:rPr lang="en-US" dirty="0"/>
              <a:t> can be extended to 1 year during national emergency Art 352</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Qualification of Member of </a:t>
            </a:r>
            <a:r>
              <a:rPr lang="en-US" dirty="0" err="1"/>
              <a:t>Lok</a:t>
            </a:r>
            <a:r>
              <a:rPr lang="en-US" dirty="0"/>
              <a:t> </a:t>
            </a:r>
            <a:r>
              <a:rPr lang="en-US" dirty="0" err="1"/>
              <a:t>Sabha</a:t>
            </a:r>
            <a:r>
              <a:rPr lang="en-US" dirty="0"/>
              <a:t> </a:t>
            </a:r>
          </a:p>
        </p:txBody>
      </p:sp>
      <p:sp>
        <p:nvSpPr>
          <p:cNvPr id="3" name="Content Placeholder 2"/>
          <p:cNvSpPr>
            <a:spLocks noGrp="1"/>
          </p:cNvSpPr>
          <p:nvPr>
            <p:ph idx="1"/>
          </p:nvPr>
        </p:nvSpPr>
        <p:spPr>
          <a:xfrm>
            <a:off x="457200" y="1295400"/>
            <a:ext cx="8229600" cy="5029200"/>
          </a:xfrm>
        </p:spPr>
        <p:txBody>
          <a:bodyPr>
            <a:normAutofit/>
          </a:bodyPr>
          <a:lstStyle/>
          <a:p>
            <a:r>
              <a:rPr lang="en-US" dirty="0"/>
              <a:t>Citizen of India</a:t>
            </a:r>
          </a:p>
          <a:p>
            <a:r>
              <a:rPr lang="en-US" dirty="0"/>
              <a:t>Attained the age 25</a:t>
            </a:r>
          </a:p>
          <a:p>
            <a:r>
              <a:rPr lang="en-US" dirty="0"/>
              <a:t>Registered voter </a:t>
            </a:r>
          </a:p>
          <a:p>
            <a:pPr>
              <a:buNone/>
            </a:pPr>
            <a:endParaRPr lang="en-US" dirty="0"/>
          </a:p>
          <a:p>
            <a:pPr>
              <a:buNone/>
            </a:pPr>
            <a:r>
              <a:rPr lang="en-US" b="1" i="1" u="sng" dirty="0"/>
              <a:t>Presiding officer- </a:t>
            </a:r>
            <a:r>
              <a:rPr lang="en-US" dirty="0"/>
              <a:t>The speaker &amp; Deputy speaker are elected from among the members of the House by the House by Simple Majority &amp; can be removed by effective Majority of the House </a:t>
            </a:r>
          </a:p>
          <a:p>
            <a:pPr>
              <a:buNone/>
            </a:pPr>
            <a:endParaRPr lang="en-US" dirty="0"/>
          </a:p>
          <a:p>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of the Speaker </a:t>
            </a:r>
          </a:p>
        </p:txBody>
      </p:sp>
      <p:sp>
        <p:nvSpPr>
          <p:cNvPr id="3" name="Content Placeholder 2"/>
          <p:cNvSpPr>
            <a:spLocks noGrp="1"/>
          </p:cNvSpPr>
          <p:nvPr>
            <p:ph idx="1"/>
          </p:nvPr>
        </p:nvSpPr>
        <p:spPr/>
        <p:txBody>
          <a:bodyPr/>
          <a:lstStyle/>
          <a:p>
            <a:r>
              <a:rPr lang="en-US" dirty="0"/>
              <a:t>He preside over the joint sitting of both the house of the parliament</a:t>
            </a:r>
          </a:p>
          <a:p>
            <a:r>
              <a:rPr lang="en-US" dirty="0"/>
              <a:t>He certified whether a bill is money bill or not to the </a:t>
            </a:r>
            <a:r>
              <a:rPr lang="en-US" dirty="0" err="1"/>
              <a:t>Lok</a:t>
            </a:r>
            <a:r>
              <a:rPr lang="en-US" dirty="0"/>
              <a:t> </a:t>
            </a:r>
            <a:r>
              <a:rPr lang="en-US" dirty="0" err="1"/>
              <a:t>Sabha</a:t>
            </a:r>
            <a:endParaRPr lang="en-US" dirty="0"/>
          </a:p>
          <a:p>
            <a:r>
              <a:rPr lang="en-US" dirty="0"/>
              <a:t>The parliamentary committee work under his supervision of speaker </a:t>
            </a:r>
          </a:p>
          <a:p>
            <a:r>
              <a:rPr lang="en-US" dirty="0"/>
              <a:t>He appoints the chairpersons of various parliamentary committee </a:t>
            </a:r>
          </a:p>
          <a:p>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a:bodyPr>
          <a:lstStyle/>
          <a:p>
            <a:r>
              <a:rPr lang="en-US" dirty="0"/>
              <a:t>If the speaker or deputy speaker are the members of any of the Parliamentary committee they will be the head of that committee </a:t>
            </a:r>
          </a:p>
          <a:p>
            <a:r>
              <a:rPr lang="en-US" dirty="0"/>
              <a:t>He has a </a:t>
            </a:r>
            <a:r>
              <a:rPr lang="en-US" u="sng" dirty="0"/>
              <a:t>right to Vote**</a:t>
            </a:r>
          </a:p>
          <a:p>
            <a:r>
              <a:rPr lang="en-US" dirty="0"/>
              <a:t>The speaker enjoys Cabinet Status </a:t>
            </a:r>
          </a:p>
          <a:p>
            <a:r>
              <a:rPr lang="en-US" dirty="0"/>
              <a:t>Even after the dissolution of </a:t>
            </a:r>
            <a:r>
              <a:rPr lang="en-US" dirty="0" err="1"/>
              <a:t>Lok</a:t>
            </a:r>
            <a:r>
              <a:rPr lang="en-US" dirty="0"/>
              <a:t> </a:t>
            </a:r>
            <a:r>
              <a:rPr lang="en-US" dirty="0" err="1"/>
              <a:t>Sabha</a:t>
            </a:r>
            <a:r>
              <a:rPr lang="en-US" dirty="0"/>
              <a:t> the speaker remains in office till the next general election, that means till the new </a:t>
            </a:r>
            <a:r>
              <a:rPr lang="en-US" dirty="0" err="1"/>
              <a:t>Lok</a:t>
            </a:r>
            <a:r>
              <a:rPr lang="en-US" dirty="0"/>
              <a:t> </a:t>
            </a:r>
            <a:r>
              <a:rPr lang="en-US" dirty="0" err="1"/>
              <a:t>Sabha</a:t>
            </a:r>
            <a:r>
              <a:rPr lang="en-US" dirty="0"/>
              <a:t> is not formed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Powers </a:t>
            </a:r>
            <a:r>
              <a:rPr lang="en-US" dirty="0" err="1"/>
              <a:t>Lok</a:t>
            </a:r>
            <a:r>
              <a:rPr lang="en-US" dirty="0"/>
              <a:t> </a:t>
            </a:r>
            <a:r>
              <a:rPr lang="en-US" dirty="0" err="1"/>
              <a:t>Sabha</a:t>
            </a:r>
            <a:r>
              <a:rPr lang="en-US" dirty="0"/>
              <a:t> </a:t>
            </a:r>
          </a:p>
        </p:txBody>
      </p:sp>
      <p:sp>
        <p:nvSpPr>
          <p:cNvPr id="3" name="Content Placeholder 2"/>
          <p:cNvSpPr>
            <a:spLocks noGrp="1"/>
          </p:cNvSpPr>
          <p:nvPr>
            <p:ph idx="1"/>
          </p:nvPr>
        </p:nvSpPr>
        <p:spPr>
          <a:xfrm>
            <a:off x="457200" y="1219200"/>
            <a:ext cx="8229600" cy="5410200"/>
          </a:xfrm>
        </p:spPr>
        <p:txBody>
          <a:bodyPr>
            <a:normAutofit fontScale="92500"/>
          </a:bodyPr>
          <a:lstStyle/>
          <a:p>
            <a:r>
              <a:rPr lang="en-US" dirty="0"/>
              <a:t>Motion of “No-Confidence” can only be initiated &amp; Passed in </a:t>
            </a:r>
            <a:r>
              <a:rPr lang="en-US" dirty="0" err="1"/>
              <a:t>Lok</a:t>
            </a:r>
            <a:r>
              <a:rPr lang="en-US" dirty="0"/>
              <a:t> </a:t>
            </a:r>
            <a:r>
              <a:rPr lang="en-US" dirty="0" err="1"/>
              <a:t>Sabha</a:t>
            </a:r>
            <a:r>
              <a:rPr lang="en-US" dirty="0"/>
              <a:t> </a:t>
            </a:r>
          </a:p>
          <a:p>
            <a:r>
              <a:rPr lang="en-US" dirty="0"/>
              <a:t>Money and Financial Bill can only be originated in </a:t>
            </a:r>
            <a:r>
              <a:rPr lang="en-US" dirty="0" err="1"/>
              <a:t>Lok</a:t>
            </a:r>
            <a:r>
              <a:rPr lang="en-US" dirty="0"/>
              <a:t> </a:t>
            </a:r>
            <a:r>
              <a:rPr lang="en-US" dirty="0" err="1"/>
              <a:t>Sabha</a:t>
            </a:r>
            <a:r>
              <a:rPr lang="en-US" dirty="0"/>
              <a:t> </a:t>
            </a:r>
          </a:p>
          <a:p>
            <a:r>
              <a:rPr lang="en-US" dirty="0"/>
              <a:t>R.S can’t amend or reject money bill, it must return the bill to L.S with in 14 days with or without recommendations</a:t>
            </a:r>
          </a:p>
          <a:p>
            <a:r>
              <a:rPr lang="en-US" dirty="0"/>
              <a:t>Under Art 352, If the L.S in a special session passes a resolution to discontinue an on going national emergency, a national emergency will be discontinued (As per the 44</a:t>
            </a:r>
            <a:r>
              <a:rPr lang="en-US" baseline="30000" dirty="0"/>
              <a:t>th</a:t>
            </a:r>
            <a:r>
              <a:rPr lang="en-US" dirty="0"/>
              <a:t> Amend. Act 1978)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Protem</a:t>
            </a:r>
            <a:r>
              <a:rPr lang="en-US" dirty="0"/>
              <a:t> Speaker </a:t>
            </a:r>
          </a:p>
        </p:txBody>
      </p:sp>
      <p:sp>
        <p:nvSpPr>
          <p:cNvPr id="3" name="Content Placeholder 2"/>
          <p:cNvSpPr>
            <a:spLocks noGrp="1"/>
          </p:cNvSpPr>
          <p:nvPr>
            <p:ph idx="1"/>
          </p:nvPr>
        </p:nvSpPr>
        <p:spPr/>
        <p:txBody>
          <a:bodyPr/>
          <a:lstStyle/>
          <a:p>
            <a:r>
              <a:rPr lang="en-US" dirty="0"/>
              <a:t>After the </a:t>
            </a:r>
            <a:r>
              <a:rPr lang="en-US" dirty="0" err="1"/>
              <a:t>lok</a:t>
            </a:r>
            <a:r>
              <a:rPr lang="en-US" dirty="0"/>
              <a:t> </a:t>
            </a:r>
            <a:r>
              <a:rPr lang="en-US" dirty="0" err="1"/>
              <a:t>Sabha</a:t>
            </a:r>
            <a:r>
              <a:rPr lang="en-US" dirty="0"/>
              <a:t> is constituted by the election commission, the president appoints one of the members of the newly elected </a:t>
            </a:r>
            <a:r>
              <a:rPr lang="en-US" dirty="0" err="1"/>
              <a:t>lok</a:t>
            </a:r>
            <a:r>
              <a:rPr lang="en-US" dirty="0"/>
              <a:t> </a:t>
            </a:r>
            <a:r>
              <a:rPr lang="en-US" dirty="0" err="1"/>
              <a:t>sabha</a:t>
            </a:r>
            <a:r>
              <a:rPr lang="en-US" dirty="0"/>
              <a:t> as </a:t>
            </a:r>
            <a:r>
              <a:rPr lang="en-US" dirty="0" err="1"/>
              <a:t>Protem</a:t>
            </a:r>
            <a:r>
              <a:rPr lang="en-US" dirty="0"/>
              <a:t> Speaker</a:t>
            </a:r>
          </a:p>
          <a:p>
            <a:r>
              <a:rPr lang="en-US" dirty="0"/>
              <a:t>According to the established convention the president appoints the senior most member as the </a:t>
            </a:r>
            <a:r>
              <a:rPr lang="en-US" dirty="0" err="1"/>
              <a:t>Protem</a:t>
            </a:r>
            <a:r>
              <a:rPr lang="en-US" dirty="0"/>
              <a:t> Speaker. The oath of the </a:t>
            </a:r>
            <a:r>
              <a:rPr lang="en-US" dirty="0" err="1"/>
              <a:t>protem</a:t>
            </a:r>
            <a:r>
              <a:rPr lang="en-US" dirty="0"/>
              <a:t> speaker is conducted by the president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Protem</a:t>
            </a:r>
            <a:r>
              <a:rPr lang="en-US" dirty="0"/>
              <a:t> Speaker </a:t>
            </a:r>
          </a:p>
        </p:txBody>
      </p:sp>
      <p:sp>
        <p:nvSpPr>
          <p:cNvPr id="3" name="Content Placeholder 2"/>
          <p:cNvSpPr>
            <a:spLocks noGrp="1"/>
          </p:cNvSpPr>
          <p:nvPr>
            <p:ph idx="1"/>
          </p:nvPr>
        </p:nvSpPr>
        <p:spPr/>
        <p:txBody>
          <a:bodyPr/>
          <a:lstStyle/>
          <a:p>
            <a:r>
              <a:rPr lang="en-US" dirty="0"/>
              <a:t>The </a:t>
            </a:r>
            <a:r>
              <a:rPr lang="en-US" dirty="0" err="1"/>
              <a:t>Protem</a:t>
            </a:r>
            <a:r>
              <a:rPr lang="en-US" dirty="0"/>
              <a:t> Speaker presides over the meeting of the meeting of the newly elected </a:t>
            </a:r>
            <a:r>
              <a:rPr lang="en-US" dirty="0" err="1"/>
              <a:t>lok</a:t>
            </a:r>
            <a:r>
              <a:rPr lang="en-US" dirty="0"/>
              <a:t> </a:t>
            </a:r>
            <a:r>
              <a:rPr lang="en-US" dirty="0" err="1"/>
              <a:t>sabha</a:t>
            </a:r>
            <a:r>
              <a:rPr lang="en-US" dirty="0"/>
              <a:t>. He conducted the oath to all the members of the newly elected </a:t>
            </a:r>
            <a:r>
              <a:rPr lang="en-US" dirty="0" err="1"/>
              <a:t>lok</a:t>
            </a:r>
            <a:r>
              <a:rPr lang="en-US" dirty="0"/>
              <a:t> </a:t>
            </a:r>
            <a:r>
              <a:rPr lang="en-US" dirty="0" err="1"/>
              <a:t>sabha</a:t>
            </a:r>
            <a:r>
              <a:rPr lang="en-US" dirty="0"/>
              <a:t> </a:t>
            </a:r>
          </a:p>
          <a:p>
            <a:r>
              <a:rPr lang="en-US" dirty="0"/>
              <a:t>He conduct the speaker election if the </a:t>
            </a:r>
            <a:r>
              <a:rPr lang="en-US" dirty="0" err="1"/>
              <a:t>protem</a:t>
            </a:r>
            <a:r>
              <a:rPr lang="en-US" dirty="0"/>
              <a:t> speaker himself is candidate for the speakers post then the president appoints another member as the </a:t>
            </a:r>
            <a:r>
              <a:rPr lang="en-US" dirty="0" err="1"/>
              <a:t>Protem</a:t>
            </a:r>
            <a:r>
              <a:rPr lang="en-US" dirty="0"/>
              <a:t> speaker  </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Vidhan</a:t>
            </a:r>
            <a:r>
              <a:rPr lang="en-US" dirty="0"/>
              <a:t> </a:t>
            </a:r>
            <a:r>
              <a:rPr lang="en-US" dirty="0" err="1"/>
              <a:t>Sabha</a:t>
            </a:r>
            <a:r>
              <a:rPr lang="en-US" dirty="0"/>
              <a:t> &amp; </a:t>
            </a:r>
            <a:r>
              <a:rPr lang="en-US" dirty="0" err="1"/>
              <a:t>Vidhan</a:t>
            </a:r>
            <a:r>
              <a:rPr lang="en-US" dirty="0"/>
              <a:t> </a:t>
            </a:r>
            <a:r>
              <a:rPr lang="en-US" dirty="0" err="1"/>
              <a:t>Parishad</a:t>
            </a:r>
            <a:endParaRPr lang="en-US" dirty="0"/>
          </a:p>
        </p:txBody>
      </p:sp>
      <p:sp>
        <p:nvSpPr>
          <p:cNvPr id="3" name="Content Placeholder 2"/>
          <p:cNvSpPr>
            <a:spLocks noGrp="1"/>
          </p:cNvSpPr>
          <p:nvPr>
            <p:ph idx="1"/>
          </p:nvPr>
        </p:nvSpPr>
        <p:spPr/>
        <p:txBody>
          <a:bodyPr/>
          <a:lstStyle/>
          <a:p>
            <a:r>
              <a:rPr lang="en-US" dirty="0"/>
              <a:t>There is no uniformity in organization of State Legislation </a:t>
            </a:r>
          </a:p>
          <a:p>
            <a:r>
              <a:rPr lang="en-US" dirty="0"/>
              <a:t>Mostly Unicameral system, while 7 states have a bicameral system.</a:t>
            </a:r>
          </a:p>
          <a:p>
            <a:r>
              <a:rPr lang="en-US" dirty="0"/>
              <a:t>Andhra Pradesh, </a:t>
            </a:r>
            <a:r>
              <a:rPr lang="en-US" dirty="0" err="1"/>
              <a:t>Telangana</a:t>
            </a:r>
            <a:r>
              <a:rPr lang="en-US" dirty="0"/>
              <a:t>, Uttar Pradesh, Bihar, </a:t>
            </a:r>
            <a:r>
              <a:rPr lang="en-US" dirty="0" err="1"/>
              <a:t>Maharshtra</a:t>
            </a:r>
            <a:r>
              <a:rPr lang="en-US" dirty="0"/>
              <a:t>, </a:t>
            </a:r>
            <a:r>
              <a:rPr lang="en-US" dirty="0" err="1"/>
              <a:t>Karnatka</a:t>
            </a:r>
            <a:r>
              <a:rPr lang="en-US" dirty="0"/>
              <a:t> &amp; Jammu&amp; Kashmir</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Vidhan</a:t>
            </a:r>
            <a:r>
              <a:rPr lang="en-US" dirty="0"/>
              <a:t> </a:t>
            </a:r>
            <a:r>
              <a:rPr lang="en-US" dirty="0" err="1"/>
              <a:t>Sabha</a:t>
            </a:r>
            <a:r>
              <a:rPr lang="en-US" dirty="0"/>
              <a:t> </a:t>
            </a:r>
          </a:p>
        </p:txBody>
      </p:sp>
      <p:sp>
        <p:nvSpPr>
          <p:cNvPr id="3" name="Content Placeholder 2"/>
          <p:cNvSpPr>
            <a:spLocks noGrp="1"/>
          </p:cNvSpPr>
          <p:nvPr>
            <p:ph idx="1"/>
          </p:nvPr>
        </p:nvSpPr>
        <p:spPr/>
        <p:txBody>
          <a:bodyPr/>
          <a:lstStyle/>
          <a:p>
            <a:r>
              <a:rPr lang="en-US" dirty="0"/>
              <a:t>Maximum- 500</a:t>
            </a:r>
          </a:p>
          <a:p>
            <a:r>
              <a:rPr lang="en-US" dirty="0"/>
              <a:t>Minimum – 60</a:t>
            </a:r>
          </a:p>
          <a:p>
            <a:r>
              <a:rPr lang="en-US" dirty="0"/>
              <a:t>Reservation for SC’s and ST’s in the Assembly </a:t>
            </a:r>
          </a:p>
          <a:p>
            <a:r>
              <a:rPr lang="en-US" dirty="0"/>
              <a:t>1 Member can be nominated by the governor from the Anglo-Indian community if the Governor feels that the community has not been adequately represented in the Assembly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Vidhan</a:t>
            </a:r>
            <a:r>
              <a:rPr lang="en-US" dirty="0"/>
              <a:t> </a:t>
            </a:r>
            <a:r>
              <a:rPr lang="en-US" dirty="0" err="1"/>
              <a:t>Parishad</a:t>
            </a:r>
            <a:endParaRPr lang="en-US" dirty="0"/>
          </a:p>
        </p:txBody>
      </p:sp>
      <p:sp>
        <p:nvSpPr>
          <p:cNvPr id="3" name="Content Placeholder 2"/>
          <p:cNvSpPr>
            <a:spLocks noGrp="1"/>
          </p:cNvSpPr>
          <p:nvPr>
            <p:ph idx="1"/>
          </p:nvPr>
        </p:nvSpPr>
        <p:spPr/>
        <p:txBody>
          <a:bodyPr/>
          <a:lstStyle/>
          <a:p>
            <a:r>
              <a:rPr lang="en-US" dirty="0"/>
              <a:t>1/3</a:t>
            </a:r>
            <a:r>
              <a:rPr lang="en-US" baseline="30000" dirty="0"/>
              <a:t>rd</a:t>
            </a:r>
            <a:r>
              <a:rPr lang="en-US" dirty="0"/>
              <a:t> of </a:t>
            </a:r>
            <a:r>
              <a:rPr lang="en-US" dirty="0" err="1"/>
              <a:t>Vidhan</a:t>
            </a:r>
            <a:r>
              <a:rPr lang="en-US" dirty="0"/>
              <a:t> </a:t>
            </a:r>
            <a:r>
              <a:rPr lang="en-US" dirty="0" err="1"/>
              <a:t>Sabha</a:t>
            </a:r>
            <a:r>
              <a:rPr lang="en-US" dirty="0"/>
              <a:t> and it should not be less than 40 </a:t>
            </a:r>
          </a:p>
          <a:p>
            <a:r>
              <a:rPr lang="en-US" dirty="0"/>
              <a:t>The term of the members is of 6 years and 1/3</a:t>
            </a:r>
            <a:r>
              <a:rPr lang="en-US" baseline="30000" dirty="0"/>
              <a:t>rd</a:t>
            </a:r>
            <a:r>
              <a:rPr lang="en-US" dirty="0"/>
              <a:t> of the members retire every two years</a:t>
            </a:r>
          </a:p>
          <a:p>
            <a:pPr>
              <a:buNone/>
            </a:pPr>
            <a:r>
              <a:rPr lang="en-US" dirty="0"/>
              <a:t> </a:t>
            </a:r>
          </a:p>
          <a:p>
            <a:pPr lvl="1">
              <a:buFont typeface="Wingdings" pitchFamily="2" charset="2"/>
              <a:buChar char="v"/>
            </a:pPr>
            <a:r>
              <a:rPr lang="en-US" dirty="0"/>
              <a:t>    Andhra Pradesh, </a:t>
            </a:r>
            <a:r>
              <a:rPr lang="en-US" dirty="0" err="1"/>
              <a:t>Telangana</a:t>
            </a:r>
            <a:r>
              <a:rPr lang="en-US" dirty="0"/>
              <a:t>, Uttar Pradesh, Bihar, </a:t>
            </a:r>
            <a:r>
              <a:rPr lang="en-US" dirty="0" err="1"/>
              <a:t>Maharshtra</a:t>
            </a:r>
            <a:r>
              <a:rPr lang="en-US" dirty="0"/>
              <a:t>, </a:t>
            </a:r>
            <a:r>
              <a:rPr lang="en-US" dirty="0" err="1"/>
              <a:t>Karnatka</a:t>
            </a:r>
            <a:r>
              <a:rPr lang="en-US" dirty="0"/>
              <a:t> &amp; Jammu&amp; Kashmir</a:t>
            </a:r>
          </a:p>
          <a:p>
            <a:pPr>
              <a:buNone/>
            </a:pPr>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Composition of </a:t>
            </a:r>
            <a:r>
              <a:rPr lang="en-US" dirty="0" err="1"/>
              <a:t>Vidhan</a:t>
            </a:r>
            <a:r>
              <a:rPr lang="en-US" dirty="0"/>
              <a:t> </a:t>
            </a:r>
            <a:r>
              <a:rPr lang="en-US" dirty="0" err="1"/>
              <a:t>Parishad</a:t>
            </a:r>
            <a:endParaRPr lang="en-US" dirty="0"/>
          </a:p>
        </p:txBody>
      </p:sp>
      <p:sp>
        <p:nvSpPr>
          <p:cNvPr id="3" name="Content Placeholder 2"/>
          <p:cNvSpPr>
            <a:spLocks noGrp="1"/>
          </p:cNvSpPr>
          <p:nvPr>
            <p:ph idx="1"/>
          </p:nvPr>
        </p:nvSpPr>
        <p:spPr/>
        <p:txBody>
          <a:bodyPr>
            <a:normAutofit fontScale="85000" lnSpcReduction="20000"/>
          </a:bodyPr>
          <a:lstStyle/>
          <a:p>
            <a:r>
              <a:rPr lang="en-US" dirty="0"/>
              <a:t>1/3</a:t>
            </a:r>
            <a:r>
              <a:rPr lang="en-US" baseline="30000" dirty="0"/>
              <a:t>rd</a:t>
            </a:r>
            <a:r>
              <a:rPr lang="en-US" dirty="0"/>
              <a:t> of the Members to be elected by MLA’s of the state</a:t>
            </a:r>
          </a:p>
          <a:p>
            <a:r>
              <a:rPr lang="en-US" dirty="0"/>
              <a:t>1/3</a:t>
            </a:r>
            <a:r>
              <a:rPr lang="en-US" baseline="30000" dirty="0"/>
              <a:t>rd</a:t>
            </a:r>
            <a:r>
              <a:rPr lang="en-US" dirty="0"/>
              <a:t> to be elected by the member of the local body (</a:t>
            </a:r>
            <a:r>
              <a:rPr lang="en-US" dirty="0" err="1"/>
              <a:t>Panchayat</a:t>
            </a:r>
            <a:r>
              <a:rPr lang="en-US" dirty="0"/>
              <a:t> &amp; </a:t>
            </a:r>
            <a:r>
              <a:rPr lang="en-US" dirty="0" err="1"/>
              <a:t>Muncipality</a:t>
            </a:r>
            <a:r>
              <a:rPr lang="en-US" dirty="0"/>
              <a:t>) </a:t>
            </a:r>
          </a:p>
          <a:p>
            <a:r>
              <a:rPr lang="en-US" dirty="0"/>
              <a:t>1/12</a:t>
            </a:r>
            <a:r>
              <a:rPr lang="en-US" baseline="30000" dirty="0"/>
              <a:t>th</a:t>
            </a:r>
            <a:r>
              <a:rPr lang="en-US" dirty="0"/>
              <a:t> to be elected by the teachers who are the residence of the state not below the rank of secondary school level</a:t>
            </a:r>
          </a:p>
          <a:p>
            <a:r>
              <a:rPr lang="en-US" dirty="0"/>
              <a:t>1/12</a:t>
            </a:r>
            <a:r>
              <a:rPr lang="en-US" baseline="30000" dirty="0"/>
              <a:t>th</a:t>
            </a:r>
            <a:r>
              <a:rPr lang="en-US" dirty="0"/>
              <a:t> to be elected Graduate should have 3 years of studies </a:t>
            </a:r>
          </a:p>
          <a:p>
            <a:r>
              <a:rPr lang="en-US" dirty="0"/>
              <a:t>1/6</a:t>
            </a:r>
            <a:r>
              <a:rPr lang="en-US" baseline="30000" dirty="0"/>
              <a:t>th</a:t>
            </a:r>
            <a:r>
              <a:rPr lang="en-US" dirty="0"/>
              <a:t> to be nominated by the Governor from among the person having special knowledge or experience in the field of Art, Culture, Science and Literature </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800" dirty="0"/>
              <a:t>Note**- It is written in the Representation of People Act , It is not written in the Constitution</a:t>
            </a:r>
          </a:p>
        </p:txBody>
      </p:sp>
      <p:sp>
        <p:nvSpPr>
          <p:cNvPr id="3" name="Content Placeholder 2"/>
          <p:cNvSpPr>
            <a:spLocks noGrp="1"/>
          </p:cNvSpPr>
          <p:nvPr>
            <p:ph idx="1"/>
          </p:nvPr>
        </p:nvSpPr>
        <p:spPr>
          <a:xfrm>
            <a:off x="457200" y="2209800"/>
            <a:ext cx="8229600" cy="3916363"/>
          </a:xfrm>
        </p:spPr>
        <p:txBody>
          <a:bodyPr/>
          <a:lstStyle/>
          <a:p>
            <a:pPr>
              <a:buNone/>
            </a:pPr>
            <a:r>
              <a:rPr lang="en-US" u="sng" dirty="0"/>
              <a:t>Creation  or Abolition of legislature Council</a:t>
            </a:r>
          </a:p>
          <a:p>
            <a:pPr>
              <a:buNone/>
            </a:pPr>
            <a:r>
              <a:rPr lang="en-US" dirty="0"/>
              <a:t>Concern Legislative assembly has to pass a resolution by special majority U/A 368 request the parliament to create/Abolish a legislative council</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Relationship between Legislative council &amp; Legislative Assembly </a:t>
            </a:r>
          </a:p>
        </p:txBody>
      </p:sp>
      <p:sp>
        <p:nvSpPr>
          <p:cNvPr id="3" name="Content Placeholder 2"/>
          <p:cNvSpPr>
            <a:spLocks noGrp="1"/>
          </p:cNvSpPr>
          <p:nvPr>
            <p:ph idx="1"/>
          </p:nvPr>
        </p:nvSpPr>
        <p:spPr>
          <a:xfrm>
            <a:off x="228600" y="1600200"/>
            <a:ext cx="8458200" cy="4525963"/>
          </a:xfrm>
        </p:spPr>
        <p:txBody>
          <a:bodyPr/>
          <a:lstStyle/>
          <a:p>
            <a:r>
              <a:rPr lang="en-US" dirty="0"/>
              <a:t>Executive Relation-The members of both the house can be appointed as ministers &amp; it has been seen that even the chief ministers are some time from the legislative Council</a:t>
            </a:r>
          </a:p>
          <a:p>
            <a:pPr lvl="1">
              <a:buNone/>
            </a:pPr>
            <a:r>
              <a:rPr lang="en-US" sz="2400" dirty="0"/>
              <a:t>**(</a:t>
            </a:r>
            <a:r>
              <a:rPr lang="en-US" sz="2400" dirty="0" err="1"/>
              <a:t>Mayawati</a:t>
            </a:r>
            <a:r>
              <a:rPr lang="en-US" sz="2400" dirty="0"/>
              <a:t> was MLC during her tenure as CM from 2007-12)</a:t>
            </a:r>
          </a:p>
          <a:p>
            <a:pPr lvl="1">
              <a:buNone/>
            </a:pPr>
            <a:endParaRPr lang="en-US" dirty="0"/>
          </a:p>
          <a:p>
            <a:r>
              <a:rPr lang="en-US" dirty="0"/>
              <a:t> The existence of the Legislative council depends on Legislative Assembly</a:t>
            </a:r>
          </a:p>
          <a:p>
            <a:pPr>
              <a:buNone/>
            </a:pP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Session of Parliament </a:t>
            </a:r>
          </a:p>
        </p:txBody>
      </p:sp>
      <p:sp>
        <p:nvSpPr>
          <p:cNvPr id="3" name="Content Placeholder 2"/>
          <p:cNvSpPr>
            <a:spLocks noGrp="1"/>
          </p:cNvSpPr>
          <p:nvPr>
            <p:ph idx="1"/>
          </p:nvPr>
        </p:nvSpPr>
        <p:spPr/>
        <p:txBody>
          <a:bodyPr>
            <a:normAutofit/>
          </a:bodyPr>
          <a:lstStyle/>
          <a:p>
            <a:r>
              <a:rPr lang="en-US" sz="3600" dirty="0"/>
              <a:t>Two types of Session:</a:t>
            </a:r>
          </a:p>
          <a:p>
            <a:pPr>
              <a:buNone/>
            </a:pPr>
            <a:r>
              <a:rPr lang="en-US" sz="3600" dirty="0"/>
              <a:t>1)Regular Session </a:t>
            </a:r>
          </a:p>
          <a:p>
            <a:pPr lvl="1">
              <a:buFont typeface="Wingdings" pitchFamily="2" charset="2"/>
              <a:buChar char="q"/>
            </a:pPr>
            <a:r>
              <a:rPr lang="en-US" sz="3200" dirty="0"/>
              <a:t>Budget Session </a:t>
            </a:r>
          </a:p>
          <a:p>
            <a:pPr lvl="1">
              <a:buFont typeface="Wingdings" pitchFamily="2" charset="2"/>
              <a:buChar char="q"/>
            </a:pPr>
            <a:r>
              <a:rPr lang="en-US" sz="3200" dirty="0"/>
              <a:t>Monsoon Session </a:t>
            </a:r>
          </a:p>
          <a:p>
            <a:pPr lvl="1">
              <a:buFont typeface="Wingdings" pitchFamily="2" charset="2"/>
              <a:buChar char="q"/>
            </a:pPr>
            <a:r>
              <a:rPr lang="en-US" sz="3200" dirty="0"/>
              <a:t>Winter Session </a:t>
            </a:r>
          </a:p>
          <a:p>
            <a:pPr lvl="1">
              <a:buNone/>
            </a:pPr>
            <a:endParaRPr lang="en-US" sz="3200" dirty="0"/>
          </a:p>
          <a:p>
            <a:pPr>
              <a:buNone/>
            </a:pPr>
            <a:r>
              <a:rPr lang="en-US" sz="3600" dirty="0"/>
              <a:t>2)Special Session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324600"/>
          </a:xfrm>
        </p:spPr>
        <p:txBody>
          <a:bodyPr>
            <a:normAutofit fontScale="92500"/>
          </a:bodyPr>
          <a:lstStyle/>
          <a:p>
            <a:r>
              <a:rPr lang="en-US" sz="3000" i="1" u="sng" dirty="0"/>
              <a:t>Special Session </a:t>
            </a:r>
            <a:r>
              <a:rPr lang="en-US" sz="3000" dirty="0"/>
              <a:t>– The Special sessions can be convert to transact some special business or commemorate festive </a:t>
            </a:r>
          </a:p>
          <a:p>
            <a:pPr>
              <a:buFont typeface="Wingdings" pitchFamily="2" charset="2"/>
              <a:buChar char="q"/>
            </a:pPr>
            <a:r>
              <a:rPr lang="en-US" sz="2400" dirty="0"/>
              <a:t>Regular session “Not written in constitution”</a:t>
            </a:r>
          </a:p>
          <a:p>
            <a:pPr>
              <a:buFont typeface="Wingdings" pitchFamily="2" charset="2"/>
              <a:buChar char="q"/>
            </a:pPr>
            <a:r>
              <a:rPr lang="en-US" sz="2400" dirty="0"/>
              <a:t>Art-85- The intervening b/w the two session of the parliament shall not exceed 6 months</a:t>
            </a:r>
          </a:p>
          <a:p>
            <a:r>
              <a:rPr lang="en-US" dirty="0"/>
              <a:t> </a:t>
            </a:r>
            <a:r>
              <a:rPr lang="en-US" sz="3000" i="1" u="sng" dirty="0"/>
              <a:t>Budget Session- </a:t>
            </a:r>
            <a:r>
              <a:rPr lang="en-US" sz="3000" dirty="0"/>
              <a:t>It is the first session of the years. It is normally held from mid </a:t>
            </a:r>
            <a:r>
              <a:rPr lang="en-US" sz="3000" dirty="0" err="1"/>
              <a:t>feb</a:t>
            </a:r>
            <a:r>
              <a:rPr lang="en-US" sz="3000" dirty="0"/>
              <a:t> to may. It starts with the address of president. It is most important as budget is presented in this session</a:t>
            </a:r>
          </a:p>
          <a:p>
            <a:r>
              <a:rPr lang="en-US" sz="3000" i="1" u="sng" dirty="0"/>
              <a:t>Monsoon session- </a:t>
            </a:r>
            <a:r>
              <a:rPr lang="en-US" sz="3000" dirty="0"/>
              <a:t>It is normally held from July to August. Here normal legislative functions takes place</a:t>
            </a:r>
          </a:p>
          <a:p>
            <a:r>
              <a:rPr lang="en-US" sz="3000" i="1" u="sng" dirty="0"/>
              <a:t>Winter session- </a:t>
            </a:r>
            <a:r>
              <a:rPr lang="en-US" sz="3000" dirty="0"/>
              <a:t>The winter session is the shortest session is the shortest session of all the session. It is normally held from Mid November to Mid December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Majority </a:t>
            </a:r>
          </a:p>
        </p:txBody>
      </p:sp>
      <p:sp>
        <p:nvSpPr>
          <p:cNvPr id="3" name="Content Placeholder 2"/>
          <p:cNvSpPr>
            <a:spLocks noGrp="1"/>
          </p:cNvSpPr>
          <p:nvPr>
            <p:ph idx="1"/>
          </p:nvPr>
        </p:nvSpPr>
        <p:spPr/>
        <p:txBody>
          <a:bodyPr/>
          <a:lstStyle/>
          <a:p>
            <a:r>
              <a:rPr lang="en-US" sz="3600" dirty="0"/>
              <a:t>There are 4 types of majority </a:t>
            </a:r>
            <a:r>
              <a:rPr lang="en-US" dirty="0"/>
              <a:t>:</a:t>
            </a:r>
          </a:p>
          <a:p>
            <a:pPr lvl="1">
              <a:buFont typeface="Wingdings" pitchFamily="2" charset="2"/>
              <a:buChar char="q"/>
            </a:pPr>
            <a:r>
              <a:rPr lang="en-US" sz="3200" dirty="0"/>
              <a:t>Simple Majority</a:t>
            </a:r>
          </a:p>
          <a:p>
            <a:pPr lvl="1">
              <a:buFont typeface="Wingdings" pitchFamily="2" charset="2"/>
              <a:buChar char="q"/>
            </a:pPr>
            <a:r>
              <a:rPr lang="en-US" sz="3200" dirty="0"/>
              <a:t>Absolute Majority</a:t>
            </a:r>
          </a:p>
          <a:p>
            <a:pPr lvl="1">
              <a:buFont typeface="Wingdings" pitchFamily="2" charset="2"/>
              <a:buChar char="q"/>
            </a:pPr>
            <a:r>
              <a:rPr lang="en-US" sz="3200" dirty="0"/>
              <a:t>Effective Majority </a:t>
            </a:r>
          </a:p>
          <a:p>
            <a:pPr lvl="1">
              <a:buFont typeface="Wingdings" pitchFamily="2" charset="2"/>
              <a:buChar char="q"/>
            </a:pPr>
            <a:r>
              <a:rPr lang="en-US" sz="3200" dirty="0"/>
              <a:t>Special Majority </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lnSpcReduction="10000"/>
          </a:bodyPr>
          <a:lstStyle/>
          <a:p>
            <a:r>
              <a:rPr lang="en-US" i="1" u="sng" dirty="0"/>
              <a:t>Simple Majority </a:t>
            </a:r>
            <a:r>
              <a:rPr lang="en-US" dirty="0"/>
              <a:t>– More than 50% of the members present &amp; Voting (50%+1)</a:t>
            </a:r>
          </a:p>
          <a:p>
            <a:pPr>
              <a:buNone/>
            </a:pPr>
            <a:endParaRPr lang="en-US" dirty="0"/>
          </a:p>
          <a:p>
            <a:pPr>
              <a:buNone/>
            </a:pPr>
            <a:r>
              <a:rPr lang="en-US" dirty="0"/>
              <a:t>(</a:t>
            </a:r>
            <a:r>
              <a:rPr lang="en-US" dirty="0" err="1"/>
              <a:t>Quoram</a:t>
            </a:r>
            <a:r>
              <a:rPr lang="en-US" dirty="0"/>
              <a:t> is 1/10</a:t>
            </a:r>
            <a:r>
              <a:rPr lang="en-US" baseline="30000" dirty="0"/>
              <a:t>th</a:t>
            </a:r>
            <a:r>
              <a:rPr lang="en-US" dirty="0"/>
              <a:t> of the total members to process a meeting )</a:t>
            </a:r>
          </a:p>
          <a:p>
            <a:pPr>
              <a:buNone/>
            </a:pPr>
            <a:r>
              <a:rPr lang="en-US" dirty="0"/>
              <a:t>Simple Majority = Working Majority </a:t>
            </a:r>
          </a:p>
          <a:p>
            <a:pPr>
              <a:buNone/>
            </a:pPr>
            <a:endParaRPr lang="en-US" dirty="0"/>
          </a:p>
          <a:p>
            <a:pPr>
              <a:buNone/>
            </a:pPr>
            <a:r>
              <a:rPr lang="en-US" dirty="0"/>
              <a:t>** - Whenever the constitution is silent on the type Majority required, it is assumed that simple Majority is required </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lnSpcReduction="10000"/>
          </a:bodyPr>
          <a:lstStyle/>
          <a:p>
            <a:r>
              <a:rPr lang="en-US" i="1" u="sng" dirty="0"/>
              <a:t>Absolute Majority </a:t>
            </a:r>
            <a:r>
              <a:rPr lang="en-US" dirty="0"/>
              <a:t>– More than 50 % of the total membership or the strength of the house</a:t>
            </a:r>
          </a:p>
          <a:p>
            <a:pPr>
              <a:buNone/>
            </a:pPr>
            <a:r>
              <a:rPr lang="en-US" dirty="0"/>
              <a:t>Example – Total members in </a:t>
            </a:r>
            <a:r>
              <a:rPr lang="en-US" dirty="0" err="1"/>
              <a:t>Lok</a:t>
            </a:r>
            <a:r>
              <a:rPr lang="en-US" dirty="0"/>
              <a:t> </a:t>
            </a:r>
            <a:r>
              <a:rPr lang="en-US" dirty="0" err="1"/>
              <a:t>sabha</a:t>
            </a:r>
            <a:r>
              <a:rPr lang="en-US" dirty="0"/>
              <a:t> =545</a:t>
            </a:r>
          </a:p>
          <a:p>
            <a:pPr>
              <a:buNone/>
            </a:pPr>
            <a:r>
              <a:rPr lang="en-US" dirty="0"/>
              <a:t>Absolute Majority = (545+1)/2 = 273</a:t>
            </a:r>
          </a:p>
          <a:p>
            <a:pPr>
              <a:buNone/>
            </a:pPr>
            <a:endParaRPr lang="en-US" dirty="0"/>
          </a:p>
          <a:p>
            <a:r>
              <a:rPr lang="en-US" dirty="0"/>
              <a:t> </a:t>
            </a:r>
            <a:r>
              <a:rPr lang="en-US" i="1" u="sng" dirty="0"/>
              <a:t>Effective Majority </a:t>
            </a:r>
            <a:r>
              <a:rPr lang="en-US" dirty="0"/>
              <a:t>– More than 50% of the effective or the available strength of the house </a:t>
            </a:r>
          </a:p>
          <a:p>
            <a:pPr>
              <a:buNone/>
            </a:pPr>
            <a:r>
              <a:rPr lang="en-US" dirty="0"/>
              <a:t>Effective Strength = Strength of the house- Vacancies</a:t>
            </a:r>
          </a:p>
          <a:p>
            <a:pPr>
              <a:buNone/>
            </a:pPr>
            <a:r>
              <a:rPr lang="en-US" dirty="0"/>
              <a:t> </a:t>
            </a:r>
          </a:p>
          <a:p>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u="sng" dirty="0"/>
              <a:t>Special Majority</a:t>
            </a:r>
          </a:p>
        </p:txBody>
      </p:sp>
      <p:sp>
        <p:nvSpPr>
          <p:cNvPr id="3" name="Content Placeholder 2"/>
          <p:cNvSpPr>
            <a:spLocks noGrp="1"/>
          </p:cNvSpPr>
          <p:nvPr>
            <p:ph idx="1"/>
          </p:nvPr>
        </p:nvSpPr>
        <p:spPr>
          <a:xfrm>
            <a:off x="152400" y="1371600"/>
            <a:ext cx="8839200" cy="5181600"/>
          </a:xfrm>
        </p:spPr>
        <p:txBody>
          <a:bodyPr>
            <a:normAutofit lnSpcReduction="10000"/>
          </a:bodyPr>
          <a:lstStyle/>
          <a:p>
            <a:r>
              <a:rPr lang="en-US" dirty="0"/>
              <a:t>There are 3 types of application of special Majority :</a:t>
            </a:r>
          </a:p>
          <a:p>
            <a:pPr marL="971550" lvl="1" indent="-514350">
              <a:buFont typeface="+mj-lt"/>
              <a:buAutoNum type="romanUcPeriod"/>
            </a:pPr>
            <a:r>
              <a:rPr lang="en-US" dirty="0"/>
              <a:t>Not less than 2/3</a:t>
            </a:r>
            <a:r>
              <a:rPr lang="en-US" baseline="30000" dirty="0"/>
              <a:t>rd</a:t>
            </a:r>
            <a:r>
              <a:rPr lang="en-US" dirty="0"/>
              <a:t> of members present and voting (Under art- 249, Power of the parliament to legislate with respect to a matter in the state list in the national interest</a:t>
            </a:r>
          </a:p>
          <a:p>
            <a:pPr marL="971550" lvl="1" indent="-514350">
              <a:buFont typeface="+mj-lt"/>
              <a:buAutoNum type="romanUcPeriod"/>
            </a:pPr>
            <a:r>
              <a:rPr lang="en-US" dirty="0"/>
              <a:t>Majority by 2/3</a:t>
            </a:r>
            <a:r>
              <a:rPr lang="en-US" baseline="30000" dirty="0"/>
              <a:t>rd</a:t>
            </a:r>
            <a:r>
              <a:rPr lang="en-US" dirty="0"/>
              <a:t> of the strength of the House(Absolute Majority) (Under Art-61, Impeachment of President )</a:t>
            </a:r>
          </a:p>
          <a:p>
            <a:pPr marL="971550" lvl="1" indent="-514350">
              <a:buFont typeface="+mj-lt"/>
              <a:buAutoNum type="romanUcPeriod"/>
            </a:pPr>
            <a:r>
              <a:rPr lang="en-US" dirty="0"/>
              <a:t>Absolute Majority + Majority 2/3</a:t>
            </a:r>
            <a:r>
              <a:rPr lang="en-US" baseline="30000" dirty="0"/>
              <a:t>rd</a:t>
            </a:r>
            <a:r>
              <a:rPr lang="en-US" dirty="0"/>
              <a:t> members present &amp; Voting (Under Article 368-Amendment of the constitution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4737</TotalTime>
  <Words>8494</Words>
  <Application>Microsoft Office PowerPoint</Application>
  <PresentationFormat>On-screen Show (4:3)</PresentationFormat>
  <Paragraphs>990</Paragraphs>
  <Slides>109</Slides>
  <Notes>1</Notes>
  <HiddenSlides>0</HiddenSlides>
  <MMClips>0</MMClips>
  <ScaleCrop>false</ScaleCrop>
  <HeadingPairs>
    <vt:vector size="4" baseType="variant">
      <vt:variant>
        <vt:lpstr>Theme</vt:lpstr>
      </vt:variant>
      <vt:variant>
        <vt:i4>1</vt:i4>
      </vt:variant>
      <vt:variant>
        <vt:lpstr>Slide Titles</vt:lpstr>
      </vt:variant>
      <vt:variant>
        <vt:i4>109</vt:i4>
      </vt:variant>
    </vt:vector>
  </HeadingPairs>
  <TitlesOfParts>
    <vt:vector size="1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Constituent Assembly</vt:lpstr>
      <vt:lpstr>PowerPoint Presentation</vt:lpstr>
      <vt:lpstr>Important Committees </vt:lpstr>
      <vt:lpstr>Features of our federation </vt:lpstr>
      <vt:lpstr>Distinct Features </vt:lpstr>
      <vt:lpstr>Preamble of Indian Constitution</vt:lpstr>
      <vt:lpstr>Preamble</vt:lpstr>
      <vt:lpstr>Amendment to Preamble</vt:lpstr>
      <vt:lpstr>Democracy </vt:lpstr>
      <vt:lpstr>Schedule of Indian Constitution </vt:lpstr>
      <vt:lpstr>PowerPoint Presentation</vt:lpstr>
      <vt:lpstr>PowerPoint Presentation</vt:lpstr>
      <vt:lpstr>Union and Its Territory </vt:lpstr>
      <vt:lpstr>Citizenship </vt:lpstr>
      <vt:lpstr>Citizenship</vt:lpstr>
      <vt:lpstr>Citizenship</vt:lpstr>
      <vt:lpstr>PowerPoint Presentation</vt:lpstr>
      <vt:lpstr>Loss of Citizenship</vt:lpstr>
      <vt:lpstr>Fundamental Rights (Art 12-35)</vt:lpstr>
      <vt:lpstr>Absolute Rights- Absolute right is a right which has no exceptions in it applicability while qualified right is available subject to certain conditions. Article- 17,24,25, 25(1)</vt:lpstr>
      <vt:lpstr>Emergency</vt:lpstr>
      <vt:lpstr>PowerPoint Presentation</vt:lpstr>
      <vt:lpstr>Fundamental rights (Art 12-35)</vt:lpstr>
      <vt:lpstr>Right to Equality</vt:lpstr>
      <vt:lpstr>Right to freedom</vt:lpstr>
      <vt:lpstr>PowerPoint Presentation</vt:lpstr>
      <vt:lpstr>PowerPoint Presentation</vt:lpstr>
      <vt:lpstr>Right against exploitation</vt:lpstr>
      <vt:lpstr>Right to freedom of Religion</vt:lpstr>
      <vt:lpstr>PowerPoint Presentation</vt:lpstr>
      <vt:lpstr>Cultural and Educational Rights </vt:lpstr>
      <vt:lpstr>Rights to constitutional remedies </vt:lpstr>
      <vt:lpstr>Art 32(2) Writs</vt:lpstr>
      <vt:lpstr>PowerPoint Presentation</vt:lpstr>
      <vt:lpstr>PowerPoint Presentation</vt:lpstr>
      <vt:lpstr>Article 35(A)**</vt:lpstr>
      <vt:lpstr>ART- 35 A</vt:lpstr>
      <vt:lpstr>Directive principle of State Policy (DPSP) – Art 36 t0 51</vt:lpstr>
      <vt:lpstr>Socialist Principal</vt:lpstr>
      <vt:lpstr>Socialist Principal Art 39</vt:lpstr>
      <vt:lpstr>Gandhian Principles as DPSP </vt:lpstr>
      <vt:lpstr>Liberal Intellectual Principals </vt:lpstr>
      <vt:lpstr>Important Case for FR and DPSP</vt:lpstr>
      <vt:lpstr>Fundamental Duties </vt:lpstr>
      <vt:lpstr>PowerPoint Presentation</vt:lpstr>
      <vt:lpstr>Union (Art -52 to 151) Part V</vt:lpstr>
      <vt:lpstr>Election of the President</vt:lpstr>
      <vt:lpstr>Art 54- Under this, The president is elected by an electoral college</vt:lpstr>
      <vt:lpstr>Art 55- It says that the President is elected by the method of Proportional representation with Single transferable vote system</vt:lpstr>
      <vt:lpstr>PowerPoint Presentation</vt:lpstr>
      <vt:lpstr>Value of STV in India </vt:lpstr>
      <vt:lpstr>Qualification </vt:lpstr>
      <vt:lpstr>Art 61- Impeachment </vt:lpstr>
      <vt:lpstr>Powers &amp; Function of the President</vt:lpstr>
      <vt:lpstr>Art 74- PM &amp;COM, Discretionary Power of President</vt:lpstr>
      <vt:lpstr>PowerPoint Presentation</vt:lpstr>
      <vt:lpstr>Pardoning Power of the President</vt:lpstr>
      <vt:lpstr>Vice President</vt:lpstr>
      <vt:lpstr>Election of VP</vt:lpstr>
      <vt:lpstr>Removal of V.P</vt:lpstr>
      <vt:lpstr>Governor</vt:lpstr>
      <vt:lpstr>Characteristics</vt:lpstr>
      <vt:lpstr>Powers of Governor</vt:lpstr>
      <vt:lpstr>Special responsibility of Governor in different States </vt:lpstr>
      <vt:lpstr>Prime Minister and Chief Minister</vt:lpstr>
      <vt:lpstr>PowerPoint Presentation</vt:lpstr>
      <vt:lpstr>Central &amp; State (COM)</vt:lpstr>
      <vt:lpstr>PowerPoint Presentation</vt:lpstr>
      <vt:lpstr>PowerPoint Presentation</vt:lpstr>
      <vt:lpstr>PowerPoint Presentation</vt:lpstr>
      <vt:lpstr>Responsibility of COM</vt:lpstr>
      <vt:lpstr>PowerPoint Presentation</vt:lpstr>
      <vt:lpstr>Parliament and State legislature </vt:lpstr>
      <vt:lpstr>PowerPoint Presentation</vt:lpstr>
      <vt:lpstr>PowerPoint Presentation</vt:lpstr>
      <vt:lpstr>State Legislature </vt:lpstr>
      <vt:lpstr>Lok Sabha and Rajya sabha </vt:lpstr>
      <vt:lpstr>Lok Sabha and Rajya sabha </vt:lpstr>
      <vt:lpstr>The Presiding officer</vt:lpstr>
      <vt:lpstr>Qualification of Rajya Sabha Member </vt:lpstr>
      <vt:lpstr>Special Powers of Rajya Sabha </vt:lpstr>
      <vt:lpstr>Lok Sabha </vt:lpstr>
      <vt:lpstr>PowerPoint Presentation</vt:lpstr>
      <vt:lpstr>Qualification of Member of Lok Sabha </vt:lpstr>
      <vt:lpstr>Power of the Speaker </vt:lpstr>
      <vt:lpstr>PowerPoint Presentation</vt:lpstr>
      <vt:lpstr>Special Powers Lok Sabha </vt:lpstr>
      <vt:lpstr>Protem Speaker </vt:lpstr>
      <vt:lpstr>Protem Speaker </vt:lpstr>
      <vt:lpstr>Vidhan Sabha &amp; Vidhan Parishad</vt:lpstr>
      <vt:lpstr>Vidhan Sabha </vt:lpstr>
      <vt:lpstr>Vidhan Parishad</vt:lpstr>
      <vt:lpstr>Composition of Vidhan Parishad</vt:lpstr>
      <vt:lpstr>Note**- It is written in the Representation of People Act , It is not written in the Constitution</vt:lpstr>
      <vt:lpstr>Relationship between Legislative council &amp; Legislative Assembly </vt:lpstr>
      <vt:lpstr>Session of Parliament </vt:lpstr>
      <vt:lpstr>PowerPoint Presentation</vt:lpstr>
      <vt:lpstr>Majority </vt:lpstr>
      <vt:lpstr>PowerPoint Presentation</vt:lpstr>
      <vt:lpstr>PowerPoint Presentation</vt:lpstr>
      <vt:lpstr>Special Majority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arvind.dahiya17@gmail.com</cp:lastModifiedBy>
  <cp:revision>237</cp:revision>
  <dcterms:created xsi:type="dcterms:W3CDTF">2018-06-26T03:25:43Z</dcterms:created>
  <dcterms:modified xsi:type="dcterms:W3CDTF">2021-09-28T08:37:24Z</dcterms:modified>
</cp:coreProperties>
</file>